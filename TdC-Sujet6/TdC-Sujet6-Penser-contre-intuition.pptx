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 demander à la classe si elle sent que la Terre tourne. Personne ne le sent — pourtant nous filons à 1 670 km/h à l'équateur. Ce décalage entre ce que nous ressentons et ce qui est vrai, c'est exactement mon sujet.
Annoncer le plan : définir contre-intuitif et paradoxal, poser la question de connaissance, défendre l'idée que l'anomalie est informative en sciences naturelles, montrer que le paradoxe joue un rôle tout autre en mathématiques, puis en tester les limites avec un contre-exemple réel.
Remplacer le post-it par mon nom et ma classe avant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Distinguer les deux mots, car on les confond : le contre-intuitif est un conflit entre le monde et nos attentes (il se règle par l'observation) ; le paradoxe est un conflit interne entre deux raisonnements valides (il se règle en révisant le cadre). Cette distinction structure toute ma présentation : elle explique pourquoi les sciences naturelles et les mathématiques ne traitent pas la surprise de la même façon.
Insister sur le troisième point : on ne voit jamais son propre cadre de pensée tant qu'il fonctionne. C'est quand il bloque qu'il devient visible — l'anomalie a donc une valeur de révélateur, pas seulement de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Justifier le choix de la formulation : je ne demande pas « faut-il explorer le paradoxal ? » (la réponse serait un oui creux), mais « dans quelle mesure est-ce NÉCESSAIRE à des connaissances FIABLES ? ». Les deux mots font travailler : nécessaire ouvre la possibilité que ce soit utile sans être indispensable ; fiable oblige à parler des critères de justification, pas seulement de découverte.
Les trois sous-questions correspondent aux trois moments de l'exposé : (a) diapositives 5 et 7, (b) diapositive 9, (c) diapositive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réciter la liste : montrer que ces concepts s'articulent. Certitude et justification forment le couple central — un résultat contre-intuitif est peu certain subjectivement mais peut être fortement justifié. Preuve et interprétation disent comment on passe de l'un à l'autre. Perspective et objectivité rappellent que « contre-intuitif » est un jugement situé : il dépend du cadre depuis lequel on regarde.
Sur les outils de connaissance : l'intuition n'est pas disqualifiée, elle est déplacée. Elle reste excellente pour produire des hypothèses, mais elle n'est pas un tribunal.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Articuler Popper et Kuhn plutôt que les juxtaposer. Popper donne la raison logique : une prédiction improbable qui se vérifie élimine beaucoup de concurrentes ; c'est un argument de théorie de l'information. Kuhn donne la raison historique et sociale : une anomalie isolée ne renverse rien, c'est son accumulation qui rend un paradigme intenable.
Michelson-Morley est l'exemple le plus parlant : l'expérience était censée mesurer la vitesse de la Terre dans l'éther, elle a trouvé zéro. Un échec total selon les critères de l'époque — et c'est ce zéro qui a ouvert la relativité. Préciser que Michelson lui-même a longtemps considéré son résultat comme un échec : l'anomalie ne devient féconde que réinterprétée dans un cadre nouveau.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cœur comparatif exigé par le sujet. Bien marquer la différence de nature : en sciences naturelles, on révise la théorie parce que le MONDE dit non ; en mathématiques, il n'y a pas de monde à consulter — c'est le système qui se contredit lui-même, et on révise les axiomes.
Conséquence pour la fiabilité : en sciences naturelles, une anomalie peut toujours être une erreur de mesure, donc on réplique. En mathématiques, une contradiction démontrée est définitive : aucune réplication ne la sauvera. La façon de traiter la surprise dépend donc du mode de justification propre au domaine — c'est la réponse à ma sous-question (c).
Banach-Tarski est le meilleur exemple à développer à l'oral : il est contre-intuitif ET vrai, ce qui prouve que l'intuition n'est pas un critère de validité en mathématiques.
Précision utile si on me pose la question : Russell a communiqué son paradoxe à Frege en 1902, alors que le second volume des Lois fondamentales de l'arithmétique était sous presse.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contre-argument attaque directement ma diapositive 5. Si l'anomalie est si informative, pourquoi la communauté scientifique n'en poursuit-elle pas systématiquement ? Parce que la base est écrasante : la très grande majorité des résultats contre-intuitifs sont des artefacts.
OPERA est un excellent cas car la collaboration a agi correctement : elle n'a pas proclamé une découverte, elle a publié en demandant une vérification indépendante. C'est la réponse à ma sous-question (a) : ce qui distingue une anomalie féconde d'une erreur n'est pas son degré d'étrangeté, mais la robustesse de la procédure.
Si on me demande : non, je ne dis pas qu'il faut ignorer le paradoxal — je dis que sa valeur est conditionnelle, et que la condition est méthodologique.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choisi parce qu'il met en scène exactement la tension de la question. Les deux équipes cherchaient la décélération : leur hypothèse de départ était l'inverse de ce qu'elles ont trouvé. Elles n'avaient donc aucun intérêt à défendre ce résultat.
Le point TdC décisif est la comparaison avec OPERA de la diapositive 7 : deux résultats également contre-intuitifs, l'un intégré au savoir, l'autre retiré. La différence ne tient pas à l'intuition des chercheurs mais à la réplication indépendante et à la convergence avec le fond diffus cosmologique et les oscillations acoustiques des baryons.
Mentionner l'honnêteté du dossier : plus de vingt-cinq ans après, nous ne savons toujours pas ce qu'est l'énergie noire. Explorer le paradoxal a donc ouvert un champ sans le refermer — le progrès a consisté à mieux formuler notre ignorance.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conclure par un « il faut explorer le paradoxal » : ce serait ignorer la diapositive 7. Ma conclusion est conditionnelle — la valeur du contre-intuitif vient de sa testabilité, pas de son étrangeté, et elle se paie d'un taux d'erreur élevé.
Insister sur la troisième colonne, qui est la vraie réponse à ma sous-question (b) : l'intuition n'est pas un organe de vérité, c'est une heuristique adaptée à un environnement précis, celui des objets de taille moyenne et des vitesses lentes. Elle reste efficace là où elle a été calibrée — d'où son échec systématique en physique quantique et en statistique.
Ouvrir sur les autres domaines : si le paradoxe est une méthode délibérée en art et en philosophie, alors le juger seulement à l'aune des sciences serait une erreur de perspective. Plusieurs lectures restent donc légitimes — c'est ce que demande la TdC.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Préciser à l'oral le statut des sources : Kuhn et Popper sont des sources philosophiques de second ordre (elles fournissent les cadres d'analyse) ; Riess, Perlmutter, Gödel et OPERA sont des sources primaires (les articles originaux). Cette distinction compte en TdC : je ne m'appuie pas sur des résumés de vulgarisation pour mes exemples centraux.
Sur la fiabilité : les articles cités sont évalués par les pairs et abondamment cités ; le cas OPERA est documenté par le communiqué officiel du CERN, y compris sa rétractation — ce qui en fait justement un bon exemple de la manière dont une communauté corrige ses propres 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Shape 36"/>
          <p:cNvSpPr/>
          <p:nvPr/>
        </p:nvSpPr>
        <p:spPr>
          <a:xfrm rot="-90000">
            <a:off x="4709160" y="219456"/>
            <a:ext cx="2651760" cy="658368"/>
          </a:xfrm>
          <a:prstGeom prst="rect">
            <a:avLst/>
          </a:prstGeom>
          <a:solidFill>
            <a:srgbClr val="FFFEF2"/>
          </a:solidFill>
          <a:ln w="9525">
            <a:solidFill>
              <a:srgbClr val="EDE7D2"/>
            </a:solidFill>
            <a:prstDash val="solid"/>
          </a:ln>
          <a:effectLst>
            <a:outerShdw sx="100000" sy="100000" kx="0" ky="0" algn="bl" rotWithShape="0" blurRad="101600" dist="38100" dir="5400000">
              <a:srgbClr val="3F5C2E">
                <a:alpha val="30000"/>
              </a:srgbClr>
            </a:outerShdw>
          </a:effectLst>
        </p:spPr>
      </p:sp>
      <p:sp>
        <p:nvSpPr>
          <p:cNvPr id="39" name="Shape 37"/>
          <p:cNvSpPr/>
          <p:nvPr/>
        </p:nvSpPr>
        <p:spPr>
          <a:xfrm rot="-480000">
            <a:off x="5623560" y="100584"/>
            <a:ext cx="868680" cy="274320"/>
          </a:xfrm>
          <a:prstGeom prst="rect">
            <a:avLst/>
          </a:prstGeom>
          <a:solidFill>
            <a:srgbClr val="FFFFFF">
              <a:alpha val="50000"/>
            </a:srgbClr>
          </a:solidFill>
          <a:ln/>
        </p:spPr>
      </p:sp>
      <p:sp>
        <p:nvSpPr>
          <p:cNvPr id="40" name="Text 38"/>
          <p:cNvSpPr txBox="1"/>
          <p:nvPr/>
        </p:nvSpPr>
        <p:spPr>
          <a:xfrm rot="-90000">
            <a:off x="4709160" y="329184"/>
            <a:ext cx="2651760" cy="384048"/>
          </a:xfrm>
          <a:prstGeom prst="rect">
            <a:avLst/>
          </a:prstGeom>
          <a:noFill/>
          <a:ln/>
        </p:spPr>
        <p:txBody>
          <a:bodyPr wrap="square" lIns="0" tIns="0" rIns="0" bIns="0" rtlCol="0" anchor="ctr"/>
          <a:lstStyle/>
          <a:p>
            <a:pPr algn="ctr" indent="0" marL="0">
              <a:buNone/>
            </a:pPr>
            <a:r>
              <a:rPr lang="en-US" sz="1100" b="1" spc="120" kern="0" dirty="0">
                <a:solidFill>
                  <a:srgbClr val="C25B52"/>
                </a:solidFill>
                <a:latin typeface="Courier New" pitchFamily="34" charset="0"/>
                <a:ea typeface="Courier New" pitchFamily="34" charset="-122"/>
                <a:cs typeface="Courier New" pitchFamily="34" charset="-120"/>
              </a:rPr>
              <a:t>TdC · SUJET 6</a:t>
            </a:r>
            <a:endParaRPr lang="en-US" sz="1100" dirty="0"/>
          </a:p>
        </p:txBody>
      </p:sp>
      <p:sp>
        <p:nvSpPr>
          <p:cNvPr id="41" name="Shape 39"/>
          <p:cNvSpPr/>
          <p:nvPr/>
        </p:nvSpPr>
        <p:spPr>
          <a:xfrm rot="-36000">
            <a:off x="1389888" y="1783080"/>
            <a:ext cx="5989320" cy="475488"/>
          </a:xfrm>
          <a:prstGeom prst="rect">
            <a:avLst/>
          </a:prstGeom>
          <a:solidFill>
            <a:srgbClr val="F7C927">
              <a:alpha val="55000"/>
            </a:srgbClr>
          </a:solidFill>
          <a:ln/>
        </p:spPr>
      </p:sp>
      <p:sp>
        <p:nvSpPr>
          <p:cNvPr id="42" name="Text 40"/>
          <p:cNvSpPr txBox="1"/>
          <p:nvPr/>
        </p:nvSpPr>
        <p:spPr>
          <a:xfrm>
            <a:off x="1481328" y="1298448"/>
            <a:ext cx="8229600" cy="822960"/>
          </a:xfrm>
          <a:prstGeom prst="rect">
            <a:avLst/>
          </a:prstGeom>
          <a:noFill/>
          <a:ln/>
        </p:spPr>
        <p:txBody>
          <a:bodyPr wrap="square" lIns="0" tIns="0" rIns="0" bIns="0" rtlCol="0" anchor="ctr"/>
          <a:lstStyle/>
          <a:p>
            <a:pPr indent="0" marL="0">
              <a:buNone/>
            </a:pPr>
            <a:r>
              <a:rPr lang="en-US" sz="5000" b="1" spc="60" kern="0" dirty="0">
                <a:solidFill>
                  <a:srgbClr val="B23A32"/>
                </a:solidFill>
                <a:latin typeface="Century Schoolbook" pitchFamily="34" charset="0"/>
                <a:ea typeface="Century Schoolbook" pitchFamily="34" charset="-122"/>
                <a:cs typeface="Century Schoolbook" pitchFamily="34" charset="-120"/>
              </a:rPr>
              <a:t>PENSER CONTRE</a:t>
            </a:r>
            <a:endParaRPr lang="en-US" sz="5000" dirty="0"/>
          </a:p>
        </p:txBody>
      </p:sp>
      <p:sp>
        <p:nvSpPr>
          <p:cNvPr id="43" name="Text 41"/>
          <p:cNvSpPr txBox="1"/>
          <p:nvPr/>
        </p:nvSpPr>
        <p:spPr>
          <a:xfrm>
            <a:off x="1481328" y="2066544"/>
            <a:ext cx="8229600" cy="822960"/>
          </a:xfrm>
          <a:prstGeom prst="rect">
            <a:avLst/>
          </a:prstGeom>
          <a:noFill/>
          <a:ln/>
        </p:spPr>
        <p:txBody>
          <a:bodyPr wrap="square" lIns="0" tIns="0" rIns="0" bIns="0" rtlCol="0" anchor="ctr"/>
          <a:lstStyle/>
          <a:p>
            <a:pPr indent="0" marL="0">
              <a:buNone/>
            </a:pPr>
            <a:r>
              <a:rPr lang="en-US" sz="5000" b="1" spc="60" kern="0" dirty="0">
                <a:solidFill>
                  <a:srgbClr val="B23A32"/>
                </a:solidFill>
                <a:latin typeface="Century Schoolbook" pitchFamily="34" charset="0"/>
                <a:ea typeface="Century Schoolbook" pitchFamily="34" charset="-122"/>
                <a:cs typeface="Century Schoolbook" pitchFamily="34" charset="-120"/>
              </a:rPr>
              <a:t>L'INTUITION</a:t>
            </a:r>
            <a:endParaRPr lang="en-US" sz="5000" dirty="0"/>
          </a:p>
        </p:txBody>
      </p:sp>
      <p:sp>
        <p:nvSpPr>
          <p:cNvPr id="44" name="Text 42"/>
          <p:cNvSpPr txBox="1"/>
          <p:nvPr/>
        </p:nvSpPr>
        <p:spPr>
          <a:xfrm>
            <a:off x="1481328" y="3017520"/>
            <a:ext cx="6309360" cy="731520"/>
          </a:xfrm>
          <a:prstGeom prst="rect">
            <a:avLst/>
          </a:prstGeom>
          <a:noFill/>
          <a:ln/>
        </p:spPr>
        <p:txBody>
          <a:bodyPr wrap="square" lIns="0" tIns="0" rIns="0" bIns="0" rtlCol="0" anchor="t"/>
          <a:lstStyle/>
          <a:p>
            <a:pPr algn="l" indent="0" marL="0">
              <a:lnSpc>
                <a:spcPts val="2100"/>
              </a:lnSpc>
              <a:buNone/>
            </a:pPr>
            <a:r>
              <a:rPr lang="en-US" sz="1450" i="1" dirty="0">
                <a:solidFill>
                  <a:srgbClr val="3A3A38"/>
                </a:solidFill>
                <a:latin typeface="Calibri" pitchFamily="34" charset="0"/>
                <a:ea typeface="Calibri" pitchFamily="34" charset="-122"/>
                <a:cs typeface="Calibri" pitchFamily="34" charset="-120"/>
              </a:rPr>
              <a:t>Dans la recherche de la connaissance, quel est l'intérêt d'explorer</a:t>
            </a:r>
            <a:endParaRPr lang="en-US" sz="1450" dirty="0"/>
          </a:p>
          <a:p>
            <a:pPr algn="l" indent="0" marL="0">
              <a:lnSpc>
                <a:spcPts val="2100"/>
              </a:lnSpc>
              <a:buNone/>
            </a:pPr>
            <a:r>
              <a:rPr lang="en-US" sz="1450" i="1" dirty="0">
                <a:solidFill>
                  <a:srgbClr val="3A3A38"/>
                </a:solidFill>
                <a:latin typeface="Calibri" pitchFamily="34" charset="0"/>
                <a:ea typeface="Calibri" pitchFamily="34" charset="-122"/>
                <a:cs typeface="Calibri" pitchFamily="34" charset="-120"/>
              </a:rPr>
              <a:t>ce qui est paradoxal ou contre-intuitif ?</a:t>
            </a:r>
            <a:endParaRPr lang="en-US" sz="1450" dirty="0"/>
          </a:p>
        </p:txBody>
      </p:sp>
      <p:sp>
        <p:nvSpPr>
          <p:cNvPr id="45" name="Shape 43"/>
          <p:cNvSpPr/>
          <p:nvPr/>
        </p:nvSpPr>
        <p:spPr>
          <a:xfrm>
            <a:off x="7973568" y="3017520"/>
            <a:ext cx="3310128" cy="603504"/>
          </a:xfrm>
          <a:prstGeom prst="roundRect">
            <a:avLst>
              <a:gd name="adj" fmla="val 10606"/>
            </a:avLst>
          </a:prstGeom>
          <a:solidFill>
            <a:srgbClr val="F5827A"/>
          </a:solidFill>
          <a:ln/>
          <a:effectLst>
            <a:outerShdw sx="100000" sy="100000" kx="0" ky="0" algn="bl" rotWithShape="0" blurRad="88900" dist="25400" dir="5400000">
              <a:srgbClr val="8FAE7E">
                <a:alpha val="30000"/>
              </a:srgbClr>
            </a:outerShdw>
          </a:effectLst>
        </p:spPr>
      </p:sp>
      <p:sp>
        <p:nvSpPr>
          <p:cNvPr id="46" name="Text 44"/>
          <p:cNvSpPr txBox="1"/>
          <p:nvPr/>
        </p:nvSpPr>
        <p:spPr>
          <a:xfrm>
            <a:off x="7973568" y="3017520"/>
            <a:ext cx="3310128" cy="603504"/>
          </a:xfrm>
          <a:prstGeom prst="rect">
            <a:avLst/>
          </a:prstGeom>
          <a:noFill/>
          <a:ln/>
        </p:spPr>
        <p:txBody>
          <a:bodyPr wrap="square" lIns="0" tIns="0" rIns="0" bIns="0" rtlCol="0" anchor="ctr"/>
          <a:lstStyle/>
          <a:p>
            <a:pPr algn="ctr" indent="0" marL="0">
              <a:buNone/>
            </a:pPr>
            <a:r>
              <a:rPr lang="en-US" sz="1200" b="1" spc="80" kern="0" dirty="0">
                <a:solidFill>
                  <a:srgbClr val="7A2E27"/>
                </a:solidFill>
                <a:latin typeface="Courier New" pitchFamily="34" charset="0"/>
                <a:ea typeface="Courier New" pitchFamily="34" charset="-122"/>
                <a:cs typeface="Courier New" pitchFamily="34" charset="-120"/>
              </a:rPr>
              <a:t>SCIENCES NATURELLES</a:t>
            </a:r>
            <a:endParaRPr lang="en-US" sz="1200" dirty="0"/>
          </a:p>
        </p:txBody>
      </p:sp>
      <p:sp>
        <p:nvSpPr>
          <p:cNvPr id="47" name="Shape 45"/>
          <p:cNvSpPr/>
          <p:nvPr/>
        </p:nvSpPr>
        <p:spPr>
          <a:xfrm>
            <a:off x="7973568" y="3767328"/>
            <a:ext cx="3310128" cy="603504"/>
          </a:xfrm>
          <a:prstGeom prst="roundRect">
            <a:avLst>
              <a:gd name="adj" fmla="val 10606"/>
            </a:avLst>
          </a:prstGeom>
          <a:solidFill>
            <a:srgbClr val="F7C927"/>
          </a:solidFill>
          <a:ln/>
          <a:effectLst>
            <a:outerShdw sx="100000" sy="100000" kx="0" ky="0" algn="bl" rotWithShape="0" blurRad="88900" dist="25400" dir="5400000">
              <a:srgbClr val="8FAE7E">
                <a:alpha val="30000"/>
              </a:srgbClr>
            </a:outerShdw>
          </a:effectLst>
        </p:spPr>
      </p:sp>
      <p:sp>
        <p:nvSpPr>
          <p:cNvPr id="48" name="Text 46"/>
          <p:cNvSpPr txBox="1"/>
          <p:nvPr/>
        </p:nvSpPr>
        <p:spPr>
          <a:xfrm>
            <a:off x="7973568" y="3767328"/>
            <a:ext cx="3310128" cy="603504"/>
          </a:xfrm>
          <a:prstGeom prst="rect">
            <a:avLst/>
          </a:prstGeom>
          <a:noFill/>
          <a:ln/>
        </p:spPr>
        <p:txBody>
          <a:bodyPr wrap="square" lIns="0" tIns="0" rIns="0" bIns="0" rtlCol="0" anchor="ctr"/>
          <a:lstStyle/>
          <a:p>
            <a:pPr algn="ctr" indent="0" marL="0">
              <a:buNone/>
            </a:pPr>
            <a:r>
              <a:rPr lang="en-US" sz="1200" b="1" spc="80" kern="0" dirty="0">
                <a:solidFill>
                  <a:srgbClr val="6B4A05"/>
                </a:solidFill>
                <a:latin typeface="Courier New" pitchFamily="34" charset="0"/>
                <a:ea typeface="Courier New" pitchFamily="34" charset="-122"/>
                <a:cs typeface="Courier New" pitchFamily="34" charset="-120"/>
              </a:rPr>
              <a:t>MATHÉMATIQUES</a:t>
            </a:r>
            <a:endParaRPr lang="en-US" sz="1200" dirty="0"/>
          </a:p>
        </p:txBody>
      </p:sp>
      <p:sp>
        <p:nvSpPr>
          <p:cNvPr id="49" name="Text 47"/>
          <p:cNvSpPr txBox="1"/>
          <p:nvPr/>
        </p:nvSpPr>
        <p:spPr>
          <a:xfrm>
            <a:off x="7790688" y="4462272"/>
            <a:ext cx="3657600" cy="256032"/>
          </a:xfrm>
          <a:prstGeom prst="rect">
            <a:avLst/>
          </a:prstGeom>
          <a:noFill/>
          <a:ln/>
        </p:spPr>
        <p:txBody>
          <a:bodyPr wrap="square" lIns="0" tIns="0" rIns="0" bIns="0" rtlCol="0" anchor="ctr"/>
          <a:lstStyle/>
          <a:p>
            <a:pPr algn="ctr" indent="0" marL="0">
              <a:buNone/>
            </a:pPr>
            <a:r>
              <a:rPr lang="en-US" sz="1050" i="1" dirty="0">
                <a:solidFill>
                  <a:srgbClr val="7E7E74"/>
                </a:solidFill>
                <a:latin typeface="Calibri" pitchFamily="34" charset="0"/>
                <a:ea typeface="Calibri" pitchFamily="34" charset="-122"/>
                <a:cs typeface="Calibri" pitchFamily="34" charset="-120"/>
              </a:rPr>
              <a:t>les deux domaines de la connaissance comparés</a:t>
            </a:r>
            <a:endParaRPr lang="en-US" sz="1050" dirty="0"/>
          </a:p>
        </p:txBody>
      </p:sp>
      <p:sp>
        <p:nvSpPr>
          <p:cNvPr id="50" name="Text 48"/>
          <p:cNvSpPr txBox="1"/>
          <p:nvPr/>
        </p:nvSpPr>
        <p:spPr>
          <a:xfrm>
            <a:off x="7790688" y="4992624"/>
            <a:ext cx="3657600" cy="219456"/>
          </a:xfrm>
          <a:prstGeom prst="rect">
            <a:avLst/>
          </a:prstGeom>
          <a:noFill/>
          <a:ln/>
        </p:spPr>
        <p:txBody>
          <a:bodyPr wrap="square" lIns="0" tIns="0" rIns="0" bIns="0" rtlCol="0" anchor="ctr"/>
          <a:lstStyle/>
          <a:p>
            <a:pPr algn="ctr" indent="0" marL="0">
              <a:buNone/>
            </a:pPr>
            <a:r>
              <a:rPr lang="en-US" sz="950" b="1" spc="140" kern="0" dirty="0">
                <a:solidFill>
                  <a:srgbClr val="7E7E74"/>
                </a:solidFill>
                <a:latin typeface="Courier New" pitchFamily="34" charset="0"/>
                <a:ea typeface="Courier New" pitchFamily="34" charset="-122"/>
                <a:cs typeface="Courier New" pitchFamily="34" charset="-120"/>
              </a:rPr>
              <a:t>FIL CONDUCTEUR</a:t>
            </a:r>
            <a:endParaRPr lang="en-US" sz="950" dirty="0"/>
          </a:p>
        </p:txBody>
      </p:sp>
      <p:sp>
        <p:nvSpPr>
          <p:cNvPr id="51" name="Text 49"/>
          <p:cNvSpPr txBox="1"/>
          <p:nvPr/>
        </p:nvSpPr>
        <p:spPr>
          <a:xfrm>
            <a:off x="7790688" y="5248656"/>
            <a:ext cx="3657600" cy="292608"/>
          </a:xfrm>
          <a:prstGeom prst="rect">
            <a:avLst/>
          </a:prstGeom>
          <a:noFill/>
          <a:ln/>
        </p:spPr>
        <p:txBody>
          <a:bodyPr wrap="square" lIns="0" tIns="0" rIns="0" bIns="0" rtlCol="0" anchor="ctr"/>
          <a:lstStyle/>
          <a:p>
            <a:pPr algn="ctr" indent="0" marL="0">
              <a:buNone/>
            </a:pPr>
            <a:r>
              <a:rPr lang="en-US" sz="1300" b="1" dirty="0">
                <a:solidFill>
                  <a:srgbClr val="C25B52"/>
                </a:solidFill>
                <a:latin typeface="Century Schoolbook" pitchFamily="34" charset="0"/>
                <a:ea typeface="Century Schoolbook" pitchFamily="34" charset="-122"/>
                <a:cs typeface="Century Schoolbook" pitchFamily="34" charset="-120"/>
              </a:rPr>
              <a:t>anomalie  →  vérification  →  révision</a:t>
            </a:r>
            <a:endParaRPr lang="en-US" sz="1300" dirty="0"/>
          </a:p>
        </p:txBody>
      </p:sp>
      <p:sp>
        <p:nvSpPr>
          <p:cNvPr id="52" name="Shape 50"/>
          <p:cNvSpPr/>
          <p:nvPr/>
        </p:nvSpPr>
        <p:spPr>
          <a:xfrm rot="-72000">
            <a:off x="1481328" y="4315968"/>
            <a:ext cx="3063240" cy="1481328"/>
          </a:xfrm>
          <a:prstGeom prst="rect">
            <a:avLst/>
          </a:prstGeom>
          <a:solidFill>
            <a:srgbClr val="F7F1B4"/>
          </a:solidFill>
          <a:ln/>
          <a:effectLst>
            <a:outerShdw sx="100000" sy="100000" kx="0" ky="0" algn="bl" rotWithShape="0" blurRad="114300" dist="38100" dir="5400000">
              <a:srgbClr val="6B6633">
                <a:alpha val="30000"/>
              </a:srgbClr>
            </a:outerShdw>
          </a:effectLst>
        </p:spPr>
      </p:sp>
      <p:sp>
        <p:nvSpPr>
          <p:cNvPr id="53" name="Shape 51"/>
          <p:cNvSpPr/>
          <p:nvPr/>
        </p:nvSpPr>
        <p:spPr>
          <a:xfrm rot="-372000">
            <a:off x="2601468" y="4197096"/>
            <a:ext cx="822960" cy="237744"/>
          </a:xfrm>
          <a:prstGeom prst="rect">
            <a:avLst/>
          </a:prstGeom>
          <a:solidFill>
            <a:srgbClr val="FFFFFF">
              <a:alpha val="52000"/>
            </a:srgbClr>
          </a:solidFill>
          <a:ln/>
        </p:spPr>
      </p:sp>
      <p:sp>
        <p:nvSpPr>
          <p:cNvPr id="54" name="Text 52"/>
          <p:cNvSpPr txBox="1"/>
          <p:nvPr/>
        </p:nvSpPr>
        <p:spPr>
          <a:xfrm rot="-72000">
            <a:off x="1682496" y="4480560"/>
            <a:ext cx="2697480" cy="1143000"/>
          </a:xfrm>
          <a:prstGeom prst="rect">
            <a:avLst/>
          </a:prstGeom>
          <a:noFill/>
          <a:ln/>
        </p:spPr>
        <p:txBody>
          <a:bodyPr wrap="square" lIns="0" tIns="0" rIns="0" bIns="0" rtlCol="0" anchor="ctr"/>
          <a:lstStyle/>
          <a:p>
            <a:pPr indent="0" marL="0">
              <a:lnSpc>
                <a:spcPts val="2000"/>
              </a:lnSpc>
              <a:buNone/>
            </a:pPr>
            <a:r>
              <a:rPr lang="en-US" sz="1500" b="1" dirty="0">
                <a:solidFill>
                  <a:srgbClr val="3A3A38"/>
                </a:solidFill>
                <a:latin typeface="Century Schoolbook" pitchFamily="34" charset="0"/>
                <a:ea typeface="Century Schoolbook" pitchFamily="34" charset="-122"/>
                <a:cs typeface="Century Schoolbook" pitchFamily="34" charset="-120"/>
              </a:rPr>
              <a:t>Prénom NOM</a:t>
            </a:r>
            <a:endParaRPr lang="en-US" sz="1500" dirty="0"/>
          </a:p>
          <a:p>
            <a:pPr indent="0" marL="0">
              <a:lnSpc>
                <a:spcPts val="2000"/>
              </a:lnSpc>
              <a:buNone/>
            </a:pPr>
            <a:r>
              <a:rPr lang="en-US" sz="1200" dirty="0">
                <a:solidFill>
                  <a:srgbClr val="3A3A38"/>
                </a:solidFill>
                <a:latin typeface="Calibri" pitchFamily="34" charset="0"/>
                <a:ea typeface="Calibri" pitchFamily="34" charset="-122"/>
                <a:cs typeface="Calibri" pitchFamily="34" charset="-120"/>
              </a:rPr>
              <a:t>Classe : ______________</a:t>
            </a:r>
            <a:endParaRPr lang="en-US" sz="1500" dirty="0"/>
          </a:p>
          <a:p>
            <a:pPr indent="0" marL="0">
              <a:lnSpc>
                <a:spcPts val="2000"/>
              </a:lnSpc>
              <a:buNone/>
            </a:pPr>
            <a:r>
              <a:rPr lang="en-US" sz="1100" i="1" dirty="0">
                <a:solidFill>
                  <a:srgbClr val="5E5A38"/>
                </a:solidFill>
                <a:latin typeface="Calibri" pitchFamily="34" charset="0"/>
                <a:ea typeface="Calibri" pitchFamily="34" charset="-122"/>
                <a:cs typeface="Calibri" pitchFamily="34" charset="-120"/>
              </a:rPr>
              <a:t>Présentation orale — 10 diapositives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02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2 — INTRODUCTION</a:t>
            </a:r>
            <a:endParaRPr lang="en-US" sz="1000" dirty="0"/>
          </a:p>
        </p:txBody>
      </p:sp>
      <p:sp>
        <p:nvSpPr>
          <p:cNvPr id="40" name="Shape 38"/>
          <p:cNvSpPr/>
          <p:nvPr/>
        </p:nvSpPr>
        <p:spPr>
          <a:xfrm rot="-42000">
            <a:off x="1417320" y="868680"/>
            <a:ext cx="434340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De quoi parle-t-on exactement ?</a:t>
            </a:r>
            <a:endParaRPr lang="en-US" sz="2600" dirty="0"/>
          </a:p>
        </p:txBody>
      </p:sp>
      <p:sp>
        <p:nvSpPr>
          <p:cNvPr id="42" name="Shape 40"/>
          <p:cNvSpPr/>
          <p:nvPr/>
        </p:nvSpPr>
        <p:spPr>
          <a:xfrm>
            <a:off x="1481328" y="1389888"/>
            <a:ext cx="4846320" cy="2048256"/>
          </a:xfrm>
          <a:prstGeom prst="roundRect">
            <a:avLst>
              <a:gd name="adj" fmla="val 3125"/>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43" name="Shape 41"/>
          <p:cNvSpPr/>
          <p:nvPr/>
        </p:nvSpPr>
        <p:spPr>
          <a:xfrm>
            <a:off x="1737360" y="1627632"/>
            <a:ext cx="384048" cy="384048"/>
          </a:xfrm>
          <a:prstGeom prst="ellipse">
            <a:avLst/>
          </a:prstGeom>
          <a:solidFill>
            <a:srgbClr val="F5827A"/>
          </a:solidFill>
          <a:ln/>
        </p:spPr>
      </p:sp>
      <p:sp>
        <p:nvSpPr>
          <p:cNvPr id="44" name="Text 42"/>
          <p:cNvSpPr txBox="1"/>
          <p:nvPr/>
        </p:nvSpPr>
        <p:spPr>
          <a:xfrm>
            <a:off x="1737360" y="1627632"/>
            <a:ext cx="384048" cy="384048"/>
          </a:xfrm>
          <a:prstGeom prst="rect">
            <a:avLst/>
          </a:prstGeom>
          <a:noFill/>
          <a:ln/>
        </p:spPr>
        <p:txBody>
          <a:bodyPr wrap="square" lIns="0" tIns="0" rIns="0" bIns="0" rtlCol="0" anchor="ctr"/>
          <a:lstStyle/>
          <a:p>
            <a:pPr algn="ctr" indent="0" marL="0">
              <a:buNone/>
            </a:pPr>
            <a:r>
              <a:rPr lang="en-US" sz="1300" b="1" dirty="0">
                <a:solidFill>
                  <a:srgbClr val="7A2E27"/>
                </a:solidFill>
                <a:latin typeface="Courier New" pitchFamily="34" charset="0"/>
                <a:ea typeface="Courier New" pitchFamily="34" charset="-122"/>
                <a:cs typeface="Courier New" pitchFamily="34" charset="-120"/>
              </a:rPr>
              <a:t>1</a:t>
            </a:r>
            <a:endParaRPr lang="en-US" sz="1300" dirty="0"/>
          </a:p>
        </p:txBody>
      </p:sp>
      <p:sp>
        <p:nvSpPr>
          <p:cNvPr id="45" name="Text 43"/>
          <p:cNvSpPr txBox="1"/>
          <p:nvPr/>
        </p:nvSpPr>
        <p:spPr>
          <a:xfrm>
            <a:off x="2249424" y="1645920"/>
            <a:ext cx="3840480" cy="256032"/>
          </a:xfrm>
          <a:prstGeom prst="rect">
            <a:avLst/>
          </a:prstGeom>
          <a:noFill/>
          <a:ln/>
        </p:spPr>
        <p:txBody>
          <a:bodyPr wrap="square" lIns="0" tIns="0" rIns="0" bIns="0" rtlCol="0" anchor="ctr"/>
          <a:lstStyle/>
          <a:p>
            <a:pPr indent="0" marL="0">
              <a:buNone/>
            </a:pPr>
            <a:r>
              <a:rPr lang="en-US" sz="1400" b="1" spc="20" kern="0" dirty="0">
                <a:solidFill>
                  <a:srgbClr val="B23A32"/>
                </a:solidFill>
                <a:latin typeface="Century Schoolbook" pitchFamily="34" charset="0"/>
                <a:ea typeface="Century Schoolbook" pitchFamily="34" charset="-122"/>
                <a:cs typeface="Century Schoolbook" pitchFamily="34" charset="-120"/>
              </a:rPr>
              <a:t>CONTRE-INTUITIF</a:t>
            </a:r>
            <a:endParaRPr lang="en-US" sz="1400" dirty="0"/>
          </a:p>
        </p:txBody>
      </p:sp>
      <p:sp>
        <p:nvSpPr>
          <p:cNvPr id="46" name="Text 44"/>
          <p:cNvSpPr txBox="1"/>
          <p:nvPr/>
        </p:nvSpPr>
        <p:spPr>
          <a:xfrm>
            <a:off x="1737360" y="2157984"/>
            <a:ext cx="4334256" cy="1188720"/>
          </a:xfrm>
          <a:prstGeom prst="rect">
            <a:avLst/>
          </a:prstGeom>
          <a:noFill/>
          <a:ln/>
        </p:spPr>
        <p:txBody>
          <a:bodyPr wrap="square" lIns="0" tIns="0" rIns="0" bIns="0" rtlCol="0" anchor="t"/>
          <a:lstStyle/>
          <a:p>
            <a:pPr algn="l" indent="0" marL="0">
              <a:lnSpc>
                <a:spcPts val="1650"/>
              </a:lnSpc>
              <a:buNone/>
            </a:pPr>
            <a:r>
              <a:rPr lang="en-US" sz="1250" dirty="0">
                <a:solidFill>
                  <a:srgbClr val="3A3A38"/>
                </a:solidFill>
                <a:latin typeface="Calibri" pitchFamily="34" charset="0"/>
                <a:ea typeface="Calibri" pitchFamily="34" charset="-122"/>
                <a:cs typeface="Calibri" pitchFamily="34" charset="-120"/>
              </a:rPr>
              <a:t>Un énoncé vrai qui heurte nos attentes spontanées.</a:t>
            </a:r>
            <a:endParaRPr lang="en-US" sz="1250" dirty="0"/>
          </a:p>
          <a:p>
            <a:pPr algn="l" indent="0" marL="0">
              <a:lnSpc>
                <a:spcPts val="1650"/>
              </a:lnSpc>
              <a:buNone/>
            </a:pPr>
            <a:r>
              <a:rPr lang="en-US" sz="1250" dirty="0">
                <a:solidFill>
                  <a:srgbClr val="3A3A38"/>
                </a:solidFill>
                <a:latin typeface="Calibri" pitchFamily="34" charset="0"/>
                <a:ea typeface="Calibri" pitchFamily="34" charset="-122"/>
                <a:cs typeface="Calibri" pitchFamily="34" charset="-120"/>
              </a:rPr>
              <a:t>Le désaccord est entre le monde et nous.</a:t>
            </a:r>
            <a:endParaRPr lang="en-US" sz="1250" dirty="0"/>
          </a:p>
          <a:p>
            <a:pPr algn="l" indent="0" marL="0">
              <a:lnSpc>
                <a:spcPts val="1650"/>
              </a:lnSpc>
              <a:buNone/>
            </a:pPr>
            <a:endParaRPr lang="en-US" sz="1250" dirty="0"/>
          </a:p>
          <a:p>
            <a:pPr algn="l" indent="0" marL="0">
              <a:lnSpc>
                <a:spcPts val="1650"/>
              </a:lnSpc>
              <a:buNone/>
            </a:pPr>
            <a:r>
              <a:rPr lang="en-US" sz="1250" dirty="0">
                <a:solidFill>
                  <a:srgbClr val="3A3A38"/>
                </a:solidFill>
                <a:latin typeface="Calibri" pitchFamily="34" charset="0"/>
                <a:ea typeface="Calibri" pitchFamily="34" charset="-122"/>
                <a:cs typeface="Calibri" pitchFamily="34" charset="-120"/>
              </a:rPr>
              <a:t>Ex. : à l'équateur, nous tournons à 1 670 km/h — et nous ne sentons rien.</a:t>
            </a:r>
            <a:endParaRPr lang="en-US" sz="1250" dirty="0"/>
          </a:p>
        </p:txBody>
      </p:sp>
      <p:sp>
        <p:nvSpPr>
          <p:cNvPr id="47" name="Shape 45"/>
          <p:cNvSpPr/>
          <p:nvPr/>
        </p:nvSpPr>
        <p:spPr>
          <a:xfrm>
            <a:off x="1481328" y="3621024"/>
            <a:ext cx="4846320" cy="1956816"/>
          </a:xfrm>
          <a:prstGeom prst="roundRect">
            <a:avLst>
              <a:gd name="adj" fmla="val 3271"/>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48" name="Shape 46"/>
          <p:cNvSpPr/>
          <p:nvPr/>
        </p:nvSpPr>
        <p:spPr>
          <a:xfrm>
            <a:off x="1737360" y="3858768"/>
            <a:ext cx="384048" cy="384048"/>
          </a:xfrm>
          <a:prstGeom prst="ellipse">
            <a:avLst/>
          </a:prstGeom>
          <a:solidFill>
            <a:srgbClr val="B23A32"/>
          </a:solidFill>
          <a:ln/>
        </p:spPr>
      </p:sp>
      <p:sp>
        <p:nvSpPr>
          <p:cNvPr id="49" name="Text 47"/>
          <p:cNvSpPr txBox="1"/>
          <p:nvPr/>
        </p:nvSpPr>
        <p:spPr>
          <a:xfrm>
            <a:off x="1737360"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50" name="Text 48"/>
          <p:cNvSpPr txBox="1"/>
          <p:nvPr/>
        </p:nvSpPr>
        <p:spPr>
          <a:xfrm>
            <a:off x="2249424" y="3877056"/>
            <a:ext cx="3840480" cy="256032"/>
          </a:xfrm>
          <a:prstGeom prst="rect">
            <a:avLst/>
          </a:prstGeom>
          <a:noFill/>
          <a:ln/>
        </p:spPr>
        <p:txBody>
          <a:bodyPr wrap="square" lIns="0" tIns="0" rIns="0" bIns="0" rtlCol="0" anchor="ctr"/>
          <a:lstStyle/>
          <a:p>
            <a:pPr indent="0" marL="0">
              <a:buNone/>
            </a:pPr>
            <a:r>
              <a:rPr lang="en-US" sz="1400" b="1" spc="20" kern="0" dirty="0">
                <a:solidFill>
                  <a:srgbClr val="B23A32"/>
                </a:solidFill>
                <a:latin typeface="Century Schoolbook" pitchFamily="34" charset="0"/>
                <a:ea typeface="Century Schoolbook" pitchFamily="34" charset="-122"/>
                <a:cs typeface="Century Schoolbook" pitchFamily="34" charset="-120"/>
              </a:rPr>
              <a:t>PARADOXAL</a:t>
            </a:r>
            <a:endParaRPr lang="en-US" sz="1400" dirty="0"/>
          </a:p>
        </p:txBody>
      </p:sp>
      <p:sp>
        <p:nvSpPr>
          <p:cNvPr id="51" name="Text 49"/>
          <p:cNvSpPr txBox="1"/>
          <p:nvPr/>
        </p:nvSpPr>
        <p:spPr>
          <a:xfrm>
            <a:off x="1737360" y="4389120"/>
            <a:ext cx="4334256" cy="1005840"/>
          </a:xfrm>
          <a:prstGeom prst="rect">
            <a:avLst/>
          </a:prstGeom>
          <a:noFill/>
          <a:ln/>
        </p:spPr>
        <p:txBody>
          <a:bodyPr wrap="square" lIns="0" tIns="0" rIns="0" bIns="0" rtlCol="0" anchor="t"/>
          <a:lstStyle/>
          <a:p>
            <a:pPr algn="l" indent="0" marL="0">
              <a:lnSpc>
                <a:spcPts val="1650"/>
              </a:lnSpc>
              <a:buNone/>
            </a:pPr>
            <a:r>
              <a:rPr lang="en-US" sz="1250" dirty="0">
                <a:solidFill>
                  <a:srgbClr val="3A3A38"/>
                </a:solidFill>
                <a:latin typeface="Calibri" pitchFamily="34" charset="0"/>
                <a:ea typeface="Calibri" pitchFamily="34" charset="-122"/>
                <a:cs typeface="Calibri" pitchFamily="34" charset="-120"/>
              </a:rPr>
              <a:t>Deux raisonnements également valides qui aboutissent à des conclusions incompatibles.</a:t>
            </a:r>
            <a:endParaRPr lang="en-US" sz="1250" dirty="0"/>
          </a:p>
          <a:p>
            <a:pPr algn="l" indent="0" marL="0">
              <a:lnSpc>
                <a:spcPts val="1650"/>
              </a:lnSpc>
              <a:buNone/>
            </a:pPr>
            <a:r>
              <a:rPr lang="en-US" sz="1250" dirty="0">
                <a:solidFill>
                  <a:srgbClr val="3A3A38"/>
                </a:solidFill>
                <a:latin typeface="Calibri" pitchFamily="34" charset="0"/>
                <a:ea typeface="Calibri" pitchFamily="34" charset="-122"/>
                <a:cs typeface="Calibri" pitchFamily="34" charset="-120"/>
              </a:rPr>
              <a:t>Le désaccord n'est plus avec l'observation : il est dans le cadre lui-même.</a:t>
            </a:r>
            <a:endParaRPr lang="en-US" sz="1250" dirty="0"/>
          </a:p>
        </p:txBody>
      </p:sp>
      <p:sp>
        <p:nvSpPr>
          <p:cNvPr id="52" name="Shape 50"/>
          <p:cNvSpPr/>
          <p:nvPr/>
        </p:nvSpPr>
        <p:spPr>
          <a:xfrm>
            <a:off x="6675120" y="1389888"/>
            <a:ext cx="4663440" cy="4187952"/>
          </a:xfrm>
          <a:prstGeom prst="roundRect">
            <a:avLst>
              <a:gd name="adj" fmla="val 1528"/>
            </a:avLst>
          </a:prstGeom>
          <a:solidFill>
            <a:srgbClr val="F6F3EA"/>
          </a:solidFill>
          <a:ln w="15875">
            <a:solidFill>
              <a:srgbClr val="D9CFB8"/>
            </a:solidFill>
            <a:prstDash val="solid"/>
          </a:ln>
          <a:effectLst>
            <a:outerShdw sx="100000" sy="100000" kx="0" ky="0" algn="bl" rotWithShape="0" blurRad="88900" dist="25400" dir="5400000">
              <a:srgbClr val="8FAE7E">
                <a:alpha val="30000"/>
              </a:srgbClr>
            </a:outerShdw>
          </a:effectLst>
        </p:spPr>
      </p:sp>
      <p:sp>
        <p:nvSpPr>
          <p:cNvPr id="53" name="Text 51"/>
          <p:cNvSpPr txBox="1"/>
          <p:nvPr/>
        </p:nvSpPr>
        <p:spPr>
          <a:xfrm>
            <a:off x="6931152" y="1609344"/>
            <a:ext cx="4151376" cy="530352"/>
          </a:xfrm>
          <a:prstGeom prst="rect">
            <a:avLst/>
          </a:prstGeom>
          <a:noFill/>
          <a:ln/>
        </p:spPr>
        <p:txBody>
          <a:bodyPr wrap="square" lIns="0" tIns="0" rIns="0" bIns="0" rtlCol="0" anchor="ctr"/>
          <a:lstStyle/>
          <a:p>
            <a:pPr indent="0" marL="0">
              <a:buNone/>
            </a:pPr>
            <a:r>
              <a:rPr lang="en-US" sz="1400" b="1" spc="20" kern="0" dirty="0">
                <a:solidFill>
                  <a:srgbClr val="B23A32"/>
                </a:solidFill>
                <a:latin typeface="Century Schoolbook" pitchFamily="34" charset="0"/>
                <a:ea typeface="Century Schoolbook" pitchFamily="34" charset="-122"/>
                <a:cs typeface="Century Schoolbook" pitchFamily="34" charset="-120"/>
              </a:rPr>
              <a:t>Pourquoi est-ce un sujet de connaissance ?</a:t>
            </a:r>
            <a:endParaRPr lang="en-US" sz="1400" dirty="0"/>
          </a:p>
        </p:txBody>
      </p:sp>
      <p:sp>
        <p:nvSpPr>
          <p:cNvPr id="54" name="Text 52"/>
          <p:cNvSpPr txBox="1"/>
          <p:nvPr/>
        </p:nvSpPr>
        <p:spPr>
          <a:xfrm>
            <a:off x="6931152" y="2231136"/>
            <a:ext cx="4151376" cy="233172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3A3A38"/>
                </a:solidFill>
                <a:latin typeface="Calibri" pitchFamily="34" charset="0"/>
                <a:ea typeface="Calibri" pitchFamily="34" charset="-122"/>
                <a:cs typeface="Calibri" pitchFamily="34" charset="-120"/>
              </a:rPr>
              <a:t>Nos théories les plus solides sont nées d'un écart entre l'attendu et l'observé.</a:t>
            </a:r>
            <a:endParaRPr lang="en-US" sz="1250" dirty="0"/>
          </a:p>
          <a:p>
            <a:pPr marL="342900" indent="-342900">
              <a:lnSpc>
                <a:spcPts val="1700"/>
              </a:lnSpc>
              <a:spcAft>
                <a:spcPts val="900"/>
              </a:spcAft>
              <a:buSzPct val="100000"/>
              <a:buChar char="•"/>
            </a:pPr>
            <a:r>
              <a:rPr lang="en-US" sz="1250" dirty="0">
                <a:solidFill>
                  <a:srgbClr val="3A3A38"/>
                </a:solidFill>
                <a:latin typeface="Calibri" pitchFamily="34" charset="0"/>
                <a:ea typeface="Calibri" pitchFamily="34" charset="-122"/>
                <a:cs typeface="Calibri" pitchFamily="34" charset="-120"/>
              </a:rPr>
              <a:t>L'anomalie est l'endroit où un savoir se fissure — donc l'endroit où il devient visible.</a:t>
            </a:r>
            <a:endParaRPr lang="en-US" sz="1250" dirty="0"/>
          </a:p>
          <a:p>
            <a:pPr marL="342900" indent="-342900">
              <a:lnSpc>
                <a:spcPts val="1700"/>
              </a:lnSpc>
              <a:spcAft>
                <a:spcPts val="900"/>
              </a:spcAft>
              <a:buSzPct val="100000"/>
              <a:buChar char="•"/>
            </a:pPr>
            <a:r>
              <a:rPr lang="en-US" sz="1250" dirty="0">
                <a:solidFill>
                  <a:srgbClr val="3A3A38"/>
                </a:solidFill>
                <a:latin typeface="Calibri" pitchFamily="34" charset="0"/>
                <a:ea typeface="Calibri" pitchFamily="34" charset="-122"/>
                <a:cs typeface="Calibri" pitchFamily="34" charset="-120"/>
              </a:rPr>
              <a:t>Elle oblige à expliciter les hypothèses restées implicites : on ne voit son cadre que lorsqu'il résiste.</a:t>
            </a:r>
            <a:endParaRPr lang="en-US" sz="1250" dirty="0"/>
          </a:p>
          <a:p>
            <a:pPr marL="342900" indent="-342900">
              <a:lnSpc>
                <a:spcPts val="1700"/>
              </a:lnSpc>
              <a:spcAft>
                <a:spcPts val="900"/>
              </a:spcAft>
              <a:buSzPct val="100000"/>
              <a:buChar char="•"/>
            </a:pPr>
            <a:r>
              <a:rPr lang="en-US" sz="1250" dirty="0">
                <a:solidFill>
                  <a:srgbClr val="3A3A38"/>
                </a:solidFill>
                <a:latin typeface="Calibri" pitchFamily="34" charset="0"/>
                <a:ea typeface="Calibri" pitchFamily="34" charset="-122"/>
                <a:cs typeface="Calibri" pitchFamily="34" charset="-120"/>
              </a:rPr>
              <a:t>Mais elle coûte cher : réviser une théorie, c'est renoncer à des acquis.</a:t>
            </a:r>
            <a:endParaRPr lang="en-US" sz="1250" dirty="0"/>
          </a:p>
        </p:txBody>
      </p:sp>
      <p:sp>
        <p:nvSpPr>
          <p:cNvPr id="55" name="Shape 53"/>
          <p:cNvSpPr/>
          <p:nvPr/>
        </p:nvSpPr>
        <p:spPr>
          <a:xfrm>
            <a:off x="6931152" y="4700016"/>
            <a:ext cx="4151376" cy="13716"/>
          </a:xfrm>
          <a:prstGeom prst="rect">
            <a:avLst/>
          </a:prstGeom>
          <a:solidFill>
            <a:srgbClr val="D9CFB8"/>
          </a:solidFill>
          <a:ln/>
        </p:spPr>
      </p:sp>
      <p:sp>
        <p:nvSpPr>
          <p:cNvPr id="56" name="Text 54"/>
          <p:cNvSpPr txBox="1"/>
          <p:nvPr/>
        </p:nvSpPr>
        <p:spPr>
          <a:xfrm>
            <a:off x="6931152" y="4846320"/>
            <a:ext cx="4151376" cy="548640"/>
          </a:xfrm>
          <a:prstGeom prst="rect">
            <a:avLst/>
          </a:prstGeom>
          <a:noFill/>
          <a:ln/>
        </p:spPr>
        <p:txBody>
          <a:bodyPr wrap="square" lIns="0" tIns="0" rIns="0" bIns="0" rtlCol="0" anchor="t"/>
          <a:lstStyle/>
          <a:p>
            <a:pPr algn="l" indent="0" marL="0">
              <a:lnSpc>
                <a:spcPts val="1700"/>
              </a:lnSpc>
              <a:buNone/>
            </a:pPr>
            <a:r>
              <a:rPr lang="en-US" sz="1250" i="1" dirty="0">
                <a:solidFill>
                  <a:srgbClr val="C25B52"/>
                </a:solidFill>
                <a:latin typeface="Calibri" pitchFamily="34" charset="0"/>
                <a:ea typeface="Calibri" pitchFamily="34" charset="-122"/>
                <a:cs typeface="Calibri" pitchFamily="34" charset="-120"/>
              </a:rPr>
              <a:t>« La surprise nous renseigne autant sur l'état de nos attentes que sur l'état du monde. »</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03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3 — QUESTION DE CONNAISSANCE</a:t>
            </a:r>
            <a:endParaRPr lang="en-US" sz="1000" dirty="0"/>
          </a:p>
        </p:txBody>
      </p:sp>
      <p:sp>
        <p:nvSpPr>
          <p:cNvPr id="40" name="Shape 38"/>
          <p:cNvSpPr/>
          <p:nvPr/>
        </p:nvSpPr>
        <p:spPr>
          <a:xfrm rot="-42000">
            <a:off x="1417320" y="868680"/>
            <a:ext cx="397764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Ma question de connaissance</a:t>
            </a:r>
            <a:endParaRPr lang="en-US" sz="2600" dirty="0"/>
          </a:p>
        </p:txBody>
      </p:sp>
      <p:sp>
        <p:nvSpPr>
          <p:cNvPr id="42" name="Shape 40"/>
          <p:cNvSpPr/>
          <p:nvPr/>
        </p:nvSpPr>
        <p:spPr>
          <a:xfrm>
            <a:off x="1481328" y="1389888"/>
            <a:ext cx="9857232" cy="1554480"/>
          </a:xfrm>
          <a:prstGeom prst="roundRect">
            <a:avLst>
              <a:gd name="adj" fmla="val 4118"/>
            </a:avLst>
          </a:prstGeom>
          <a:solidFill>
            <a:srgbClr val="FFFCF0"/>
          </a:solidFill>
          <a:ln w="20320">
            <a:solidFill>
              <a:srgbClr val="B23A32"/>
            </a:solidFill>
            <a:prstDash val="solid"/>
          </a:ln>
          <a:effectLst>
            <a:outerShdw sx="100000" sy="100000" kx="0" ky="0" algn="bl" rotWithShape="0" blurRad="88900" dist="25400" dir="5400000">
              <a:srgbClr val="8FAE7E">
                <a:alpha val="30000"/>
              </a:srgbClr>
            </a:outerShdw>
          </a:effectLst>
        </p:spPr>
      </p:sp>
      <p:sp>
        <p:nvSpPr>
          <p:cNvPr id="43" name="Shape 41"/>
          <p:cNvSpPr/>
          <p:nvPr/>
        </p:nvSpPr>
        <p:spPr>
          <a:xfrm>
            <a:off x="1810512" y="1901952"/>
            <a:ext cx="530352" cy="530352"/>
          </a:xfrm>
          <a:prstGeom prst="ellipse">
            <a:avLst/>
          </a:prstGeom>
          <a:solidFill>
            <a:srgbClr val="B23A32"/>
          </a:solidFill>
          <a:ln/>
        </p:spPr>
      </p:sp>
      <p:sp>
        <p:nvSpPr>
          <p:cNvPr id="44" name="Text 42"/>
          <p:cNvSpPr txBox="1"/>
          <p:nvPr/>
        </p:nvSpPr>
        <p:spPr>
          <a:xfrm>
            <a:off x="1810512" y="1901952"/>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Courier New" pitchFamily="34" charset="0"/>
                <a:ea typeface="Courier New" pitchFamily="34" charset="-122"/>
                <a:cs typeface="Courier New" pitchFamily="34" charset="-120"/>
              </a:rPr>
              <a:t>?</a:t>
            </a:r>
            <a:endParaRPr lang="en-US" sz="1900" dirty="0"/>
          </a:p>
        </p:txBody>
      </p:sp>
      <p:sp>
        <p:nvSpPr>
          <p:cNvPr id="45" name="Text 43"/>
          <p:cNvSpPr txBox="1"/>
          <p:nvPr/>
        </p:nvSpPr>
        <p:spPr>
          <a:xfrm>
            <a:off x="2542032" y="1609344"/>
            <a:ext cx="8503920" cy="1115568"/>
          </a:xfrm>
          <a:prstGeom prst="rect">
            <a:avLst/>
          </a:prstGeom>
          <a:noFill/>
          <a:ln/>
        </p:spPr>
        <p:txBody>
          <a:bodyPr wrap="square" lIns="0" tIns="0" rIns="0" bIns="0" rtlCol="0" anchor="ctr"/>
          <a:lstStyle/>
          <a:p>
            <a:pPr indent="0" marL="0">
              <a:lnSpc>
                <a:spcPts val="2600"/>
              </a:lnSpc>
              <a:buNone/>
            </a:pPr>
            <a:r>
              <a:rPr lang="en-US" sz="1800" b="1" dirty="0">
                <a:solidFill>
                  <a:srgbClr val="B23A32"/>
                </a:solidFill>
                <a:latin typeface="Century Schoolbook" pitchFamily="34" charset="0"/>
                <a:ea typeface="Century Schoolbook" pitchFamily="34" charset="-122"/>
                <a:cs typeface="Century Schoolbook" pitchFamily="34" charset="-120"/>
              </a:rPr>
              <a:t>Dans quelle mesure l'exploration de ce qui est paradoxal ou contre-intuitif est-elle nécessaire à la production de connaissances fiables ?</a:t>
            </a:r>
            <a:endParaRPr lang="en-US" sz="1800" dirty="0"/>
          </a:p>
        </p:txBody>
      </p:sp>
      <p:sp>
        <p:nvSpPr>
          <p:cNvPr id="46" name="Text 44"/>
          <p:cNvSpPr txBox="1"/>
          <p:nvPr/>
        </p:nvSpPr>
        <p:spPr>
          <a:xfrm>
            <a:off x="1481328" y="3127248"/>
            <a:ext cx="6400800" cy="256032"/>
          </a:xfrm>
          <a:prstGeom prst="rect">
            <a:avLst/>
          </a:prstGeom>
          <a:noFill/>
          <a:ln/>
        </p:spPr>
        <p:txBody>
          <a:bodyPr wrap="square" lIns="0" tIns="0" rIns="0" bIns="0" rtlCol="0" anchor="ctr"/>
          <a:lstStyle/>
          <a:p>
            <a:pPr indent="0" marL="0">
              <a:buNone/>
            </a:pPr>
            <a:r>
              <a:rPr lang="en-US" sz="1350" b="1" spc="20" kern="0" dirty="0">
                <a:solidFill>
                  <a:srgbClr val="C25B52"/>
                </a:solidFill>
                <a:latin typeface="Century Schoolbook" pitchFamily="34" charset="0"/>
                <a:ea typeface="Century Schoolbook" pitchFamily="34" charset="-122"/>
                <a:cs typeface="Century Schoolbook" pitchFamily="34" charset="-120"/>
              </a:rPr>
              <a:t>Trois questions secondaires pour l'explorer</a:t>
            </a:r>
            <a:endParaRPr lang="en-US" sz="1350" dirty="0"/>
          </a:p>
        </p:txBody>
      </p:sp>
      <p:sp>
        <p:nvSpPr>
          <p:cNvPr id="47" name="Shape 45"/>
          <p:cNvSpPr/>
          <p:nvPr/>
        </p:nvSpPr>
        <p:spPr>
          <a:xfrm>
            <a:off x="1481328" y="3493008"/>
            <a:ext cx="3127248" cy="2249424"/>
          </a:xfrm>
          <a:prstGeom prst="roundRect">
            <a:avLst>
              <a:gd name="adj" fmla="val 2846"/>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48" name="Shape 46"/>
          <p:cNvSpPr/>
          <p:nvPr/>
        </p:nvSpPr>
        <p:spPr>
          <a:xfrm>
            <a:off x="1719072" y="3694176"/>
            <a:ext cx="365760" cy="365760"/>
          </a:xfrm>
          <a:prstGeom prst="ellipse">
            <a:avLst/>
          </a:prstGeom>
          <a:solidFill>
            <a:srgbClr val="F7C927"/>
          </a:solidFill>
          <a:ln/>
        </p:spPr>
      </p:sp>
      <p:sp>
        <p:nvSpPr>
          <p:cNvPr id="49" name="Text 47"/>
          <p:cNvSpPr txBox="1"/>
          <p:nvPr/>
        </p:nvSpPr>
        <p:spPr>
          <a:xfrm>
            <a:off x="1719072" y="3694176"/>
            <a:ext cx="365760" cy="365760"/>
          </a:xfrm>
          <a:prstGeom prst="rect">
            <a:avLst/>
          </a:prstGeom>
          <a:noFill/>
          <a:ln/>
        </p:spPr>
        <p:txBody>
          <a:bodyPr wrap="square" lIns="0" tIns="0" rIns="0" bIns="0" rtlCol="0" anchor="ctr"/>
          <a:lstStyle/>
          <a:p>
            <a:pPr algn="ctr" indent="0" marL="0">
              <a:buNone/>
            </a:pPr>
            <a:r>
              <a:rPr lang="en-US" sz="1200" b="1" dirty="0">
                <a:solidFill>
                  <a:srgbClr val="6B4A05"/>
                </a:solidFill>
                <a:latin typeface="Courier New" pitchFamily="34" charset="0"/>
                <a:ea typeface="Courier New" pitchFamily="34" charset="-122"/>
                <a:cs typeface="Courier New" pitchFamily="34" charset="-120"/>
              </a:rPr>
              <a:t>a</a:t>
            </a:r>
            <a:endParaRPr lang="en-US" sz="1200" dirty="0"/>
          </a:p>
        </p:txBody>
      </p:sp>
      <p:sp>
        <p:nvSpPr>
          <p:cNvPr id="50" name="Text 48"/>
          <p:cNvSpPr txBox="1"/>
          <p:nvPr/>
        </p:nvSpPr>
        <p:spPr>
          <a:xfrm>
            <a:off x="1719072" y="4206240"/>
            <a:ext cx="2651760" cy="1005840"/>
          </a:xfrm>
          <a:prstGeom prst="rect">
            <a:avLst/>
          </a:prstGeom>
          <a:noFill/>
          <a:ln/>
        </p:spPr>
        <p:txBody>
          <a:bodyPr wrap="square" lIns="0" tIns="0" rIns="0" bIns="0" rtlCol="0" anchor="t"/>
          <a:lstStyle/>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Comment distinguer une anomalie féconde d'une simple erreur de mesure ?</a:t>
            </a:r>
            <a:endParaRPr lang="en-US" sz="1250" dirty="0"/>
          </a:p>
        </p:txBody>
      </p:sp>
      <p:sp>
        <p:nvSpPr>
          <p:cNvPr id="51" name="Text 49"/>
          <p:cNvSpPr txBox="1"/>
          <p:nvPr/>
        </p:nvSpPr>
        <p:spPr>
          <a:xfrm>
            <a:off x="1719072" y="5266944"/>
            <a:ext cx="2651760" cy="384048"/>
          </a:xfrm>
          <a:prstGeom prst="rect">
            <a:avLst/>
          </a:prstGeom>
          <a:noFill/>
          <a:ln/>
        </p:spPr>
        <p:txBody>
          <a:bodyPr wrap="square" lIns="0" tIns="0" rIns="0" bIns="0" rtlCol="0" anchor="t"/>
          <a:lstStyle/>
          <a:p>
            <a:pPr algn="l" indent="0" marL="0">
              <a:lnSpc>
                <a:spcPts val="1400"/>
              </a:lnSpc>
              <a:buNone/>
            </a:pPr>
            <a:r>
              <a:rPr lang="en-US" sz="1100" i="1" dirty="0">
                <a:solidFill>
                  <a:srgbClr val="7E7E74"/>
                </a:solidFill>
                <a:latin typeface="Calibri" pitchFamily="34" charset="0"/>
                <a:ea typeface="Calibri" pitchFamily="34" charset="-122"/>
                <a:cs typeface="Calibri" pitchFamily="34" charset="-120"/>
              </a:rPr>
              <a:t>Enjeu : les critères de fiabilité.</a:t>
            </a:r>
            <a:endParaRPr lang="en-US" sz="1100" dirty="0"/>
          </a:p>
        </p:txBody>
      </p:sp>
      <p:sp>
        <p:nvSpPr>
          <p:cNvPr id="52" name="Shape 50"/>
          <p:cNvSpPr/>
          <p:nvPr/>
        </p:nvSpPr>
        <p:spPr>
          <a:xfrm>
            <a:off x="4800600" y="3493008"/>
            <a:ext cx="3127248" cy="2249424"/>
          </a:xfrm>
          <a:prstGeom prst="roundRect">
            <a:avLst>
              <a:gd name="adj" fmla="val 2846"/>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53" name="Shape 51"/>
          <p:cNvSpPr/>
          <p:nvPr/>
        </p:nvSpPr>
        <p:spPr>
          <a:xfrm>
            <a:off x="5038344" y="3694176"/>
            <a:ext cx="365760" cy="365760"/>
          </a:xfrm>
          <a:prstGeom prst="ellipse">
            <a:avLst/>
          </a:prstGeom>
          <a:solidFill>
            <a:srgbClr val="F7C927"/>
          </a:solidFill>
          <a:ln/>
        </p:spPr>
      </p:sp>
      <p:sp>
        <p:nvSpPr>
          <p:cNvPr id="54" name="Text 52"/>
          <p:cNvSpPr txBox="1"/>
          <p:nvPr/>
        </p:nvSpPr>
        <p:spPr>
          <a:xfrm>
            <a:off x="5038344" y="3694176"/>
            <a:ext cx="365760" cy="365760"/>
          </a:xfrm>
          <a:prstGeom prst="rect">
            <a:avLst/>
          </a:prstGeom>
          <a:noFill/>
          <a:ln/>
        </p:spPr>
        <p:txBody>
          <a:bodyPr wrap="square" lIns="0" tIns="0" rIns="0" bIns="0" rtlCol="0" anchor="ctr"/>
          <a:lstStyle/>
          <a:p>
            <a:pPr algn="ctr" indent="0" marL="0">
              <a:buNone/>
            </a:pPr>
            <a:r>
              <a:rPr lang="en-US" sz="1200" b="1" dirty="0">
                <a:solidFill>
                  <a:srgbClr val="6B4A05"/>
                </a:solidFill>
                <a:latin typeface="Courier New" pitchFamily="34" charset="0"/>
                <a:ea typeface="Courier New" pitchFamily="34" charset="-122"/>
                <a:cs typeface="Courier New" pitchFamily="34" charset="-120"/>
              </a:rPr>
              <a:t>b</a:t>
            </a:r>
            <a:endParaRPr lang="en-US" sz="1200" dirty="0"/>
          </a:p>
        </p:txBody>
      </p:sp>
      <p:sp>
        <p:nvSpPr>
          <p:cNvPr id="55" name="Text 53"/>
          <p:cNvSpPr txBox="1"/>
          <p:nvPr/>
        </p:nvSpPr>
        <p:spPr>
          <a:xfrm>
            <a:off x="5038344" y="4206240"/>
            <a:ext cx="2651760" cy="1005840"/>
          </a:xfrm>
          <a:prstGeom prst="rect">
            <a:avLst/>
          </a:prstGeom>
          <a:noFill/>
          <a:ln/>
        </p:spPr>
        <p:txBody>
          <a:bodyPr wrap="square" lIns="0" tIns="0" rIns="0" bIns="0" rtlCol="0" anchor="t"/>
          <a:lstStyle/>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L'intuition est-elle un critère de vérité, ou seulement une habitude bien installée ?</a:t>
            </a:r>
            <a:endParaRPr lang="en-US" sz="1250" dirty="0"/>
          </a:p>
        </p:txBody>
      </p:sp>
      <p:sp>
        <p:nvSpPr>
          <p:cNvPr id="56" name="Text 54"/>
          <p:cNvSpPr txBox="1"/>
          <p:nvPr/>
        </p:nvSpPr>
        <p:spPr>
          <a:xfrm>
            <a:off x="5038344" y="5266944"/>
            <a:ext cx="2651760" cy="384048"/>
          </a:xfrm>
          <a:prstGeom prst="rect">
            <a:avLst/>
          </a:prstGeom>
          <a:noFill/>
          <a:ln/>
        </p:spPr>
        <p:txBody>
          <a:bodyPr wrap="square" lIns="0" tIns="0" rIns="0" bIns="0" rtlCol="0" anchor="t"/>
          <a:lstStyle/>
          <a:p>
            <a:pPr algn="l" indent="0" marL="0">
              <a:lnSpc>
                <a:spcPts val="1400"/>
              </a:lnSpc>
              <a:buNone/>
            </a:pPr>
            <a:r>
              <a:rPr lang="en-US" sz="1100" i="1" dirty="0">
                <a:solidFill>
                  <a:srgbClr val="7E7E74"/>
                </a:solidFill>
                <a:latin typeface="Calibri" pitchFamily="34" charset="0"/>
                <a:ea typeface="Calibri" pitchFamily="34" charset="-122"/>
                <a:cs typeface="Calibri" pitchFamily="34" charset="-120"/>
              </a:rPr>
              <a:t>Enjeu : les outils de connaissance.</a:t>
            </a:r>
            <a:endParaRPr lang="en-US" sz="1100" dirty="0"/>
          </a:p>
        </p:txBody>
      </p:sp>
      <p:sp>
        <p:nvSpPr>
          <p:cNvPr id="57" name="Shape 55"/>
          <p:cNvSpPr/>
          <p:nvPr/>
        </p:nvSpPr>
        <p:spPr>
          <a:xfrm>
            <a:off x="8119872" y="3493008"/>
            <a:ext cx="3127248" cy="2249424"/>
          </a:xfrm>
          <a:prstGeom prst="roundRect">
            <a:avLst>
              <a:gd name="adj" fmla="val 2846"/>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58" name="Shape 56"/>
          <p:cNvSpPr/>
          <p:nvPr/>
        </p:nvSpPr>
        <p:spPr>
          <a:xfrm>
            <a:off x="8357616" y="3694176"/>
            <a:ext cx="365760" cy="365760"/>
          </a:xfrm>
          <a:prstGeom prst="ellipse">
            <a:avLst/>
          </a:prstGeom>
          <a:solidFill>
            <a:srgbClr val="F7C927"/>
          </a:solidFill>
          <a:ln/>
        </p:spPr>
      </p:sp>
      <p:sp>
        <p:nvSpPr>
          <p:cNvPr id="59" name="Text 57"/>
          <p:cNvSpPr txBox="1"/>
          <p:nvPr/>
        </p:nvSpPr>
        <p:spPr>
          <a:xfrm>
            <a:off x="8357616" y="3694176"/>
            <a:ext cx="365760" cy="365760"/>
          </a:xfrm>
          <a:prstGeom prst="rect">
            <a:avLst/>
          </a:prstGeom>
          <a:noFill/>
          <a:ln/>
        </p:spPr>
        <p:txBody>
          <a:bodyPr wrap="square" lIns="0" tIns="0" rIns="0" bIns="0" rtlCol="0" anchor="ctr"/>
          <a:lstStyle/>
          <a:p>
            <a:pPr algn="ctr" indent="0" marL="0">
              <a:buNone/>
            </a:pPr>
            <a:r>
              <a:rPr lang="en-US" sz="1200" b="1" dirty="0">
                <a:solidFill>
                  <a:srgbClr val="6B4A05"/>
                </a:solidFill>
                <a:latin typeface="Courier New" pitchFamily="34" charset="0"/>
                <a:ea typeface="Courier New" pitchFamily="34" charset="-122"/>
                <a:cs typeface="Courier New" pitchFamily="34" charset="-120"/>
              </a:rPr>
              <a:t>c</a:t>
            </a:r>
            <a:endParaRPr lang="en-US" sz="1200" dirty="0"/>
          </a:p>
        </p:txBody>
      </p:sp>
      <p:sp>
        <p:nvSpPr>
          <p:cNvPr id="60" name="Text 58"/>
          <p:cNvSpPr txBox="1"/>
          <p:nvPr/>
        </p:nvSpPr>
        <p:spPr>
          <a:xfrm>
            <a:off x="8357616" y="4206240"/>
            <a:ext cx="2651760" cy="1005840"/>
          </a:xfrm>
          <a:prstGeom prst="rect">
            <a:avLst/>
          </a:prstGeom>
          <a:noFill/>
          <a:ln/>
        </p:spPr>
        <p:txBody>
          <a:bodyPr wrap="square" lIns="0" tIns="0" rIns="0" bIns="0" rtlCol="0" anchor="t"/>
          <a:lstStyle/>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Le « contre-intuitif » a-t-il le même sens dans tous les domaines de connaissance ?</a:t>
            </a:r>
            <a:endParaRPr lang="en-US" sz="1250" dirty="0"/>
          </a:p>
        </p:txBody>
      </p:sp>
      <p:sp>
        <p:nvSpPr>
          <p:cNvPr id="61" name="Text 59"/>
          <p:cNvSpPr txBox="1"/>
          <p:nvPr/>
        </p:nvSpPr>
        <p:spPr>
          <a:xfrm>
            <a:off x="8357616" y="5266944"/>
            <a:ext cx="2651760" cy="384048"/>
          </a:xfrm>
          <a:prstGeom prst="rect">
            <a:avLst/>
          </a:prstGeom>
          <a:noFill/>
          <a:ln/>
        </p:spPr>
        <p:txBody>
          <a:bodyPr wrap="square" lIns="0" tIns="0" rIns="0" bIns="0" rtlCol="0" anchor="t"/>
          <a:lstStyle/>
          <a:p>
            <a:pPr algn="l" indent="0" marL="0">
              <a:lnSpc>
                <a:spcPts val="1400"/>
              </a:lnSpc>
              <a:buNone/>
            </a:pPr>
            <a:r>
              <a:rPr lang="en-US" sz="1100" i="1" dirty="0">
                <a:solidFill>
                  <a:srgbClr val="7E7E74"/>
                </a:solidFill>
                <a:latin typeface="Calibri" pitchFamily="34" charset="0"/>
                <a:ea typeface="Calibri" pitchFamily="34" charset="-122"/>
                <a:cs typeface="Calibri" pitchFamily="34" charset="-120"/>
              </a:rPr>
              <a:t>Enjeu : la comparaison des domaines.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04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4 — CONCEPTS TdC MOBILISÉS</a:t>
            </a:r>
            <a:endParaRPr lang="en-US" sz="1000" dirty="0"/>
          </a:p>
        </p:txBody>
      </p:sp>
      <p:sp>
        <p:nvSpPr>
          <p:cNvPr id="40" name="Shape 38"/>
          <p:cNvSpPr/>
          <p:nvPr/>
        </p:nvSpPr>
        <p:spPr>
          <a:xfrm rot="-42000">
            <a:off x="1417320" y="868680"/>
            <a:ext cx="626364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Les concepts qui font travailler la question</a:t>
            </a:r>
            <a:endParaRPr lang="en-US" sz="2600" dirty="0"/>
          </a:p>
        </p:txBody>
      </p:sp>
      <p:sp>
        <p:nvSpPr>
          <p:cNvPr id="42" name="Shape 40"/>
          <p:cNvSpPr/>
          <p:nvPr/>
        </p:nvSpPr>
        <p:spPr>
          <a:xfrm>
            <a:off x="1481328" y="1389888"/>
            <a:ext cx="3127248" cy="1700784"/>
          </a:xfrm>
          <a:prstGeom prst="roundRect">
            <a:avLst>
              <a:gd name="adj" fmla="val 376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3" name="Shape 41"/>
          <p:cNvSpPr/>
          <p:nvPr/>
        </p:nvSpPr>
        <p:spPr>
          <a:xfrm>
            <a:off x="1700784" y="1591056"/>
            <a:ext cx="365760" cy="365760"/>
          </a:xfrm>
          <a:prstGeom prst="ellipse">
            <a:avLst/>
          </a:prstGeom>
          <a:solidFill>
            <a:srgbClr val="F5827A"/>
          </a:solidFill>
          <a:ln/>
        </p:spPr>
      </p:sp>
      <p:sp>
        <p:nvSpPr>
          <p:cNvPr id="44" name="Text 42"/>
          <p:cNvSpPr txBox="1"/>
          <p:nvPr/>
        </p:nvSpPr>
        <p:spPr>
          <a:xfrm>
            <a:off x="1700784" y="1591056"/>
            <a:ext cx="365760" cy="365760"/>
          </a:xfrm>
          <a:prstGeom prst="rect">
            <a:avLst/>
          </a:prstGeom>
          <a:noFill/>
          <a:ln/>
        </p:spPr>
        <p:txBody>
          <a:bodyPr wrap="square" lIns="0" tIns="0" rIns="0" bIns="0" rtlCol="0" anchor="ctr"/>
          <a:lstStyle/>
          <a:p>
            <a:pPr algn="ctr" indent="0" marL="0">
              <a:buNone/>
            </a:pPr>
            <a:r>
              <a:rPr lang="en-US" sz="1200" b="1" dirty="0">
                <a:solidFill>
                  <a:srgbClr val="7A2E27"/>
                </a:solidFill>
                <a:latin typeface="Courier New" pitchFamily="34" charset="0"/>
                <a:ea typeface="Courier New" pitchFamily="34" charset="-122"/>
                <a:cs typeface="Courier New" pitchFamily="34" charset="-120"/>
              </a:rPr>
              <a:t>1</a:t>
            </a:r>
            <a:endParaRPr lang="en-US" sz="1200" dirty="0"/>
          </a:p>
        </p:txBody>
      </p:sp>
      <p:sp>
        <p:nvSpPr>
          <p:cNvPr id="45" name="Text 43"/>
          <p:cNvSpPr txBox="1"/>
          <p:nvPr/>
        </p:nvSpPr>
        <p:spPr>
          <a:xfrm>
            <a:off x="2176272" y="1609344"/>
            <a:ext cx="228600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CERTITUDE</a:t>
            </a:r>
            <a:endParaRPr lang="en-US" sz="1250" dirty="0"/>
          </a:p>
        </p:txBody>
      </p:sp>
      <p:sp>
        <p:nvSpPr>
          <p:cNvPr id="46" name="Text 44"/>
          <p:cNvSpPr txBox="1"/>
          <p:nvPr/>
        </p:nvSpPr>
        <p:spPr>
          <a:xfrm>
            <a:off x="1700784" y="2103120"/>
            <a:ext cx="2688336" cy="859536"/>
          </a:xfrm>
          <a:prstGeom prst="rect">
            <a:avLst/>
          </a:prstGeom>
          <a:noFill/>
          <a:ln/>
        </p:spPr>
        <p:txBody>
          <a:bodyPr wrap="square" lIns="0" tIns="0" rIns="0" bIns="0" rtlCol="0" anchor="t"/>
          <a:lstStyle/>
          <a:p>
            <a:pPr algn="l" indent="0" marL="0">
              <a:lnSpc>
                <a:spcPts val="1600"/>
              </a:lnSpc>
              <a:buNone/>
            </a:pPr>
            <a:r>
              <a:rPr lang="en-US" sz="1200" dirty="0">
                <a:solidFill>
                  <a:srgbClr val="3A3A38"/>
                </a:solidFill>
                <a:latin typeface="Calibri" pitchFamily="34" charset="0"/>
                <a:ea typeface="Calibri" pitchFamily="34" charset="-122"/>
                <a:cs typeface="Calibri" pitchFamily="34" charset="-120"/>
              </a:rPr>
              <a:t>Un paradoxe montre qu'une certitude partagée reste révisable : la confiance n'est pas la vérité.</a:t>
            </a:r>
            <a:endParaRPr lang="en-US" sz="1200" dirty="0"/>
          </a:p>
        </p:txBody>
      </p:sp>
      <p:sp>
        <p:nvSpPr>
          <p:cNvPr id="47" name="Shape 45"/>
          <p:cNvSpPr/>
          <p:nvPr/>
        </p:nvSpPr>
        <p:spPr>
          <a:xfrm>
            <a:off x="4800600" y="1389888"/>
            <a:ext cx="3127248" cy="1700784"/>
          </a:xfrm>
          <a:prstGeom prst="roundRect">
            <a:avLst>
              <a:gd name="adj" fmla="val 376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8" name="Shape 46"/>
          <p:cNvSpPr/>
          <p:nvPr/>
        </p:nvSpPr>
        <p:spPr>
          <a:xfrm>
            <a:off x="5020056" y="1591056"/>
            <a:ext cx="365760" cy="365760"/>
          </a:xfrm>
          <a:prstGeom prst="ellipse">
            <a:avLst/>
          </a:prstGeom>
          <a:solidFill>
            <a:srgbClr val="B23A32"/>
          </a:solidFill>
          <a:ln/>
        </p:spPr>
      </p:sp>
      <p:sp>
        <p:nvSpPr>
          <p:cNvPr id="49" name="Text 47"/>
          <p:cNvSpPr txBox="1"/>
          <p:nvPr/>
        </p:nvSpPr>
        <p:spPr>
          <a:xfrm>
            <a:off x="5020056" y="15910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50" name="Text 48"/>
          <p:cNvSpPr txBox="1"/>
          <p:nvPr/>
        </p:nvSpPr>
        <p:spPr>
          <a:xfrm>
            <a:off x="5495544" y="1609344"/>
            <a:ext cx="228600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JUSTIFICATION</a:t>
            </a:r>
            <a:endParaRPr lang="en-US" sz="1250" dirty="0"/>
          </a:p>
        </p:txBody>
      </p:sp>
      <p:sp>
        <p:nvSpPr>
          <p:cNvPr id="51" name="Text 49"/>
          <p:cNvSpPr txBox="1"/>
          <p:nvPr/>
        </p:nvSpPr>
        <p:spPr>
          <a:xfrm>
            <a:off x="5020056" y="2103120"/>
            <a:ext cx="2688336" cy="859536"/>
          </a:xfrm>
          <a:prstGeom prst="rect">
            <a:avLst/>
          </a:prstGeom>
          <a:noFill/>
          <a:ln/>
        </p:spPr>
        <p:txBody>
          <a:bodyPr wrap="square" lIns="0" tIns="0" rIns="0" bIns="0" rtlCol="0" anchor="t"/>
          <a:lstStyle/>
          <a:p>
            <a:pPr algn="l" indent="0" marL="0">
              <a:lnSpc>
                <a:spcPts val="1600"/>
              </a:lnSpc>
              <a:buNone/>
            </a:pPr>
            <a:r>
              <a:rPr lang="en-US" sz="1200" dirty="0">
                <a:solidFill>
                  <a:srgbClr val="3A3A38"/>
                </a:solidFill>
                <a:latin typeface="Calibri" pitchFamily="34" charset="0"/>
                <a:ea typeface="Calibri" pitchFamily="34" charset="-122"/>
                <a:cs typeface="Calibri" pitchFamily="34" charset="-120"/>
              </a:rPr>
              <a:t>Qu'est-ce qui autorise à croire un résultat qui choque le sens commun ?</a:t>
            </a:r>
            <a:endParaRPr lang="en-US" sz="1200" dirty="0"/>
          </a:p>
        </p:txBody>
      </p:sp>
      <p:sp>
        <p:nvSpPr>
          <p:cNvPr id="52" name="Shape 50"/>
          <p:cNvSpPr/>
          <p:nvPr/>
        </p:nvSpPr>
        <p:spPr>
          <a:xfrm>
            <a:off x="8119872" y="1389888"/>
            <a:ext cx="3127248" cy="1700784"/>
          </a:xfrm>
          <a:prstGeom prst="roundRect">
            <a:avLst>
              <a:gd name="adj" fmla="val 376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3" name="Shape 51"/>
          <p:cNvSpPr/>
          <p:nvPr/>
        </p:nvSpPr>
        <p:spPr>
          <a:xfrm>
            <a:off x="8339328" y="1591056"/>
            <a:ext cx="365760" cy="365760"/>
          </a:xfrm>
          <a:prstGeom prst="ellipse">
            <a:avLst/>
          </a:prstGeom>
          <a:solidFill>
            <a:srgbClr val="F7C927"/>
          </a:solidFill>
          <a:ln/>
        </p:spPr>
      </p:sp>
      <p:sp>
        <p:nvSpPr>
          <p:cNvPr id="54" name="Text 52"/>
          <p:cNvSpPr txBox="1"/>
          <p:nvPr/>
        </p:nvSpPr>
        <p:spPr>
          <a:xfrm>
            <a:off x="8339328" y="1591056"/>
            <a:ext cx="365760" cy="365760"/>
          </a:xfrm>
          <a:prstGeom prst="rect">
            <a:avLst/>
          </a:prstGeom>
          <a:noFill/>
          <a:ln/>
        </p:spPr>
        <p:txBody>
          <a:bodyPr wrap="square" lIns="0" tIns="0" rIns="0" bIns="0" rtlCol="0" anchor="ctr"/>
          <a:lstStyle/>
          <a:p>
            <a:pPr algn="ctr" indent="0" marL="0">
              <a:buNone/>
            </a:pPr>
            <a:r>
              <a:rPr lang="en-US" sz="1200" b="1" dirty="0">
                <a:solidFill>
                  <a:srgbClr val="6B4A05"/>
                </a:solidFill>
                <a:latin typeface="Courier New" pitchFamily="34" charset="0"/>
                <a:ea typeface="Courier New" pitchFamily="34" charset="-122"/>
                <a:cs typeface="Courier New" pitchFamily="34" charset="-120"/>
              </a:rPr>
              <a:t>3</a:t>
            </a:r>
            <a:endParaRPr lang="en-US" sz="1200" dirty="0"/>
          </a:p>
        </p:txBody>
      </p:sp>
      <p:sp>
        <p:nvSpPr>
          <p:cNvPr id="55" name="Text 53"/>
          <p:cNvSpPr txBox="1"/>
          <p:nvPr/>
        </p:nvSpPr>
        <p:spPr>
          <a:xfrm>
            <a:off x="8814816" y="1609344"/>
            <a:ext cx="228600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ÉLÉMENTS DE PREUVE</a:t>
            </a:r>
            <a:endParaRPr lang="en-US" sz="1250" dirty="0"/>
          </a:p>
        </p:txBody>
      </p:sp>
      <p:sp>
        <p:nvSpPr>
          <p:cNvPr id="56" name="Text 54"/>
          <p:cNvSpPr txBox="1"/>
          <p:nvPr/>
        </p:nvSpPr>
        <p:spPr>
          <a:xfrm>
            <a:off x="8339328" y="2103120"/>
            <a:ext cx="2688336" cy="859536"/>
          </a:xfrm>
          <a:prstGeom prst="rect">
            <a:avLst/>
          </a:prstGeom>
          <a:noFill/>
          <a:ln/>
        </p:spPr>
        <p:txBody>
          <a:bodyPr wrap="square" lIns="0" tIns="0" rIns="0" bIns="0" rtlCol="0" anchor="t"/>
          <a:lstStyle/>
          <a:p>
            <a:pPr algn="l" indent="0" marL="0">
              <a:lnSpc>
                <a:spcPts val="1600"/>
              </a:lnSpc>
              <a:buNone/>
            </a:pPr>
            <a:r>
              <a:rPr lang="en-US" sz="1200" dirty="0">
                <a:solidFill>
                  <a:srgbClr val="3A3A38"/>
                </a:solidFill>
                <a:latin typeface="Calibri" pitchFamily="34" charset="0"/>
                <a:ea typeface="Calibri" pitchFamily="34" charset="-122"/>
                <a:cs typeface="Calibri" pitchFamily="34" charset="-120"/>
              </a:rPr>
              <a:t>Une anomalie n'est pas encore une réfutation : il faut la répliquer avant de l'interpréter.</a:t>
            </a:r>
            <a:endParaRPr lang="en-US" sz="1200" dirty="0"/>
          </a:p>
        </p:txBody>
      </p:sp>
      <p:sp>
        <p:nvSpPr>
          <p:cNvPr id="57" name="Shape 55"/>
          <p:cNvSpPr/>
          <p:nvPr/>
        </p:nvSpPr>
        <p:spPr>
          <a:xfrm>
            <a:off x="1481328" y="3273552"/>
            <a:ext cx="3127248" cy="1700784"/>
          </a:xfrm>
          <a:prstGeom prst="roundRect">
            <a:avLst>
              <a:gd name="adj" fmla="val 376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8" name="Shape 56"/>
          <p:cNvSpPr/>
          <p:nvPr/>
        </p:nvSpPr>
        <p:spPr>
          <a:xfrm>
            <a:off x="1700784" y="3474720"/>
            <a:ext cx="365760" cy="365760"/>
          </a:xfrm>
          <a:prstGeom prst="ellipse">
            <a:avLst/>
          </a:prstGeom>
          <a:solidFill>
            <a:srgbClr val="F5827A"/>
          </a:solidFill>
          <a:ln/>
        </p:spPr>
      </p:sp>
      <p:sp>
        <p:nvSpPr>
          <p:cNvPr id="59" name="Text 57"/>
          <p:cNvSpPr txBox="1"/>
          <p:nvPr/>
        </p:nvSpPr>
        <p:spPr>
          <a:xfrm>
            <a:off x="1700784" y="3474720"/>
            <a:ext cx="365760" cy="365760"/>
          </a:xfrm>
          <a:prstGeom prst="rect">
            <a:avLst/>
          </a:prstGeom>
          <a:noFill/>
          <a:ln/>
        </p:spPr>
        <p:txBody>
          <a:bodyPr wrap="square" lIns="0" tIns="0" rIns="0" bIns="0" rtlCol="0" anchor="ctr"/>
          <a:lstStyle/>
          <a:p>
            <a:pPr algn="ctr" indent="0" marL="0">
              <a:buNone/>
            </a:pPr>
            <a:r>
              <a:rPr lang="en-US" sz="1200" b="1" dirty="0">
                <a:solidFill>
                  <a:srgbClr val="7A2E27"/>
                </a:solidFill>
                <a:latin typeface="Courier New" pitchFamily="34" charset="0"/>
                <a:ea typeface="Courier New" pitchFamily="34" charset="-122"/>
                <a:cs typeface="Courier New" pitchFamily="34" charset="-120"/>
              </a:rPr>
              <a:t>4</a:t>
            </a:r>
            <a:endParaRPr lang="en-US" sz="1200" dirty="0"/>
          </a:p>
        </p:txBody>
      </p:sp>
      <p:sp>
        <p:nvSpPr>
          <p:cNvPr id="60" name="Text 58"/>
          <p:cNvSpPr txBox="1"/>
          <p:nvPr/>
        </p:nvSpPr>
        <p:spPr>
          <a:xfrm>
            <a:off x="2176272" y="3493008"/>
            <a:ext cx="228600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INTERPRÉTATION</a:t>
            </a:r>
            <a:endParaRPr lang="en-US" sz="1250" dirty="0"/>
          </a:p>
        </p:txBody>
      </p:sp>
      <p:sp>
        <p:nvSpPr>
          <p:cNvPr id="61" name="Text 59"/>
          <p:cNvSpPr txBox="1"/>
          <p:nvPr/>
        </p:nvSpPr>
        <p:spPr>
          <a:xfrm>
            <a:off x="1700784" y="3986784"/>
            <a:ext cx="2688336" cy="859536"/>
          </a:xfrm>
          <a:prstGeom prst="rect">
            <a:avLst/>
          </a:prstGeom>
          <a:noFill/>
          <a:ln/>
        </p:spPr>
        <p:txBody>
          <a:bodyPr wrap="square" lIns="0" tIns="0" rIns="0" bIns="0" rtlCol="0" anchor="t"/>
          <a:lstStyle/>
          <a:p>
            <a:pPr algn="l" indent="0" marL="0">
              <a:lnSpc>
                <a:spcPts val="1600"/>
              </a:lnSpc>
              <a:buNone/>
            </a:pPr>
            <a:r>
              <a:rPr lang="en-US" sz="1200" dirty="0">
                <a:solidFill>
                  <a:srgbClr val="3A3A38"/>
                </a:solidFill>
                <a:latin typeface="Calibri" pitchFamily="34" charset="0"/>
                <a:ea typeface="Calibri" pitchFamily="34" charset="-122"/>
                <a:cs typeface="Calibri" pitchFamily="34" charset="-120"/>
              </a:rPr>
              <a:t>Un même fait surprenant admet plusieurs lectures : erreur, hasard, ou théorie nouvelle.</a:t>
            </a:r>
            <a:endParaRPr lang="en-US" sz="1200" dirty="0"/>
          </a:p>
        </p:txBody>
      </p:sp>
      <p:sp>
        <p:nvSpPr>
          <p:cNvPr id="62" name="Shape 60"/>
          <p:cNvSpPr/>
          <p:nvPr/>
        </p:nvSpPr>
        <p:spPr>
          <a:xfrm>
            <a:off x="4800600" y="3273552"/>
            <a:ext cx="3127248" cy="1700784"/>
          </a:xfrm>
          <a:prstGeom prst="roundRect">
            <a:avLst>
              <a:gd name="adj" fmla="val 376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63" name="Shape 61"/>
          <p:cNvSpPr/>
          <p:nvPr/>
        </p:nvSpPr>
        <p:spPr>
          <a:xfrm>
            <a:off x="5020056" y="3474720"/>
            <a:ext cx="365760" cy="365760"/>
          </a:xfrm>
          <a:prstGeom prst="ellipse">
            <a:avLst/>
          </a:prstGeom>
          <a:solidFill>
            <a:srgbClr val="B23A32"/>
          </a:solidFill>
          <a:ln/>
        </p:spPr>
      </p:sp>
      <p:sp>
        <p:nvSpPr>
          <p:cNvPr id="64" name="Text 62"/>
          <p:cNvSpPr txBox="1"/>
          <p:nvPr/>
        </p:nvSpPr>
        <p:spPr>
          <a:xfrm>
            <a:off x="5020056" y="34747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65" name="Text 63"/>
          <p:cNvSpPr txBox="1"/>
          <p:nvPr/>
        </p:nvSpPr>
        <p:spPr>
          <a:xfrm>
            <a:off x="5495544" y="3493008"/>
            <a:ext cx="228600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PERSPECTIVE</a:t>
            </a:r>
            <a:endParaRPr lang="en-US" sz="1250" dirty="0"/>
          </a:p>
        </p:txBody>
      </p:sp>
      <p:sp>
        <p:nvSpPr>
          <p:cNvPr id="66" name="Text 64"/>
          <p:cNvSpPr txBox="1"/>
          <p:nvPr/>
        </p:nvSpPr>
        <p:spPr>
          <a:xfrm>
            <a:off x="5020056" y="3986784"/>
            <a:ext cx="2688336" cy="859536"/>
          </a:xfrm>
          <a:prstGeom prst="rect">
            <a:avLst/>
          </a:prstGeom>
          <a:noFill/>
          <a:ln/>
        </p:spPr>
        <p:txBody>
          <a:bodyPr wrap="square" lIns="0" tIns="0" rIns="0" bIns="0" rtlCol="0" anchor="t"/>
          <a:lstStyle/>
          <a:p>
            <a:pPr algn="l" indent="0" marL="0">
              <a:lnSpc>
                <a:spcPts val="1600"/>
              </a:lnSpc>
              <a:buNone/>
            </a:pPr>
            <a:r>
              <a:rPr lang="en-US" sz="1200" dirty="0">
                <a:solidFill>
                  <a:srgbClr val="3A3A38"/>
                </a:solidFill>
                <a:latin typeface="Calibri" pitchFamily="34" charset="0"/>
                <a:ea typeface="Calibri" pitchFamily="34" charset="-122"/>
                <a:cs typeface="Calibri" pitchFamily="34" charset="-120"/>
              </a:rPr>
              <a:t>Contre-intuitif par rapport à quel cadre, quelle époque, quelle culture scientifique ?</a:t>
            </a:r>
            <a:endParaRPr lang="en-US" sz="1200" dirty="0"/>
          </a:p>
        </p:txBody>
      </p:sp>
      <p:sp>
        <p:nvSpPr>
          <p:cNvPr id="67" name="Shape 65"/>
          <p:cNvSpPr/>
          <p:nvPr/>
        </p:nvSpPr>
        <p:spPr>
          <a:xfrm>
            <a:off x="8119872" y="3273552"/>
            <a:ext cx="3127248" cy="1700784"/>
          </a:xfrm>
          <a:prstGeom prst="roundRect">
            <a:avLst>
              <a:gd name="adj" fmla="val 376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68" name="Shape 66"/>
          <p:cNvSpPr/>
          <p:nvPr/>
        </p:nvSpPr>
        <p:spPr>
          <a:xfrm>
            <a:off x="8339328" y="3474720"/>
            <a:ext cx="365760" cy="365760"/>
          </a:xfrm>
          <a:prstGeom prst="ellipse">
            <a:avLst/>
          </a:prstGeom>
          <a:solidFill>
            <a:srgbClr val="F7C927"/>
          </a:solidFill>
          <a:ln/>
        </p:spPr>
      </p:sp>
      <p:sp>
        <p:nvSpPr>
          <p:cNvPr id="69" name="Text 67"/>
          <p:cNvSpPr txBox="1"/>
          <p:nvPr/>
        </p:nvSpPr>
        <p:spPr>
          <a:xfrm>
            <a:off x="8339328" y="3474720"/>
            <a:ext cx="365760" cy="365760"/>
          </a:xfrm>
          <a:prstGeom prst="rect">
            <a:avLst/>
          </a:prstGeom>
          <a:noFill/>
          <a:ln/>
        </p:spPr>
        <p:txBody>
          <a:bodyPr wrap="square" lIns="0" tIns="0" rIns="0" bIns="0" rtlCol="0" anchor="ctr"/>
          <a:lstStyle/>
          <a:p>
            <a:pPr algn="ctr" indent="0" marL="0">
              <a:buNone/>
            </a:pPr>
            <a:r>
              <a:rPr lang="en-US" sz="1200" b="1" dirty="0">
                <a:solidFill>
                  <a:srgbClr val="6B4A05"/>
                </a:solidFill>
                <a:latin typeface="Courier New" pitchFamily="34" charset="0"/>
                <a:ea typeface="Courier New" pitchFamily="34" charset="-122"/>
                <a:cs typeface="Courier New" pitchFamily="34" charset="-120"/>
              </a:rPr>
              <a:t>6</a:t>
            </a:r>
            <a:endParaRPr lang="en-US" sz="1200" dirty="0"/>
          </a:p>
        </p:txBody>
      </p:sp>
      <p:sp>
        <p:nvSpPr>
          <p:cNvPr id="70" name="Text 68"/>
          <p:cNvSpPr txBox="1"/>
          <p:nvPr/>
        </p:nvSpPr>
        <p:spPr>
          <a:xfrm>
            <a:off x="8814816" y="3493008"/>
            <a:ext cx="228600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OBJECTIVITÉ</a:t>
            </a:r>
            <a:endParaRPr lang="en-US" sz="1250" dirty="0"/>
          </a:p>
        </p:txBody>
      </p:sp>
      <p:sp>
        <p:nvSpPr>
          <p:cNvPr id="71" name="Text 69"/>
          <p:cNvSpPr txBox="1"/>
          <p:nvPr/>
        </p:nvSpPr>
        <p:spPr>
          <a:xfrm>
            <a:off x="8339328" y="3986784"/>
            <a:ext cx="2688336" cy="859536"/>
          </a:xfrm>
          <a:prstGeom prst="rect">
            <a:avLst/>
          </a:prstGeom>
          <a:noFill/>
          <a:ln/>
        </p:spPr>
        <p:txBody>
          <a:bodyPr wrap="square" lIns="0" tIns="0" rIns="0" bIns="0" rtlCol="0" anchor="t"/>
          <a:lstStyle/>
          <a:p>
            <a:pPr algn="l" indent="0" marL="0">
              <a:lnSpc>
                <a:spcPts val="1600"/>
              </a:lnSpc>
              <a:buNone/>
            </a:pPr>
            <a:r>
              <a:rPr lang="en-US" sz="1200" dirty="0">
                <a:solidFill>
                  <a:srgbClr val="3A3A38"/>
                </a:solidFill>
                <a:latin typeface="Calibri" pitchFamily="34" charset="0"/>
                <a:ea typeface="Calibri" pitchFamily="34" charset="-122"/>
                <a:cs typeface="Calibri" pitchFamily="34" charset="-120"/>
              </a:rPr>
              <a:t>L'intuition est privée et non vérifiable ; la reproductibilité est une procédure publique.</a:t>
            </a:r>
            <a:endParaRPr lang="en-US" sz="1200" dirty="0"/>
          </a:p>
        </p:txBody>
      </p:sp>
      <p:sp>
        <p:nvSpPr>
          <p:cNvPr id="72" name="Shape 70"/>
          <p:cNvSpPr/>
          <p:nvPr/>
        </p:nvSpPr>
        <p:spPr>
          <a:xfrm rot="-24000">
            <a:off x="1481328" y="5358384"/>
            <a:ext cx="9857232" cy="603504"/>
          </a:xfrm>
          <a:prstGeom prst="rect">
            <a:avLst/>
          </a:prstGeom>
          <a:solidFill>
            <a:srgbClr val="F7F1B4"/>
          </a:solidFill>
          <a:ln/>
          <a:effectLst>
            <a:outerShdw sx="100000" sy="100000" kx="0" ky="0" algn="bl" rotWithShape="0" blurRad="114300" dist="38100" dir="5400000">
              <a:srgbClr val="6B6633">
                <a:alpha val="30000"/>
              </a:srgbClr>
            </a:outerShdw>
          </a:effectLst>
        </p:spPr>
      </p:sp>
      <p:sp>
        <p:nvSpPr>
          <p:cNvPr id="73" name="Shape 71"/>
          <p:cNvSpPr/>
          <p:nvPr/>
        </p:nvSpPr>
        <p:spPr>
          <a:xfrm rot="-324000">
            <a:off x="5998464" y="5239512"/>
            <a:ext cx="822960" cy="237744"/>
          </a:xfrm>
          <a:prstGeom prst="rect">
            <a:avLst/>
          </a:prstGeom>
          <a:solidFill>
            <a:srgbClr val="FFFFFF">
              <a:alpha val="52000"/>
            </a:srgbClr>
          </a:solidFill>
          <a:ln/>
        </p:spPr>
      </p:sp>
      <p:sp>
        <p:nvSpPr>
          <p:cNvPr id="74" name="Text 72"/>
          <p:cNvSpPr txBox="1"/>
          <p:nvPr/>
        </p:nvSpPr>
        <p:spPr>
          <a:xfrm>
            <a:off x="1755648" y="5513832"/>
            <a:ext cx="9308592" cy="310896"/>
          </a:xfrm>
          <a:prstGeom prst="rect">
            <a:avLst/>
          </a:prstGeom>
          <a:noFill/>
          <a:ln/>
        </p:spPr>
        <p:txBody>
          <a:bodyPr wrap="square" lIns="0" tIns="0" rIns="0" bIns="0" rtlCol="0" anchor="t"/>
          <a:lstStyle/>
          <a:p>
            <a:pPr algn="ctr" indent="0" marL="0">
              <a:lnSpc>
                <a:spcPts val="1700"/>
              </a:lnSpc>
              <a:buNone/>
            </a:pPr>
            <a:r>
              <a:rPr lang="en-US" sz="1250" b="1" dirty="0">
                <a:solidFill>
                  <a:srgbClr val="5E5A38"/>
                </a:solidFill>
                <a:latin typeface="Calibri" pitchFamily="34" charset="0"/>
                <a:ea typeface="Calibri" pitchFamily="34" charset="-122"/>
                <a:cs typeface="Calibri" pitchFamily="34" charset="-120"/>
              </a:rPr>
              <a:t>Outils de connaissance en jeu : intuition · raison · imagination — et c'est précisément leur hiérarchie que le sujet met en question.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05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5 — PREMIER ARGUMENT · SCIENCES NATURELLES</a:t>
            </a:r>
            <a:endParaRPr lang="en-US" sz="1000" dirty="0"/>
          </a:p>
        </p:txBody>
      </p:sp>
      <p:sp>
        <p:nvSpPr>
          <p:cNvPr id="40" name="Shape 38"/>
          <p:cNvSpPr/>
          <p:nvPr/>
        </p:nvSpPr>
        <p:spPr>
          <a:xfrm rot="-42000">
            <a:off x="1417320" y="868680"/>
            <a:ext cx="534924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L'anomalie est ce qui informe le plus</a:t>
            </a:r>
            <a:endParaRPr lang="en-US" sz="2600" dirty="0"/>
          </a:p>
        </p:txBody>
      </p:sp>
      <p:sp>
        <p:nvSpPr>
          <p:cNvPr id="42" name="Shape 40"/>
          <p:cNvSpPr/>
          <p:nvPr/>
        </p:nvSpPr>
        <p:spPr>
          <a:xfrm>
            <a:off x="1481328" y="1609344"/>
            <a:ext cx="4846320" cy="1316736"/>
          </a:xfrm>
          <a:prstGeom prst="roundRect">
            <a:avLst>
              <a:gd name="adj" fmla="val 4861"/>
            </a:avLst>
          </a:prstGeom>
          <a:solidFill>
            <a:srgbClr val="FFFCF0"/>
          </a:solidFill>
          <a:ln w="20320">
            <a:solidFill>
              <a:srgbClr val="B23A32"/>
            </a:solidFill>
            <a:prstDash val="solid"/>
          </a:ln>
          <a:effectLst>
            <a:outerShdw sx="100000" sy="100000" kx="0" ky="0" algn="bl" rotWithShape="0" blurRad="88900" dist="25400" dir="5400000">
              <a:srgbClr val="8FAE7E">
                <a:alpha val="30000"/>
              </a:srgbClr>
            </a:outerShdw>
          </a:effectLst>
        </p:spPr>
      </p:sp>
      <p:sp>
        <p:nvSpPr>
          <p:cNvPr id="43" name="Text 41"/>
          <p:cNvSpPr txBox="1"/>
          <p:nvPr/>
        </p:nvSpPr>
        <p:spPr>
          <a:xfrm>
            <a:off x="1719072" y="1773936"/>
            <a:ext cx="4352544" cy="987552"/>
          </a:xfrm>
          <a:prstGeom prst="rect">
            <a:avLst/>
          </a:prstGeom>
          <a:noFill/>
          <a:ln/>
        </p:spPr>
        <p:txBody>
          <a:bodyPr wrap="square" lIns="0" tIns="0" rIns="0" bIns="0" rtlCol="0" anchor="ctr"/>
          <a:lstStyle/>
          <a:p>
            <a:pPr indent="0" marL="0">
              <a:lnSpc>
                <a:spcPts val="1700"/>
              </a:lnSpc>
              <a:buNone/>
            </a:pPr>
            <a:r>
              <a:rPr lang="en-US" sz="1100" b="1" dirty="0">
                <a:solidFill>
                  <a:srgbClr val="C25B52"/>
                </a:solidFill>
                <a:latin typeface="Courier New" pitchFamily="34" charset="0"/>
                <a:ea typeface="Courier New" pitchFamily="34" charset="-122"/>
                <a:cs typeface="Courier New" pitchFamily="34" charset="-120"/>
              </a:rPr>
              <a:t>THÈSE — </a:t>
            </a:r>
            <a:pPr indent="0" marL="0">
              <a:lnSpc>
                <a:spcPts val="1700"/>
              </a:lnSpc>
              <a:buNone/>
            </a:pPr>
            <a:r>
              <a:rPr lang="en-US" sz="1250" dirty="0">
                <a:solidFill>
                  <a:srgbClr val="3A3A38"/>
                </a:solidFill>
                <a:latin typeface="Calibri" pitchFamily="34" charset="0"/>
                <a:ea typeface="Calibri" pitchFamily="34" charset="-122"/>
                <a:cs typeface="Calibri" pitchFamily="34" charset="-120"/>
              </a:rPr>
              <a:t>un résultat attendu confirme peu. Un résultat contre-intuitif départage les théories rivales : il élimine plus d'hypothèses, donc il informe davantage.</a:t>
            </a:r>
            <a:endParaRPr lang="en-US" sz="1100" dirty="0"/>
          </a:p>
        </p:txBody>
      </p:sp>
      <p:sp>
        <p:nvSpPr>
          <p:cNvPr id="44" name="Shape 42"/>
          <p:cNvSpPr/>
          <p:nvPr/>
        </p:nvSpPr>
        <p:spPr>
          <a:xfrm>
            <a:off x="1481328" y="3108960"/>
            <a:ext cx="4846320" cy="1207008"/>
          </a:xfrm>
          <a:prstGeom prst="roundRect">
            <a:avLst>
              <a:gd name="adj" fmla="val 5303"/>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45" name="Shape 43"/>
          <p:cNvSpPr/>
          <p:nvPr/>
        </p:nvSpPr>
        <p:spPr>
          <a:xfrm>
            <a:off x="1700784" y="3273552"/>
            <a:ext cx="347472" cy="347472"/>
          </a:xfrm>
          <a:prstGeom prst="ellipse">
            <a:avLst/>
          </a:prstGeom>
          <a:solidFill>
            <a:srgbClr val="F5827A"/>
          </a:solidFill>
          <a:ln/>
        </p:spPr>
      </p:sp>
      <p:sp>
        <p:nvSpPr>
          <p:cNvPr id="46" name="Text 44"/>
          <p:cNvSpPr txBox="1"/>
          <p:nvPr/>
        </p:nvSpPr>
        <p:spPr>
          <a:xfrm>
            <a:off x="1700784" y="3273552"/>
            <a:ext cx="347472" cy="347472"/>
          </a:xfrm>
          <a:prstGeom prst="rect">
            <a:avLst/>
          </a:prstGeom>
          <a:noFill/>
          <a:ln/>
        </p:spPr>
        <p:txBody>
          <a:bodyPr wrap="square" lIns="0" tIns="0" rIns="0" bIns="0" rtlCol="0" anchor="ctr"/>
          <a:lstStyle/>
          <a:p>
            <a:pPr algn="ctr" indent="0" marL="0">
              <a:buNone/>
            </a:pPr>
            <a:r>
              <a:rPr lang="en-US" sz="1200" b="1" dirty="0">
                <a:solidFill>
                  <a:srgbClr val="7A2E27"/>
                </a:solidFill>
                <a:latin typeface="Courier New" pitchFamily="34" charset="0"/>
                <a:ea typeface="Courier New" pitchFamily="34" charset="-122"/>
                <a:cs typeface="Courier New" pitchFamily="34" charset="-120"/>
              </a:rPr>
              <a:t>P</a:t>
            </a:r>
            <a:endParaRPr lang="en-US" sz="1200" dirty="0"/>
          </a:p>
        </p:txBody>
      </p:sp>
      <p:sp>
        <p:nvSpPr>
          <p:cNvPr id="47" name="Text 45"/>
          <p:cNvSpPr txBox="1"/>
          <p:nvPr/>
        </p:nvSpPr>
        <p:spPr>
          <a:xfrm>
            <a:off x="2157984" y="3282696"/>
            <a:ext cx="393192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POPPER — la falsifiabilité</a:t>
            </a:r>
            <a:endParaRPr lang="en-US" sz="1250" dirty="0"/>
          </a:p>
        </p:txBody>
      </p:sp>
      <p:sp>
        <p:nvSpPr>
          <p:cNvPr id="48" name="Text 46"/>
          <p:cNvSpPr txBox="1"/>
          <p:nvPr/>
        </p:nvSpPr>
        <p:spPr>
          <a:xfrm>
            <a:off x="1700784" y="3694176"/>
            <a:ext cx="4370832" cy="548640"/>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Une théorie ne vaut que par les risques qu'elle prend. Une théorie qui explique tout n'interdit rien — donc n'apprend rien.</a:t>
            </a:r>
            <a:endParaRPr lang="en-US" sz="1150" dirty="0"/>
          </a:p>
        </p:txBody>
      </p:sp>
      <p:sp>
        <p:nvSpPr>
          <p:cNvPr id="49" name="Shape 47"/>
          <p:cNvSpPr/>
          <p:nvPr/>
        </p:nvSpPr>
        <p:spPr>
          <a:xfrm>
            <a:off x="1481328" y="4498848"/>
            <a:ext cx="4846320" cy="1078992"/>
          </a:xfrm>
          <a:prstGeom prst="roundRect">
            <a:avLst>
              <a:gd name="adj" fmla="val 5932"/>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50" name="Shape 48"/>
          <p:cNvSpPr/>
          <p:nvPr/>
        </p:nvSpPr>
        <p:spPr>
          <a:xfrm>
            <a:off x="1700784" y="4663440"/>
            <a:ext cx="347472" cy="347472"/>
          </a:xfrm>
          <a:prstGeom prst="ellipse">
            <a:avLst/>
          </a:prstGeom>
          <a:solidFill>
            <a:srgbClr val="B23A32"/>
          </a:solidFill>
          <a:ln/>
        </p:spPr>
      </p:sp>
      <p:sp>
        <p:nvSpPr>
          <p:cNvPr id="51" name="Text 49"/>
          <p:cNvSpPr txBox="1"/>
          <p:nvPr/>
        </p:nvSpPr>
        <p:spPr>
          <a:xfrm>
            <a:off x="1700784" y="46634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K</a:t>
            </a:r>
            <a:endParaRPr lang="en-US" sz="1200" dirty="0"/>
          </a:p>
        </p:txBody>
      </p:sp>
      <p:sp>
        <p:nvSpPr>
          <p:cNvPr id="52" name="Text 50"/>
          <p:cNvSpPr txBox="1"/>
          <p:nvPr/>
        </p:nvSpPr>
        <p:spPr>
          <a:xfrm>
            <a:off x="2157984" y="4672584"/>
            <a:ext cx="393192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KUHN — l'anomalie qui s'accumule</a:t>
            </a:r>
            <a:endParaRPr lang="en-US" sz="1250" dirty="0"/>
          </a:p>
        </p:txBody>
      </p:sp>
      <p:sp>
        <p:nvSpPr>
          <p:cNvPr id="53" name="Text 51"/>
          <p:cNvSpPr txBox="1"/>
          <p:nvPr/>
        </p:nvSpPr>
        <p:spPr>
          <a:xfrm>
            <a:off x="1700784" y="5084064"/>
            <a:ext cx="4370832" cy="402336"/>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La science normale absorbe les anomalies isolées ; quand elles s'accumulent, le paradigme bascule.</a:t>
            </a:r>
            <a:endParaRPr lang="en-US" sz="1150" dirty="0"/>
          </a:p>
        </p:txBody>
      </p:sp>
      <p:sp>
        <p:nvSpPr>
          <p:cNvPr id="54" name="Text 52"/>
          <p:cNvSpPr txBox="1"/>
          <p:nvPr/>
        </p:nvSpPr>
        <p:spPr>
          <a:xfrm>
            <a:off x="6675120" y="1316736"/>
            <a:ext cx="4663440" cy="256032"/>
          </a:xfrm>
          <a:prstGeom prst="rect">
            <a:avLst/>
          </a:prstGeom>
          <a:noFill/>
          <a:ln/>
        </p:spPr>
        <p:txBody>
          <a:bodyPr wrap="square" lIns="0" tIns="0" rIns="0" bIns="0" rtlCol="0" anchor="ctr"/>
          <a:lstStyle/>
          <a:p>
            <a:pPr indent="0" marL="0">
              <a:buNone/>
            </a:pPr>
            <a:r>
              <a:rPr lang="en-US" sz="1300" b="1" spc="20" kern="0" dirty="0">
                <a:solidFill>
                  <a:srgbClr val="C25B52"/>
                </a:solidFill>
                <a:latin typeface="Century Schoolbook" pitchFamily="34" charset="0"/>
                <a:ea typeface="Century Schoolbook" pitchFamily="34" charset="-122"/>
                <a:cs typeface="Century Schoolbook" pitchFamily="34" charset="-120"/>
              </a:rPr>
              <a:t>Trois anomalies qui ont refondé la physique</a:t>
            </a:r>
            <a:endParaRPr lang="en-US" sz="1300" dirty="0"/>
          </a:p>
        </p:txBody>
      </p:sp>
      <p:sp>
        <p:nvSpPr>
          <p:cNvPr id="55" name="Shape 53"/>
          <p:cNvSpPr/>
          <p:nvPr/>
        </p:nvSpPr>
        <p:spPr>
          <a:xfrm>
            <a:off x="6675120" y="1609344"/>
            <a:ext cx="4663440" cy="1225296"/>
          </a:xfrm>
          <a:prstGeom prst="roundRect">
            <a:avLst>
              <a:gd name="adj" fmla="val 5224"/>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6" name="Shape 54"/>
          <p:cNvSpPr/>
          <p:nvPr/>
        </p:nvSpPr>
        <p:spPr>
          <a:xfrm>
            <a:off x="6894576" y="1773936"/>
            <a:ext cx="1060704" cy="292608"/>
          </a:xfrm>
          <a:prstGeom prst="roundRect">
            <a:avLst>
              <a:gd name="adj" fmla="val 15625"/>
            </a:avLst>
          </a:prstGeom>
          <a:solidFill>
            <a:srgbClr val="F5827A"/>
          </a:solidFill>
          <a:ln/>
        </p:spPr>
      </p:sp>
      <p:sp>
        <p:nvSpPr>
          <p:cNvPr id="57" name="Text 55"/>
          <p:cNvSpPr txBox="1"/>
          <p:nvPr/>
        </p:nvSpPr>
        <p:spPr>
          <a:xfrm>
            <a:off x="6894576" y="1773936"/>
            <a:ext cx="1060704" cy="292608"/>
          </a:xfrm>
          <a:prstGeom prst="rect">
            <a:avLst/>
          </a:prstGeom>
          <a:noFill/>
          <a:ln/>
        </p:spPr>
        <p:txBody>
          <a:bodyPr wrap="square" lIns="0" tIns="0" rIns="0" bIns="0" rtlCol="0" anchor="ctr"/>
          <a:lstStyle/>
          <a:p>
            <a:pPr algn="ctr" indent="0" marL="0">
              <a:buNone/>
            </a:pPr>
            <a:r>
              <a:rPr lang="en-US" sz="1050" b="1" dirty="0">
                <a:solidFill>
                  <a:srgbClr val="7A2E27"/>
                </a:solidFill>
                <a:latin typeface="Courier New" pitchFamily="34" charset="0"/>
                <a:ea typeface="Courier New" pitchFamily="34" charset="-122"/>
                <a:cs typeface="Courier New" pitchFamily="34" charset="-120"/>
              </a:rPr>
              <a:t>1887</a:t>
            </a:r>
            <a:endParaRPr lang="en-US" sz="1050" dirty="0"/>
          </a:p>
        </p:txBody>
      </p:sp>
      <p:sp>
        <p:nvSpPr>
          <p:cNvPr id="58" name="Text 56"/>
          <p:cNvSpPr txBox="1"/>
          <p:nvPr/>
        </p:nvSpPr>
        <p:spPr>
          <a:xfrm>
            <a:off x="8065008" y="1773936"/>
            <a:ext cx="3072384" cy="292608"/>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Michelson &amp; Morley</a:t>
            </a:r>
            <a:endParaRPr lang="en-US" sz="1250" dirty="0"/>
          </a:p>
        </p:txBody>
      </p:sp>
      <p:sp>
        <p:nvSpPr>
          <p:cNvPr id="59" name="Text 57"/>
          <p:cNvSpPr txBox="1"/>
          <p:nvPr/>
        </p:nvSpPr>
        <p:spPr>
          <a:xfrm>
            <a:off x="6894576" y="2157984"/>
            <a:ext cx="4224528" cy="566928"/>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Aucun « vent d'éther » n'est détecté, alors que toute la physique l'exigeait. → 1905 : relativité restreinte. Le temps cesse d'être absolu.</a:t>
            </a:r>
            <a:endParaRPr lang="en-US" sz="1150" dirty="0"/>
          </a:p>
        </p:txBody>
      </p:sp>
      <p:sp>
        <p:nvSpPr>
          <p:cNvPr id="60" name="Shape 58"/>
          <p:cNvSpPr/>
          <p:nvPr/>
        </p:nvSpPr>
        <p:spPr>
          <a:xfrm>
            <a:off x="6675120" y="2944368"/>
            <a:ext cx="4663440" cy="1225296"/>
          </a:xfrm>
          <a:prstGeom prst="roundRect">
            <a:avLst>
              <a:gd name="adj" fmla="val 5224"/>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61" name="Shape 59"/>
          <p:cNvSpPr/>
          <p:nvPr/>
        </p:nvSpPr>
        <p:spPr>
          <a:xfrm>
            <a:off x="6894576" y="3108960"/>
            <a:ext cx="1060704" cy="292608"/>
          </a:xfrm>
          <a:prstGeom prst="roundRect">
            <a:avLst>
              <a:gd name="adj" fmla="val 15625"/>
            </a:avLst>
          </a:prstGeom>
          <a:solidFill>
            <a:srgbClr val="B23A32"/>
          </a:solidFill>
          <a:ln/>
        </p:spPr>
      </p:sp>
      <p:sp>
        <p:nvSpPr>
          <p:cNvPr id="62" name="Text 60"/>
          <p:cNvSpPr txBox="1"/>
          <p:nvPr/>
        </p:nvSpPr>
        <p:spPr>
          <a:xfrm>
            <a:off x="6894576" y="3108960"/>
            <a:ext cx="1060704"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1900</a:t>
            </a:r>
            <a:endParaRPr lang="en-US" sz="1050" dirty="0"/>
          </a:p>
        </p:txBody>
      </p:sp>
      <p:sp>
        <p:nvSpPr>
          <p:cNvPr id="63" name="Text 61"/>
          <p:cNvSpPr txBox="1"/>
          <p:nvPr/>
        </p:nvSpPr>
        <p:spPr>
          <a:xfrm>
            <a:off x="8065008" y="3108960"/>
            <a:ext cx="3072384" cy="292608"/>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Rayonnement du corps noir</a:t>
            </a:r>
            <a:endParaRPr lang="en-US" sz="1250" dirty="0"/>
          </a:p>
        </p:txBody>
      </p:sp>
      <p:sp>
        <p:nvSpPr>
          <p:cNvPr id="64" name="Text 62"/>
          <p:cNvSpPr txBox="1"/>
          <p:nvPr/>
        </p:nvSpPr>
        <p:spPr>
          <a:xfrm>
            <a:off x="6894576" y="3493008"/>
            <a:ext cx="4224528" cy="566928"/>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La physique classique prédit une énergie infinie (la future « catastrophe ultraviolette »). → Planck introduit les quanta.</a:t>
            </a:r>
            <a:endParaRPr lang="en-US" sz="1150" dirty="0"/>
          </a:p>
        </p:txBody>
      </p:sp>
      <p:sp>
        <p:nvSpPr>
          <p:cNvPr id="65" name="Shape 63"/>
          <p:cNvSpPr/>
          <p:nvPr/>
        </p:nvSpPr>
        <p:spPr>
          <a:xfrm>
            <a:off x="6675120" y="4279392"/>
            <a:ext cx="4663440" cy="1225296"/>
          </a:xfrm>
          <a:prstGeom prst="roundRect">
            <a:avLst>
              <a:gd name="adj" fmla="val 5224"/>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66" name="Shape 64"/>
          <p:cNvSpPr/>
          <p:nvPr/>
        </p:nvSpPr>
        <p:spPr>
          <a:xfrm>
            <a:off x="6894576" y="4443984"/>
            <a:ext cx="1060704" cy="292608"/>
          </a:xfrm>
          <a:prstGeom prst="roundRect">
            <a:avLst>
              <a:gd name="adj" fmla="val 15625"/>
            </a:avLst>
          </a:prstGeom>
          <a:solidFill>
            <a:srgbClr val="F7C927"/>
          </a:solidFill>
          <a:ln/>
        </p:spPr>
      </p:sp>
      <p:sp>
        <p:nvSpPr>
          <p:cNvPr id="67" name="Text 65"/>
          <p:cNvSpPr txBox="1"/>
          <p:nvPr/>
        </p:nvSpPr>
        <p:spPr>
          <a:xfrm>
            <a:off x="6894576" y="4443984"/>
            <a:ext cx="1060704" cy="292608"/>
          </a:xfrm>
          <a:prstGeom prst="rect">
            <a:avLst/>
          </a:prstGeom>
          <a:noFill/>
          <a:ln/>
        </p:spPr>
        <p:txBody>
          <a:bodyPr wrap="square" lIns="0" tIns="0" rIns="0" bIns="0" rtlCol="0" anchor="ctr"/>
          <a:lstStyle/>
          <a:p>
            <a:pPr algn="ctr" indent="0" marL="0">
              <a:buNone/>
            </a:pPr>
            <a:r>
              <a:rPr lang="en-US" sz="1050" b="1" dirty="0">
                <a:solidFill>
                  <a:srgbClr val="6B4A05"/>
                </a:solidFill>
                <a:latin typeface="Courier New" pitchFamily="34" charset="0"/>
                <a:ea typeface="Courier New" pitchFamily="34" charset="-122"/>
                <a:cs typeface="Courier New" pitchFamily="34" charset="-120"/>
              </a:rPr>
              <a:t>1964–82</a:t>
            </a:r>
            <a:endParaRPr lang="en-US" sz="1050" dirty="0"/>
          </a:p>
        </p:txBody>
      </p:sp>
      <p:sp>
        <p:nvSpPr>
          <p:cNvPr id="68" name="Text 66"/>
          <p:cNvSpPr txBox="1"/>
          <p:nvPr/>
        </p:nvSpPr>
        <p:spPr>
          <a:xfrm>
            <a:off x="8065008" y="4443984"/>
            <a:ext cx="3072384" cy="292608"/>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Bell, puis Aspect</a:t>
            </a:r>
            <a:endParaRPr lang="en-US" sz="1250" dirty="0"/>
          </a:p>
        </p:txBody>
      </p:sp>
      <p:sp>
        <p:nvSpPr>
          <p:cNvPr id="69" name="Text 67"/>
          <p:cNvSpPr txBox="1"/>
          <p:nvPr/>
        </p:nvSpPr>
        <p:spPr>
          <a:xfrm>
            <a:off x="6894576" y="4828032"/>
            <a:ext cx="4224528" cy="566928"/>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L'intrication quantique viole le réalisme local : deux particules restent corrélées à distance. → Prix Nobel 2022.</a:t>
            </a:r>
            <a:endParaRPr lang="en-US" sz="1150" dirty="0"/>
          </a:p>
        </p:txBody>
      </p:sp>
      <p:sp>
        <p:nvSpPr>
          <p:cNvPr id="70" name="Text 68"/>
          <p:cNvSpPr txBox="1"/>
          <p:nvPr/>
        </p:nvSpPr>
        <p:spPr>
          <a:xfrm>
            <a:off x="1481328" y="5760720"/>
            <a:ext cx="8394192" cy="292608"/>
          </a:xfrm>
          <a:prstGeom prst="rect">
            <a:avLst/>
          </a:prstGeom>
          <a:noFill/>
          <a:ln/>
        </p:spPr>
        <p:txBody>
          <a:bodyPr wrap="square" lIns="0" tIns="0" rIns="0" bIns="0" rtlCol="0" anchor="t"/>
          <a:lstStyle/>
          <a:p>
            <a:pPr algn="ctr" indent="0" marL="0">
              <a:lnSpc>
                <a:spcPts val="1700"/>
              </a:lnSpc>
              <a:buNone/>
            </a:pPr>
            <a:r>
              <a:rPr lang="en-US" sz="1250" i="1" dirty="0">
                <a:solidFill>
                  <a:srgbClr val="C25B52"/>
                </a:solidFill>
                <a:latin typeface="Calibri" pitchFamily="34" charset="0"/>
                <a:ea typeface="Calibri" pitchFamily="34" charset="-122"/>
                <a:cs typeface="Calibri" pitchFamily="34" charset="-120"/>
              </a:rPr>
              <a:t>Dans chaque cas, c'est un désaccord — non une confirmation — qui a fait avancer le savoir.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06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6 — AUTRE PERSPECTIVE · MATHÉMATIQUES</a:t>
            </a:r>
            <a:endParaRPr lang="en-US" sz="1000" dirty="0"/>
          </a:p>
        </p:txBody>
      </p:sp>
      <p:sp>
        <p:nvSpPr>
          <p:cNvPr id="40" name="Shape 38"/>
          <p:cNvSpPr/>
          <p:nvPr/>
        </p:nvSpPr>
        <p:spPr>
          <a:xfrm rot="-42000">
            <a:off x="1417320" y="868680"/>
            <a:ext cx="681228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Le paradoxe mathématique ne vient pas du monde</a:t>
            </a:r>
            <a:endParaRPr lang="en-US" sz="2600" dirty="0"/>
          </a:p>
        </p:txBody>
      </p:sp>
      <p:sp>
        <p:nvSpPr>
          <p:cNvPr id="42" name="Shape 40"/>
          <p:cNvSpPr/>
          <p:nvPr/>
        </p:nvSpPr>
        <p:spPr>
          <a:xfrm>
            <a:off x="1481328" y="1371600"/>
            <a:ext cx="4846320" cy="1700784"/>
          </a:xfrm>
          <a:prstGeom prst="roundRect">
            <a:avLst>
              <a:gd name="adj" fmla="val 3763"/>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43" name="Text 41"/>
          <p:cNvSpPr txBox="1"/>
          <p:nvPr/>
        </p:nvSpPr>
        <p:spPr>
          <a:xfrm>
            <a:off x="1719072" y="1536192"/>
            <a:ext cx="4389120" cy="256032"/>
          </a:xfrm>
          <a:prstGeom prst="rect">
            <a:avLst/>
          </a:prstGeom>
          <a:noFill/>
          <a:ln/>
        </p:spPr>
        <p:txBody>
          <a:bodyPr wrap="square" lIns="0" tIns="0" rIns="0" bIns="0" rtlCol="0" anchor="ctr"/>
          <a:lstStyle/>
          <a:p>
            <a:pPr indent="0" marL="0">
              <a:buNone/>
            </a:pPr>
            <a:r>
              <a:rPr lang="en-US" sz="1250" b="1" spc="20" kern="0" dirty="0">
                <a:solidFill>
                  <a:srgbClr val="C25B52"/>
                </a:solidFill>
                <a:latin typeface="Century Schoolbook" pitchFamily="34" charset="0"/>
                <a:ea typeface="Century Schoolbook" pitchFamily="34" charset="-122"/>
                <a:cs typeface="Century Schoolbook" pitchFamily="34" charset="-120"/>
              </a:rPr>
              <a:t>SCIENCES NATURELLES</a:t>
            </a:r>
            <a:endParaRPr lang="en-US" sz="1250" dirty="0"/>
          </a:p>
        </p:txBody>
      </p:sp>
      <p:sp>
        <p:nvSpPr>
          <p:cNvPr id="44" name="Text 42"/>
          <p:cNvSpPr txBox="1"/>
          <p:nvPr/>
        </p:nvSpPr>
        <p:spPr>
          <a:xfrm>
            <a:off x="1719072" y="1883664"/>
            <a:ext cx="4352544" cy="1078992"/>
          </a:xfrm>
          <a:prstGeom prst="rect">
            <a:avLst/>
          </a:prstGeom>
          <a:noFill/>
          <a:ln/>
        </p:spPr>
        <p:txBody>
          <a:bodyPr wrap="square" lIns="0" tIns="0" rIns="0" bIns="0" rtlCol="0" anchor="t"/>
          <a:lstStyle/>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Le contre-intuitif est un désaccord avec l'expérience.</a:t>
            </a:r>
            <a:endParaRPr lang="en-US" sz="1250" dirty="0"/>
          </a:p>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Il dit : « ta théorie est fausse ».</a:t>
            </a:r>
            <a:endParaRPr lang="en-US" sz="1250" dirty="0"/>
          </a:p>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Arbitre : l'observation reproductible.</a:t>
            </a:r>
            <a:endParaRPr lang="en-US" sz="1250" dirty="0"/>
          </a:p>
        </p:txBody>
      </p:sp>
      <p:sp>
        <p:nvSpPr>
          <p:cNvPr id="45" name="Shape 43"/>
          <p:cNvSpPr/>
          <p:nvPr/>
        </p:nvSpPr>
        <p:spPr>
          <a:xfrm>
            <a:off x="6675120" y="1371600"/>
            <a:ext cx="4663440" cy="1700784"/>
          </a:xfrm>
          <a:prstGeom prst="roundRect">
            <a:avLst>
              <a:gd name="adj" fmla="val 3763"/>
            </a:avLst>
          </a:prstGeom>
          <a:solidFill>
            <a:srgbClr val="FFFCF0"/>
          </a:solidFill>
          <a:ln w="20320">
            <a:solidFill>
              <a:srgbClr val="B23A32"/>
            </a:solidFill>
            <a:prstDash val="solid"/>
          </a:ln>
          <a:effectLst>
            <a:outerShdw sx="100000" sy="100000" kx="0" ky="0" algn="bl" rotWithShape="0" blurRad="88900" dist="25400" dir="5400000">
              <a:srgbClr val="8FAE7E">
                <a:alpha val="30000"/>
              </a:srgbClr>
            </a:outerShdw>
          </a:effectLst>
        </p:spPr>
      </p:sp>
      <p:sp>
        <p:nvSpPr>
          <p:cNvPr id="46" name="Text 44"/>
          <p:cNvSpPr txBox="1"/>
          <p:nvPr/>
        </p:nvSpPr>
        <p:spPr>
          <a:xfrm>
            <a:off x="6912864" y="1536192"/>
            <a:ext cx="4206240" cy="256032"/>
          </a:xfrm>
          <a:prstGeom prst="rect">
            <a:avLst/>
          </a:prstGeom>
          <a:noFill/>
          <a:ln/>
        </p:spPr>
        <p:txBody>
          <a:bodyPr wrap="square" lIns="0" tIns="0" rIns="0" bIns="0" rtlCol="0" anchor="ctr"/>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MATHÉMATIQUES</a:t>
            </a:r>
            <a:endParaRPr lang="en-US" sz="1250" dirty="0"/>
          </a:p>
        </p:txBody>
      </p:sp>
      <p:sp>
        <p:nvSpPr>
          <p:cNvPr id="47" name="Text 45"/>
          <p:cNvSpPr txBox="1"/>
          <p:nvPr/>
        </p:nvSpPr>
        <p:spPr>
          <a:xfrm>
            <a:off x="6912864" y="1883664"/>
            <a:ext cx="4169664" cy="1078992"/>
          </a:xfrm>
          <a:prstGeom prst="rect">
            <a:avLst/>
          </a:prstGeom>
          <a:noFill/>
          <a:ln/>
        </p:spPr>
        <p:txBody>
          <a:bodyPr wrap="square" lIns="0" tIns="0" rIns="0" bIns="0" rtlCol="0" anchor="t"/>
          <a:lstStyle/>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Le paradoxe est un désaccord du système avec lui-même.</a:t>
            </a:r>
            <a:endParaRPr lang="en-US" sz="1250" dirty="0"/>
          </a:p>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Il dit : « tes axiomes t'engagent plus que prévu ».</a:t>
            </a:r>
            <a:endParaRPr lang="en-US" sz="1250" dirty="0"/>
          </a:p>
          <a:p>
            <a:pPr algn="l" indent="0" marL="0">
              <a:lnSpc>
                <a:spcPts val="1700"/>
              </a:lnSpc>
              <a:buNone/>
            </a:pPr>
            <a:r>
              <a:rPr lang="en-US" sz="1250" dirty="0">
                <a:solidFill>
                  <a:srgbClr val="3A3A38"/>
                </a:solidFill>
                <a:latin typeface="Calibri" pitchFamily="34" charset="0"/>
                <a:ea typeface="Calibri" pitchFamily="34" charset="-122"/>
                <a:cs typeface="Calibri" pitchFamily="34" charset="-120"/>
              </a:rPr>
              <a:t>Arbitre : la démonstration.</a:t>
            </a:r>
            <a:endParaRPr lang="en-US" sz="1250" dirty="0"/>
          </a:p>
        </p:txBody>
      </p:sp>
      <p:sp>
        <p:nvSpPr>
          <p:cNvPr id="48" name="Shape 46"/>
          <p:cNvSpPr/>
          <p:nvPr/>
        </p:nvSpPr>
        <p:spPr>
          <a:xfrm>
            <a:off x="1481328" y="3255264"/>
            <a:ext cx="3127248" cy="2048256"/>
          </a:xfrm>
          <a:prstGeom prst="roundRect">
            <a:avLst>
              <a:gd name="adj" fmla="val 3125"/>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9" name="Shape 47"/>
          <p:cNvSpPr/>
          <p:nvPr/>
        </p:nvSpPr>
        <p:spPr>
          <a:xfrm>
            <a:off x="1700784" y="3419856"/>
            <a:ext cx="2688336" cy="274320"/>
          </a:xfrm>
          <a:prstGeom prst="roundRect">
            <a:avLst>
              <a:gd name="adj" fmla="val 16667"/>
            </a:avLst>
          </a:prstGeom>
          <a:solidFill>
            <a:srgbClr val="F5827A"/>
          </a:solidFill>
          <a:ln/>
        </p:spPr>
      </p:sp>
      <p:sp>
        <p:nvSpPr>
          <p:cNvPr id="50" name="Text 48"/>
          <p:cNvSpPr txBox="1"/>
          <p:nvPr/>
        </p:nvSpPr>
        <p:spPr>
          <a:xfrm>
            <a:off x="1700784" y="3419856"/>
            <a:ext cx="2688336" cy="274320"/>
          </a:xfrm>
          <a:prstGeom prst="rect">
            <a:avLst/>
          </a:prstGeom>
          <a:noFill/>
          <a:ln/>
        </p:spPr>
        <p:txBody>
          <a:bodyPr wrap="square" lIns="0" tIns="0" rIns="0" bIns="0" rtlCol="0" anchor="ctr"/>
          <a:lstStyle/>
          <a:p>
            <a:pPr algn="ctr" indent="0" marL="0">
              <a:buNone/>
            </a:pPr>
            <a:r>
              <a:rPr lang="en-US" sz="950" b="1" dirty="0">
                <a:solidFill>
                  <a:srgbClr val="7A2E27"/>
                </a:solidFill>
                <a:latin typeface="Courier New" pitchFamily="34" charset="0"/>
                <a:ea typeface="Courier New" pitchFamily="34" charset="-122"/>
                <a:cs typeface="Courier New" pitchFamily="34" charset="-120"/>
              </a:rPr>
              <a:t>RUSSELL · 1901-02</a:t>
            </a:r>
            <a:endParaRPr lang="en-US" sz="950" dirty="0"/>
          </a:p>
        </p:txBody>
      </p:sp>
      <p:sp>
        <p:nvSpPr>
          <p:cNvPr id="51" name="Text 49"/>
          <p:cNvSpPr txBox="1"/>
          <p:nvPr/>
        </p:nvSpPr>
        <p:spPr>
          <a:xfrm>
            <a:off x="1700784" y="3785616"/>
            <a:ext cx="2688336" cy="1481328"/>
          </a:xfrm>
          <a:prstGeom prst="rect">
            <a:avLst/>
          </a:prstGeom>
          <a:noFill/>
          <a:ln/>
        </p:spPr>
        <p:txBody>
          <a:bodyPr wrap="square" lIns="0" tIns="0" rIns="0" bIns="0" rtlCol="0" anchor="t"/>
          <a:lstStyle/>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L'ensemble de tous les ensembles qui ne se contiennent pas eux-mêmes se contient-il ?</a:t>
            </a:r>
            <a:endParaRPr lang="en-US" sz="1050" dirty="0"/>
          </a:p>
          <a:p>
            <a:pPr algn="l" indent="0" marL="0">
              <a:lnSpc>
                <a:spcPts val="1400"/>
              </a:lnSpc>
              <a:buNone/>
            </a:pPr>
            <a:endParaRPr lang="en-US" sz="1050" dirty="0"/>
          </a:p>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Les deux réponses sont contradictoires : la théorie naïve des ensembles s'effondre. Résultat : une refondation axiomatique (ZFC).</a:t>
            </a:r>
            <a:endParaRPr lang="en-US" sz="1050" dirty="0"/>
          </a:p>
        </p:txBody>
      </p:sp>
      <p:sp>
        <p:nvSpPr>
          <p:cNvPr id="52" name="Shape 50"/>
          <p:cNvSpPr/>
          <p:nvPr/>
        </p:nvSpPr>
        <p:spPr>
          <a:xfrm>
            <a:off x="4800600" y="3255264"/>
            <a:ext cx="3127248" cy="2048256"/>
          </a:xfrm>
          <a:prstGeom prst="roundRect">
            <a:avLst>
              <a:gd name="adj" fmla="val 3125"/>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3" name="Shape 51"/>
          <p:cNvSpPr/>
          <p:nvPr/>
        </p:nvSpPr>
        <p:spPr>
          <a:xfrm>
            <a:off x="5020056" y="3419856"/>
            <a:ext cx="2688336" cy="274320"/>
          </a:xfrm>
          <a:prstGeom prst="roundRect">
            <a:avLst>
              <a:gd name="adj" fmla="val 16667"/>
            </a:avLst>
          </a:prstGeom>
          <a:solidFill>
            <a:srgbClr val="B23A32"/>
          </a:solidFill>
          <a:ln/>
        </p:spPr>
      </p:sp>
      <p:sp>
        <p:nvSpPr>
          <p:cNvPr id="54" name="Text 52"/>
          <p:cNvSpPr txBox="1"/>
          <p:nvPr/>
        </p:nvSpPr>
        <p:spPr>
          <a:xfrm>
            <a:off x="5020056" y="3419856"/>
            <a:ext cx="268833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GÖDEL · 1931</a:t>
            </a:r>
            <a:endParaRPr lang="en-US" sz="950" dirty="0"/>
          </a:p>
        </p:txBody>
      </p:sp>
      <p:sp>
        <p:nvSpPr>
          <p:cNvPr id="55" name="Text 53"/>
          <p:cNvSpPr txBox="1"/>
          <p:nvPr/>
        </p:nvSpPr>
        <p:spPr>
          <a:xfrm>
            <a:off x="5020056" y="3785616"/>
            <a:ext cx="2688336" cy="1481328"/>
          </a:xfrm>
          <a:prstGeom prst="rect">
            <a:avLst/>
          </a:prstGeom>
          <a:noFill/>
          <a:ln/>
        </p:spPr>
        <p:txBody>
          <a:bodyPr wrap="square" lIns="0" tIns="0" rIns="0" bIns="0" rtlCol="0" anchor="t"/>
          <a:lstStyle/>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Tout système cohérent assez riche contient des énoncés vrais qu'il ne peut pas démontrer.</a:t>
            </a:r>
            <a:endParaRPr lang="en-US" sz="1050" dirty="0"/>
          </a:p>
          <a:p>
            <a:pPr algn="l" indent="0" marL="0">
              <a:lnSpc>
                <a:spcPts val="1400"/>
              </a:lnSpc>
              <a:buNone/>
            </a:pPr>
            <a:endParaRPr lang="en-US" sz="1050" dirty="0"/>
          </a:p>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L'incomplétude n'est pas provisoire : c'est un théorème. Le paradoxe a produit une connaissance sur les limites de la connaissance.</a:t>
            </a:r>
            <a:endParaRPr lang="en-US" sz="1050" dirty="0"/>
          </a:p>
        </p:txBody>
      </p:sp>
      <p:sp>
        <p:nvSpPr>
          <p:cNvPr id="56" name="Shape 54"/>
          <p:cNvSpPr/>
          <p:nvPr/>
        </p:nvSpPr>
        <p:spPr>
          <a:xfrm>
            <a:off x="8119872" y="3255264"/>
            <a:ext cx="3127248" cy="2048256"/>
          </a:xfrm>
          <a:prstGeom prst="roundRect">
            <a:avLst>
              <a:gd name="adj" fmla="val 3125"/>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7" name="Shape 55"/>
          <p:cNvSpPr/>
          <p:nvPr/>
        </p:nvSpPr>
        <p:spPr>
          <a:xfrm>
            <a:off x="8339328" y="3419856"/>
            <a:ext cx="2688336" cy="274320"/>
          </a:xfrm>
          <a:prstGeom prst="roundRect">
            <a:avLst>
              <a:gd name="adj" fmla="val 16667"/>
            </a:avLst>
          </a:prstGeom>
          <a:solidFill>
            <a:srgbClr val="F7C927"/>
          </a:solidFill>
          <a:ln/>
        </p:spPr>
      </p:sp>
      <p:sp>
        <p:nvSpPr>
          <p:cNvPr id="58" name="Text 56"/>
          <p:cNvSpPr txBox="1"/>
          <p:nvPr/>
        </p:nvSpPr>
        <p:spPr>
          <a:xfrm>
            <a:off x="8339328" y="3419856"/>
            <a:ext cx="2688336" cy="274320"/>
          </a:xfrm>
          <a:prstGeom prst="rect">
            <a:avLst/>
          </a:prstGeom>
          <a:noFill/>
          <a:ln/>
        </p:spPr>
        <p:txBody>
          <a:bodyPr wrap="square" lIns="0" tIns="0" rIns="0" bIns="0" rtlCol="0" anchor="ctr"/>
          <a:lstStyle/>
          <a:p>
            <a:pPr algn="ctr" indent="0" marL="0">
              <a:buNone/>
            </a:pPr>
            <a:r>
              <a:rPr lang="en-US" sz="950" b="1" dirty="0">
                <a:solidFill>
                  <a:srgbClr val="6B4A05"/>
                </a:solidFill>
                <a:latin typeface="Courier New" pitchFamily="34" charset="0"/>
                <a:ea typeface="Courier New" pitchFamily="34" charset="-122"/>
                <a:cs typeface="Courier New" pitchFamily="34" charset="-120"/>
              </a:rPr>
              <a:t>BANACH–TARSKI · 1924</a:t>
            </a:r>
            <a:endParaRPr lang="en-US" sz="950" dirty="0"/>
          </a:p>
        </p:txBody>
      </p:sp>
      <p:sp>
        <p:nvSpPr>
          <p:cNvPr id="59" name="Text 57"/>
          <p:cNvSpPr txBox="1"/>
          <p:nvPr/>
        </p:nvSpPr>
        <p:spPr>
          <a:xfrm>
            <a:off x="8339328" y="3785616"/>
            <a:ext cx="2688336" cy="1481328"/>
          </a:xfrm>
          <a:prstGeom prst="rect">
            <a:avLst/>
          </a:prstGeom>
          <a:noFill/>
          <a:ln/>
        </p:spPr>
        <p:txBody>
          <a:bodyPr wrap="square" lIns="0" tIns="0" rIns="0" bIns="0" rtlCol="0" anchor="t"/>
          <a:lstStyle/>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Une boule peut être découpée puis recomposée en deux boules identiques à l'originale.</a:t>
            </a:r>
            <a:endParaRPr lang="en-US" sz="1050" dirty="0"/>
          </a:p>
          <a:p>
            <a:pPr algn="l" indent="0" marL="0">
              <a:lnSpc>
                <a:spcPts val="1400"/>
              </a:lnSpc>
              <a:buNone/>
            </a:pPr>
            <a:endParaRPr lang="en-US" sz="1050" dirty="0"/>
          </a:p>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Absurde — et pourtant démontré. Ici le contre-intuitif ne réfute rien : il révèle le prix caché d'un axiome accepté (l'axiome du choix).</a:t>
            </a:r>
            <a:endParaRPr lang="en-US" sz="1050" dirty="0"/>
          </a:p>
        </p:txBody>
      </p:sp>
      <p:sp>
        <p:nvSpPr>
          <p:cNvPr id="60" name="Shape 58"/>
          <p:cNvSpPr/>
          <p:nvPr/>
        </p:nvSpPr>
        <p:spPr>
          <a:xfrm rot="-18000">
            <a:off x="1481328" y="5431536"/>
            <a:ext cx="9857232" cy="530352"/>
          </a:xfrm>
          <a:prstGeom prst="rect">
            <a:avLst/>
          </a:prstGeom>
          <a:solidFill>
            <a:srgbClr val="F7F1B4"/>
          </a:solidFill>
          <a:ln/>
          <a:effectLst>
            <a:outerShdw sx="100000" sy="100000" kx="0" ky="0" algn="bl" rotWithShape="0" blurRad="114300" dist="38100" dir="5400000">
              <a:srgbClr val="6B6633">
                <a:alpha val="30000"/>
              </a:srgbClr>
            </a:outerShdw>
          </a:effectLst>
        </p:spPr>
      </p:sp>
      <p:sp>
        <p:nvSpPr>
          <p:cNvPr id="61" name="Shape 59"/>
          <p:cNvSpPr/>
          <p:nvPr/>
        </p:nvSpPr>
        <p:spPr>
          <a:xfrm rot="-318000">
            <a:off x="5998464" y="5312664"/>
            <a:ext cx="822960" cy="237744"/>
          </a:xfrm>
          <a:prstGeom prst="rect">
            <a:avLst/>
          </a:prstGeom>
          <a:solidFill>
            <a:srgbClr val="FFFFFF">
              <a:alpha val="52000"/>
            </a:srgbClr>
          </a:solidFill>
          <a:ln/>
        </p:spPr>
      </p:sp>
      <p:sp>
        <p:nvSpPr>
          <p:cNvPr id="62" name="Text 60"/>
          <p:cNvSpPr txBox="1"/>
          <p:nvPr/>
        </p:nvSpPr>
        <p:spPr>
          <a:xfrm>
            <a:off x="1755648" y="5559552"/>
            <a:ext cx="9308592" cy="310896"/>
          </a:xfrm>
          <a:prstGeom prst="rect">
            <a:avLst/>
          </a:prstGeom>
          <a:noFill/>
          <a:ln/>
        </p:spPr>
        <p:txBody>
          <a:bodyPr wrap="square" lIns="0" tIns="0" rIns="0" bIns="0" rtlCol="0" anchor="t"/>
          <a:lstStyle/>
          <a:p>
            <a:pPr algn="ctr" indent="0" marL="0">
              <a:lnSpc>
                <a:spcPts val="1700"/>
              </a:lnSpc>
              <a:buNone/>
            </a:pPr>
            <a:r>
              <a:rPr lang="en-US" sz="1250" b="1" dirty="0">
                <a:solidFill>
                  <a:srgbClr val="5E5A38"/>
                </a:solidFill>
                <a:latin typeface="Calibri" pitchFamily="34" charset="0"/>
                <a:ea typeface="Calibri" pitchFamily="34" charset="-122"/>
                <a:cs typeface="Calibri" pitchFamily="34" charset="-120"/>
              </a:rPr>
              <a:t>Même mot, deux fonctions : signal d'erreur en sciences naturelles ; révélateur de fondements en mathématiques.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07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7 — CONTRE-ARGUMENT ET LIMITES</a:t>
            </a:r>
            <a:endParaRPr lang="en-US" sz="1000" dirty="0"/>
          </a:p>
        </p:txBody>
      </p:sp>
      <p:sp>
        <p:nvSpPr>
          <p:cNvPr id="40" name="Shape 38"/>
          <p:cNvSpPr/>
          <p:nvPr/>
        </p:nvSpPr>
        <p:spPr>
          <a:xfrm rot="-42000">
            <a:off x="1417320" y="868680"/>
            <a:ext cx="672084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Le contre-intuitif n'est pas une valeur en soi</a:t>
            </a:r>
            <a:endParaRPr lang="en-US" sz="2600" dirty="0"/>
          </a:p>
        </p:txBody>
      </p:sp>
      <p:sp>
        <p:nvSpPr>
          <p:cNvPr id="42" name="Shape 40"/>
          <p:cNvSpPr/>
          <p:nvPr/>
        </p:nvSpPr>
        <p:spPr>
          <a:xfrm>
            <a:off x="1481328" y="1389888"/>
            <a:ext cx="9857232" cy="1207008"/>
          </a:xfrm>
          <a:prstGeom prst="roundRect">
            <a:avLst>
              <a:gd name="adj" fmla="val 530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3" name="Shape 41"/>
          <p:cNvSpPr/>
          <p:nvPr/>
        </p:nvSpPr>
        <p:spPr>
          <a:xfrm>
            <a:off x="1719072" y="1609344"/>
            <a:ext cx="402336" cy="402336"/>
          </a:xfrm>
          <a:prstGeom prst="ellipse">
            <a:avLst/>
          </a:prstGeom>
          <a:solidFill>
            <a:srgbClr val="B23A32"/>
          </a:solidFill>
          <a:ln/>
        </p:spPr>
      </p:sp>
      <p:sp>
        <p:nvSpPr>
          <p:cNvPr id="44" name="Text 42"/>
          <p:cNvSpPr txBox="1"/>
          <p:nvPr/>
        </p:nvSpPr>
        <p:spPr>
          <a:xfrm>
            <a:off x="1719072" y="1609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45" name="Text 43"/>
          <p:cNvSpPr txBox="1"/>
          <p:nvPr/>
        </p:nvSpPr>
        <p:spPr>
          <a:xfrm>
            <a:off x="2304288" y="1618488"/>
            <a:ext cx="8686800" cy="256032"/>
          </a:xfrm>
          <a:prstGeom prst="rect">
            <a:avLst/>
          </a:prstGeom>
          <a:noFill/>
          <a:ln/>
        </p:spPr>
        <p:txBody>
          <a:bodyPr wrap="square" lIns="0" tIns="0" rIns="0" bIns="0" rtlCol="0" anchor="ctr"/>
          <a:lstStyle/>
          <a:p>
            <a:pPr indent="0" marL="0">
              <a:buNone/>
            </a:pPr>
            <a:r>
              <a:rPr lang="en-US" sz="1300" b="1" spc="20" kern="0" dirty="0">
                <a:solidFill>
                  <a:srgbClr val="B23A32"/>
                </a:solidFill>
                <a:latin typeface="Century Schoolbook" pitchFamily="34" charset="0"/>
                <a:ea typeface="Century Schoolbook" pitchFamily="34" charset="-122"/>
                <a:cs typeface="Century Schoolbook" pitchFamily="34" charset="-120"/>
              </a:rPr>
              <a:t>La plupart des anomalies sont des pannes.</a:t>
            </a:r>
            <a:endParaRPr lang="en-US" sz="1300" dirty="0"/>
          </a:p>
        </p:txBody>
      </p:sp>
      <p:sp>
        <p:nvSpPr>
          <p:cNvPr id="46" name="Text 44"/>
          <p:cNvSpPr txBox="1"/>
          <p:nvPr/>
        </p:nvSpPr>
        <p:spPr>
          <a:xfrm>
            <a:off x="2304288" y="1975104"/>
            <a:ext cx="8686800" cy="566928"/>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2011 — l'expérience OPERA (CERN → Gran Sasso) annonce des neutrinos plus rapides que la lumière. Cause réelle : un connecteur de fibre optique mal serré et une horloge défectueuse. Résultat corrigé et retiré en juin 2012.</a:t>
            </a:r>
            <a:endParaRPr lang="en-US" sz="1150" dirty="0"/>
          </a:p>
        </p:txBody>
      </p:sp>
      <p:sp>
        <p:nvSpPr>
          <p:cNvPr id="47" name="Shape 45"/>
          <p:cNvSpPr/>
          <p:nvPr/>
        </p:nvSpPr>
        <p:spPr>
          <a:xfrm>
            <a:off x="1481328" y="2706624"/>
            <a:ext cx="9857232" cy="1207008"/>
          </a:xfrm>
          <a:prstGeom prst="roundRect">
            <a:avLst>
              <a:gd name="adj" fmla="val 530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8" name="Shape 46"/>
          <p:cNvSpPr/>
          <p:nvPr/>
        </p:nvSpPr>
        <p:spPr>
          <a:xfrm>
            <a:off x="1719072" y="2926080"/>
            <a:ext cx="402336" cy="402336"/>
          </a:xfrm>
          <a:prstGeom prst="ellipse">
            <a:avLst/>
          </a:prstGeom>
          <a:solidFill>
            <a:srgbClr val="F5827A"/>
          </a:solidFill>
          <a:ln/>
        </p:spPr>
      </p:sp>
      <p:sp>
        <p:nvSpPr>
          <p:cNvPr id="49" name="Text 47"/>
          <p:cNvSpPr txBox="1"/>
          <p:nvPr/>
        </p:nvSpPr>
        <p:spPr>
          <a:xfrm>
            <a:off x="1719072" y="2926080"/>
            <a:ext cx="402336" cy="402336"/>
          </a:xfrm>
          <a:prstGeom prst="rect">
            <a:avLst/>
          </a:prstGeom>
          <a:noFill/>
          <a:ln/>
        </p:spPr>
        <p:txBody>
          <a:bodyPr wrap="square" lIns="0" tIns="0" rIns="0" bIns="0" rtlCol="0" anchor="ctr"/>
          <a:lstStyle/>
          <a:p>
            <a:pPr algn="ctr" indent="0" marL="0">
              <a:buNone/>
            </a:pPr>
            <a:r>
              <a:rPr lang="en-US" sz="1400" b="1" dirty="0">
                <a:solidFill>
                  <a:srgbClr val="7A2E27"/>
                </a:solidFill>
                <a:latin typeface="Courier New" pitchFamily="34" charset="0"/>
                <a:ea typeface="Courier New" pitchFamily="34" charset="-122"/>
                <a:cs typeface="Courier New" pitchFamily="34" charset="-120"/>
              </a:rPr>
              <a:t>≠</a:t>
            </a:r>
            <a:endParaRPr lang="en-US" sz="1400" dirty="0"/>
          </a:p>
        </p:txBody>
      </p:sp>
      <p:sp>
        <p:nvSpPr>
          <p:cNvPr id="50" name="Text 48"/>
          <p:cNvSpPr txBox="1"/>
          <p:nvPr/>
        </p:nvSpPr>
        <p:spPr>
          <a:xfrm>
            <a:off x="2304288" y="2935224"/>
            <a:ext cx="8686800" cy="256032"/>
          </a:xfrm>
          <a:prstGeom prst="rect">
            <a:avLst/>
          </a:prstGeom>
          <a:noFill/>
          <a:ln/>
        </p:spPr>
        <p:txBody>
          <a:bodyPr wrap="square" lIns="0" tIns="0" rIns="0" bIns="0" rtlCol="0" anchor="ctr"/>
          <a:lstStyle/>
          <a:p>
            <a:pPr indent="0" marL="0">
              <a:buNone/>
            </a:pPr>
            <a:r>
              <a:rPr lang="en-US" sz="1300" b="1" spc="20" kern="0" dirty="0">
                <a:solidFill>
                  <a:srgbClr val="B23A32"/>
                </a:solidFill>
                <a:latin typeface="Century Schoolbook" pitchFamily="34" charset="0"/>
                <a:ea typeface="Century Schoolbook" pitchFamily="34" charset="-122"/>
                <a:cs typeface="Century Schoolbook" pitchFamily="34" charset="-120"/>
              </a:rPr>
              <a:t>Être rejeté ne rend pas vrai : le sophisme de Galilée.</a:t>
            </a:r>
            <a:endParaRPr lang="en-US" sz="1300" dirty="0"/>
          </a:p>
        </p:txBody>
      </p:sp>
      <p:sp>
        <p:nvSpPr>
          <p:cNvPr id="51" name="Text 49"/>
          <p:cNvSpPr txBox="1"/>
          <p:nvPr/>
        </p:nvSpPr>
        <p:spPr>
          <a:xfrm>
            <a:off x="2304288" y="3291840"/>
            <a:ext cx="8686800" cy="566928"/>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 On s'est moqué de Galilée aussi » — mais on s'est aussi moqué de milliers de théories fausses. La fusion froide (Fleischmann &amp; Pons, 1989) était spectaculairement contre-intuitive, et jamais reproduite. Le paradoxe attire donc aussi la pseudo-science.</a:t>
            </a:r>
            <a:endParaRPr lang="en-US" sz="1150" dirty="0"/>
          </a:p>
        </p:txBody>
      </p:sp>
      <p:sp>
        <p:nvSpPr>
          <p:cNvPr id="52" name="Shape 50"/>
          <p:cNvSpPr/>
          <p:nvPr/>
        </p:nvSpPr>
        <p:spPr>
          <a:xfrm>
            <a:off x="1481328" y="4023360"/>
            <a:ext cx="9857232" cy="1207008"/>
          </a:xfrm>
          <a:prstGeom prst="roundRect">
            <a:avLst>
              <a:gd name="adj" fmla="val 5303"/>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3" name="Shape 51"/>
          <p:cNvSpPr/>
          <p:nvPr/>
        </p:nvSpPr>
        <p:spPr>
          <a:xfrm>
            <a:off x="1719072" y="4242816"/>
            <a:ext cx="402336" cy="402336"/>
          </a:xfrm>
          <a:prstGeom prst="ellipse">
            <a:avLst/>
          </a:prstGeom>
          <a:solidFill>
            <a:srgbClr val="F7C927"/>
          </a:solidFill>
          <a:ln/>
        </p:spPr>
      </p:sp>
      <p:sp>
        <p:nvSpPr>
          <p:cNvPr id="54" name="Text 52"/>
          <p:cNvSpPr txBox="1"/>
          <p:nvPr/>
        </p:nvSpPr>
        <p:spPr>
          <a:xfrm>
            <a:off x="1719072" y="4242816"/>
            <a:ext cx="402336" cy="402336"/>
          </a:xfrm>
          <a:prstGeom prst="rect">
            <a:avLst/>
          </a:prstGeom>
          <a:noFill/>
          <a:ln/>
        </p:spPr>
        <p:txBody>
          <a:bodyPr wrap="square" lIns="0" tIns="0" rIns="0" bIns="0" rtlCol="0" anchor="ctr"/>
          <a:lstStyle/>
          <a:p>
            <a:pPr algn="ctr" indent="0" marL="0">
              <a:buNone/>
            </a:pPr>
            <a:r>
              <a:rPr lang="en-US" sz="1400" b="1" dirty="0">
                <a:solidFill>
                  <a:srgbClr val="6B4A05"/>
                </a:solidFill>
                <a:latin typeface="Courier New" pitchFamily="34" charset="0"/>
                <a:ea typeface="Courier New" pitchFamily="34" charset="-122"/>
                <a:cs typeface="Courier New" pitchFamily="34" charset="-120"/>
              </a:rPr>
              <a:t>≡</a:t>
            </a:r>
            <a:endParaRPr lang="en-US" sz="1400" dirty="0"/>
          </a:p>
        </p:txBody>
      </p:sp>
      <p:sp>
        <p:nvSpPr>
          <p:cNvPr id="55" name="Text 53"/>
          <p:cNvSpPr txBox="1"/>
          <p:nvPr/>
        </p:nvSpPr>
        <p:spPr>
          <a:xfrm>
            <a:off x="2304288" y="4251960"/>
            <a:ext cx="8686800" cy="256032"/>
          </a:xfrm>
          <a:prstGeom prst="rect">
            <a:avLst/>
          </a:prstGeom>
          <a:noFill/>
          <a:ln/>
        </p:spPr>
        <p:txBody>
          <a:bodyPr wrap="square" lIns="0" tIns="0" rIns="0" bIns="0" rtlCol="0" anchor="ctr"/>
          <a:lstStyle/>
          <a:p>
            <a:pPr indent="0" marL="0">
              <a:buNone/>
            </a:pPr>
            <a:r>
              <a:rPr lang="en-US" sz="1300" b="1" spc="20" kern="0" dirty="0">
                <a:solidFill>
                  <a:srgbClr val="B23A32"/>
                </a:solidFill>
                <a:latin typeface="Century Schoolbook" pitchFamily="34" charset="0"/>
                <a:ea typeface="Century Schoolbook" pitchFamily="34" charset="-122"/>
                <a:cs typeface="Century Schoolbook" pitchFamily="34" charset="-120"/>
              </a:rPr>
              <a:t>Ignorer les anomalies est parfois rationnel.</a:t>
            </a:r>
            <a:endParaRPr lang="en-US" sz="1300" dirty="0"/>
          </a:p>
        </p:txBody>
      </p:sp>
      <p:sp>
        <p:nvSpPr>
          <p:cNvPr id="56" name="Text 54"/>
          <p:cNvSpPr txBox="1"/>
          <p:nvPr/>
        </p:nvSpPr>
        <p:spPr>
          <a:xfrm>
            <a:off x="2304288" y="4608576"/>
            <a:ext cx="8686800" cy="566928"/>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Kuhn lui-même l'admet : la science normale doit écarter la plupart des anomalies, sinon aucune recherche cumulative n'est possible. Poursuivre systématiquement le bizarre paralyserait la connaissance au lieu de la faire avancer.</a:t>
            </a:r>
            <a:endParaRPr lang="en-US" sz="1150" dirty="0"/>
          </a:p>
        </p:txBody>
      </p:sp>
      <p:sp>
        <p:nvSpPr>
          <p:cNvPr id="57" name="Shape 55"/>
          <p:cNvSpPr/>
          <p:nvPr/>
        </p:nvSpPr>
        <p:spPr>
          <a:xfrm rot="-24000">
            <a:off x="1481328" y="5358384"/>
            <a:ext cx="9857232" cy="603504"/>
          </a:xfrm>
          <a:prstGeom prst="rect">
            <a:avLst/>
          </a:prstGeom>
          <a:solidFill>
            <a:srgbClr val="F7F1B4"/>
          </a:solidFill>
          <a:ln/>
          <a:effectLst>
            <a:outerShdw sx="100000" sy="100000" kx="0" ky="0" algn="bl" rotWithShape="0" blurRad="114300" dist="38100" dir="5400000">
              <a:srgbClr val="6B6633">
                <a:alpha val="30000"/>
              </a:srgbClr>
            </a:outerShdw>
          </a:effectLst>
        </p:spPr>
      </p:sp>
      <p:sp>
        <p:nvSpPr>
          <p:cNvPr id="58" name="Shape 56"/>
          <p:cNvSpPr/>
          <p:nvPr/>
        </p:nvSpPr>
        <p:spPr>
          <a:xfrm rot="-324000">
            <a:off x="5998464" y="5239512"/>
            <a:ext cx="822960" cy="237744"/>
          </a:xfrm>
          <a:prstGeom prst="rect">
            <a:avLst/>
          </a:prstGeom>
          <a:solidFill>
            <a:srgbClr val="FFFFFF">
              <a:alpha val="52000"/>
            </a:srgbClr>
          </a:solidFill>
          <a:ln/>
        </p:spPr>
      </p:sp>
      <p:sp>
        <p:nvSpPr>
          <p:cNvPr id="59" name="Text 57"/>
          <p:cNvSpPr txBox="1"/>
          <p:nvPr/>
        </p:nvSpPr>
        <p:spPr>
          <a:xfrm>
            <a:off x="1792224" y="5468112"/>
            <a:ext cx="9235440" cy="402336"/>
          </a:xfrm>
          <a:prstGeom prst="rect">
            <a:avLst/>
          </a:prstGeom>
          <a:noFill/>
          <a:ln/>
        </p:spPr>
        <p:txBody>
          <a:bodyPr wrap="square" lIns="0" tIns="0" rIns="0" bIns="0" rtlCol="0" anchor="ctr"/>
          <a:lstStyle/>
          <a:p>
            <a:pPr algn="ctr" indent="0" marL="0">
              <a:lnSpc>
                <a:spcPts val="1600"/>
              </a:lnSpc>
              <a:buNone/>
            </a:pPr>
            <a:r>
              <a:rPr lang="en-US" sz="1250" b="1" dirty="0">
                <a:solidFill>
                  <a:srgbClr val="B23A32"/>
                </a:solidFill>
                <a:latin typeface="Century Schoolbook" pitchFamily="34" charset="0"/>
                <a:ea typeface="Century Schoolbook" pitchFamily="34" charset="-122"/>
                <a:cs typeface="Century Schoolbook" pitchFamily="34" charset="-120"/>
              </a:rPr>
              <a:t>Limite de ma position : </a:t>
            </a:r>
            <a:pPr algn="ctr" indent="0" marL="0">
              <a:lnSpc>
                <a:spcPts val="1600"/>
              </a:lnSpc>
              <a:buNone/>
            </a:pPr>
            <a:r>
              <a:rPr lang="en-US" sz="1200" dirty="0">
                <a:solidFill>
                  <a:srgbClr val="5E5A38"/>
                </a:solidFill>
                <a:latin typeface="Calibri" pitchFamily="34" charset="0"/>
                <a:ea typeface="Calibri" pitchFamily="34" charset="-122"/>
                <a:cs typeface="Calibri" pitchFamily="34" charset="-120"/>
              </a:rPr>
              <a:t>ce n'est pas la surprise qui produit la connaissance, c'est la robustesse du résultat. Le paradoxe n'est pas une preuve — c'est une alerte à vérifier.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08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8 — EXEMPLE DU MONDE RÉEL</a:t>
            </a:r>
            <a:endParaRPr lang="en-US" sz="1000" dirty="0"/>
          </a:p>
        </p:txBody>
      </p:sp>
      <p:sp>
        <p:nvSpPr>
          <p:cNvPr id="40" name="Shape 38"/>
          <p:cNvSpPr/>
          <p:nvPr/>
        </p:nvSpPr>
        <p:spPr>
          <a:xfrm rot="-42000">
            <a:off x="1417320" y="868680"/>
            <a:ext cx="562356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1998 : personne ne voulait ce résultat</a:t>
            </a:r>
            <a:endParaRPr lang="en-US" sz="2600" dirty="0"/>
          </a:p>
        </p:txBody>
      </p:sp>
      <p:sp>
        <p:nvSpPr>
          <p:cNvPr id="42" name="Shape 40"/>
          <p:cNvSpPr/>
          <p:nvPr/>
        </p:nvSpPr>
        <p:spPr>
          <a:xfrm>
            <a:off x="1481328" y="1389888"/>
            <a:ext cx="3127248" cy="1188720"/>
          </a:xfrm>
          <a:prstGeom prst="roundRect">
            <a:avLst>
              <a:gd name="adj" fmla="val 5385"/>
            </a:avLst>
          </a:prstGeom>
          <a:solidFill>
            <a:srgbClr val="F5827A"/>
          </a:solidFill>
          <a:ln/>
          <a:effectLst>
            <a:outerShdw sx="100000" sy="100000" kx="0" ky="0" algn="bl" rotWithShape="0" blurRad="88900" dist="25400" dir="5400000">
              <a:srgbClr val="8FAE7E">
                <a:alpha val="30000"/>
              </a:srgbClr>
            </a:outerShdw>
          </a:effectLst>
        </p:spPr>
      </p:sp>
      <p:sp>
        <p:nvSpPr>
          <p:cNvPr id="43" name="Text 41"/>
          <p:cNvSpPr txBox="1"/>
          <p:nvPr/>
        </p:nvSpPr>
        <p:spPr>
          <a:xfrm>
            <a:off x="1627632" y="1463040"/>
            <a:ext cx="2834640" cy="585216"/>
          </a:xfrm>
          <a:prstGeom prst="rect">
            <a:avLst/>
          </a:prstGeom>
          <a:noFill/>
          <a:ln/>
        </p:spPr>
        <p:txBody>
          <a:bodyPr wrap="square" lIns="0" tIns="0" rIns="0" bIns="0" rtlCol="0" anchor="ctr"/>
          <a:lstStyle/>
          <a:p>
            <a:pPr algn="ctr" indent="0" marL="0">
              <a:buNone/>
            </a:pPr>
            <a:r>
              <a:rPr lang="en-US" sz="3200" b="1" dirty="0">
                <a:solidFill>
                  <a:srgbClr val="7A2E27"/>
                </a:solidFill>
                <a:latin typeface="Century Schoolbook" pitchFamily="34" charset="0"/>
                <a:ea typeface="Century Schoolbook" pitchFamily="34" charset="-122"/>
                <a:cs typeface="Century Schoolbook" pitchFamily="34" charset="-120"/>
              </a:rPr>
              <a:t>2</a:t>
            </a:r>
            <a:endParaRPr lang="en-US" sz="3200" dirty="0"/>
          </a:p>
        </p:txBody>
      </p:sp>
      <p:sp>
        <p:nvSpPr>
          <p:cNvPr id="44" name="Text 42"/>
          <p:cNvSpPr txBox="1"/>
          <p:nvPr/>
        </p:nvSpPr>
        <p:spPr>
          <a:xfrm>
            <a:off x="1719072" y="2066544"/>
            <a:ext cx="2651760" cy="438912"/>
          </a:xfrm>
          <a:prstGeom prst="rect">
            <a:avLst/>
          </a:prstGeom>
          <a:noFill/>
          <a:ln/>
        </p:spPr>
        <p:txBody>
          <a:bodyPr wrap="square" lIns="0" tIns="0" rIns="0" bIns="0" rtlCol="0" anchor="ctr"/>
          <a:lstStyle/>
          <a:p>
            <a:pPr algn="ctr" indent="0" marL="0">
              <a:lnSpc>
                <a:spcPts val="1300"/>
              </a:lnSpc>
              <a:buNone/>
            </a:pPr>
            <a:r>
              <a:rPr lang="en-US" sz="1050" dirty="0">
                <a:solidFill>
                  <a:srgbClr val="7A2E27"/>
                </a:solidFill>
                <a:latin typeface="Calibri" pitchFamily="34" charset="0"/>
                <a:ea typeface="Calibri" pitchFamily="34" charset="-122"/>
                <a:cs typeface="Calibri" pitchFamily="34" charset="-120"/>
              </a:rPr>
              <a:t>équipes rivales et indépendantes trouvent le même résultat</a:t>
            </a:r>
            <a:endParaRPr lang="en-US" sz="1050" dirty="0"/>
          </a:p>
        </p:txBody>
      </p:sp>
      <p:sp>
        <p:nvSpPr>
          <p:cNvPr id="45" name="Shape 43"/>
          <p:cNvSpPr/>
          <p:nvPr/>
        </p:nvSpPr>
        <p:spPr>
          <a:xfrm>
            <a:off x="4800600" y="1389888"/>
            <a:ext cx="3127248" cy="1188720"/>
          </a:xfrm>
          <a:prstGeom prst="roundRect">
            <a:avLst>
              <a:gd name="adj" fmla="val 5385"/>
            </a:avLst>
          </a:prstGeom>
          <a:solidFill>
            <a:srgbClr val="B23A32"/>
          </a:solidFill>
          <a:ln/>
          <a:effectLst>
            <a:outerShdw sx="100000" sy="100000" kx="0" ky="0" algn="bl" rotWithShape="0" blurRad="88900" dist="25400" dir="5400000">
              <a:srgbClr val="8FAE7E">
                <a:alpha val="30000"/>
              </a:srgbClr>
            </a:outerShdw>
          </a:effectLst>
        </p:spPr>
      </p:sp>
      <p:sp>
        <p:nvSpPr>
          <p:cNvPr id="46" name="Text 44"/>
          <p:cNvSpPr txBox="1"/>
          <p:nvPr/>
        </p:nvSpPr>
        <p:spPr>
          <a:xfrm>
            <a:off x="4946904" y="1463040"/>
            <a:ext cx="2834640" cy="585216"/>
          </a:xfrm>
          <a:prstGeom prst="rect">
            <a:avLst/>
          </a:prstGeom>
          <a:noFill/>
          <a:ln/>
        </p:spPr>
        <p:txBody>
          <a:bodyPr wrap="square" lIns="0" tIns="0" rIns="0" bIns="0" rtlCol="0" anchor="ctr"/>
          <a:lstStyle/>
          <a:p>
            <a:pPr algn="ctr" indent="0" marL="0">
              <a:buNone/>
            </a:pPr>
            <a:r>
              <a:rPr lang="en-US" sz="3200" b="1" dirty="0">
                <a:solidFill>
                  <a:srgbClr val="FFFFFF"/>
                </a:solidFill>
                <a:latin typeface="Century Schoolbook" pitchFamily="34" charset="0"/>
                <a:ea typeface="Century Schoolbook" pitchFamily="34" charset="-122"/>
                <a:cs typeface="Century Schoolbook" pitchFamily="34" charset="-120"/>
              </a:rPr>
              <a:t>68 %</a:t>
            </a:r>
            <a:endParaRPr lang="en-US" sz="3200" dirty="0"/>
          </a:p>
        </p:txBody>
      </p:sp>
      <p:sp>
        <p:nvSpPr>
          <p:cNvPr id="47" name="Text 45"/>
          <p:cNvSpPr txBox="1"/>
          <p:nvPr/>
        </p:nvSpPr>
        <p:spPr>
          <a:xfrm>
            <a:off x="5038344" y="2066544"/>
            <a:ext cx="2651760" cy="438912"/>
          </a:xfrm>
          <a:prstGeom prst="rect">
            <a:avLst/>
          </a:prstGeom>
          <a:noFill/>
          <a:ln/>
        </p:spPr>
        <p:txBody>
          <a:bodyPr wrap="square" lIns="0" tIns="0" rIns="0" bIns="0" rtlCol="0" anchor="ctr"/>
          <a:lstStyle/>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du contenu de l'univers reste aujourd'hui inexpliqué</a:t>
            </a:r>
            <a:endParaRPr lang="en-US" sz="1050" dirty="0"/>
          </a:p>
        </p:txBody>
      </p:sp>
      <p:sp>
        <p:nvSpPr>
          <p:cNvPr id="48" name="Shape 46"/>
          <p:cNvSpPr/>
          <p:nvPr/>
        </p:nvSpPr>
        <p:spPr>
          <a:xfrm>
            <a:off x="8119872" y="1389888"/>
            <a:ext cx="3127248" cy="1188720"/>
          </a:xfrm>
          <a:prstGeom prst="roundRect">
            <a:avLst>
              <a:gd name="adj" fmla="val 5385"/>
            </a:avLst>
          </a:prstGeom>
          <a:solidFill>
            <a:srgbClr val="F7C927"/>
          </a:solidFill>
          <a:ln/>
          <a:effectLst>
            <a:outerShdw sx="100000" sy="100000" kx="0" ky="0" algn="bl" rotWithShape="0" blurRad="88900" dist="25400" dir="5400000">
              <a:srgbClr val="8FAE7E">
                <a:alpha val="30000"/>
              </a:srgbClr>
            </a:outerShdw>
          </a:effectLst>
        </p:spPr>
      </p:sp>
      <p:sp>
        <p:nvSpPr>
          <p:cNvPr id="49" name="Text 47"/>
          <p:cNvSpPr txBox="1"/>
          <p:nvPr/>
        </p:nvSpPr>
        <p:spPr>
          <a:xfrm>
            <a:off x="8266176" y="1463040"/>
            <a:ext cx="2834640" cy="585216"/>
          </a:xfrm>
          <a:prstGeom prst="rect">
            <a:avLst/>
          </a:prstGeom>
          <a:noFill/>
          <a:ln/>
        </p:spPr>
        <p:txBody>
          <a:bodyPr wrap="square" lIns="0" tIns="0" rIns="0" bIns="0" rtlCol="0" anchor="ctr"/>
          <a:lstStyle/>
          <a:p>
            <a:pPr algn="ctr" indent="0" marL="0">
              <a:buNone/>
            </a:pPr>
            <a:r>
              <a:rPr lang="en-US" sz="3200" b="1" dirty="0">
                <a:solidFill>
                  <a:srgbClr val="6B4A05"/>
                </a:solidFill>
                <a:latin typeface="Century Schoolbook" pitchFamily="34" charset="0"/>
                <a:ea typeface="Century Schoolbook" pitchFamily="34" charset="-122"/>
                <a:cs typeface="Century Schoolbook" pitchFamily="34" charset="-120"/>
              </a:rPr>
              <a:t>2011</a:t>
            </a:r>
            <a:endParaRPr lang="en-US" sz="3200" dirty="0"/>
          </a:p>
        </p:txBody>
      </p:sp>
      <p:sp>
        <p:nvSpPr>
          <p:cNvPr id="50" name="Text 48"/>
          <p:cNvSpPr txBox="1"/>
          <p:nvPr/>
        </p:nvSpPr>
        <p:spPr>
          <a:xfrm>
            <a:off x="8357616" y="2066544"/>
            <a:ext cx="2651760" cy="438912"/>
          </a:xfrm>
          <a:prstGeom prst="rect">
            <a:avLst/>
          </a:prstGeom>
          <a:noFill/>
          <a:ln/>
        </p:spPr>
        <p:txBody>
          <a:bodyPr wrap="square" lIns="0" tIns="0" rIns="0" bIns="0" rtlCol="0" anchor="ctr"/>
          <a:lstStyle/>
          <a:p>
            <a:pPr algn="ctr" indent="0" marL="0">
              <a:lnSpc>
                <a:spcPts val="1300"/>
              </a:lnSpc>
              <a:buNone/>
            </a:pPr>
            <a:r>
              <a:rPr lang="en-US" sz="1050" dirty="0">
                <a:solidFill>
                  <a:srgbClr val="6B4A05"/>
                </a:solidFill>
                <a:latin typeface="Calibri" pitchFamily="34" charset="0"/>
                <a:ea typeface="Calibri" pitchFamily="34" charset="-122"/>
                <a:cs typeface="Calibri" pitchFamily="34" charset="-120"/>
              </a:rPr>
              <a:t>prix Nobel de physique : Perlmutter, Schmidt, Riess</a:t>
            </a:r>
            <a:endParaRPr lang="en-US" sz="1050" dirty="0"/>
          </a:p>
        </p:txBody>
      </p:sp>
      <p:sp>
        <p:nvSpPr>
          <p:cNvPr id="51" name="Shape 49"/>
          <p:cNvSpPr/>
          <p:nvPr/>
        </p:nvSpPr>
        <p:spPr>
          <a:xfrm>
            <a:off x="1481328" y="2779776"/>
            <a:ext cx="4846320" cy="2249424"/>
          </a:xfrm>
          <a:prstGeom prst="roundRect">
            <a:avLst>
              <a:gd name="adj" fmla="val 2846"/>
            </a:avLst>
          </a:prstGeom>
          <a:solidFill>
            <a:srgbClr val="FFFCF0"/>
          </a:solidFill>
          <a:ln w="20320">
            <a:solidFill>
              <a:srgbClr val="B23A32"/>
            </a:solidFill>
            <a:prstDash val="solid"/>
          </a:ln>
          <a:effectLst>
            <a:outerShdw sx="100000" sy="100000" kx="0" ky="0" algn="bl" rotWithShape="0" blurRad="88900" dist="25400" dir="5400000">
              <a:srgbClr val="8FAE7E">
                <a:alpha val="30000"/>
              </a:srgbClr>
            </a:outerShdw>
          </a:effectLst>
        </p:spPr>
      </p:sp>
      <p:sp>
        <p:nvSpPr>
          <p:cNvPr id="52" name="Text 50"/>
          <p:cNvSpPr txBox="1"/>
          <p:nvPr/>
        </p:nvSpPr>
        <p:spPr>
          <a:xfrm>
            <a:off x="1719072" y="2962656"/>
            <a:ext cx="4389120" cy="256032"/>
          </a:xfrm>
          <a:prstGeom prst="rect">
            <a:avLst/>
          </a:prstGeom>
          <a:noFill/>
          <a:ln/>
        </p:spPr>
        <p:txBody>
          <a:bodyPr wrap="square" lIns="0" tIns="0" rIns="0" bIns="0" rtlCol="0" anchor="ctr"/>
          <a:lstStyle/>
          <a:p>
            <a:pPr indent="0" marL="0">
              <a:buNone/>
            </a:pPr>
            <a:r>
              <a:rPr lang="en-US" sz="1300" b="1" spc="20" kern="0" dirty="0">
                <a:solidFill>
                  <a:srgbClr val="B23A32"/>
                </a:solidFill>
                <a:latin typeface="Century Schoolbook" pitchFamily="34" charset="0"/>
                <a:ea typeface="Century Schoolbook" pitchFamily="34" charset="-122"/>
                <a:cs typeface="Century Schoolbook" pitchFamily="34" charset="-120"/>
              </a:rPr>
              <a:t>Ce qui s'est passé</a:t>
            </a:r>
            <a:endParaRPr lang="en-US" sz="1300" dirty="0"/>
          </a:p>
        </p:txBody>
      </p:sp>
      <p:sp>
        <p:nvSpPr>
          <p:cNvPr id="53" name="Text 51"/>
          <p:cNvSpPr txBox="1"/>
          <p:nvPr/>
        </p:nvSpPr>
        <p:spPr>
          <a:xfrm>
            <a:off x="1719072" y="3346704"/>
            <a:ext cx="4352544" cy="1554480"/>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Les deux équipes mesuraient des supernovæ de type Ia pour calculer à quelle vitesse l'expansion de l'univers ralentissait.</a:t>
            </a:r>
            <a:endParaRPr lang="en-US" sz="1150" dirty="0"/>
          </a:p>
          <a:p>
            <a:pPr algn="l" indent="0" marL="0">
              <a:lnSpc>
                <a:spcPts val="1500"/>
              </a:lnSpc>
              <a:buNone/>
            </a:pPr>
            <a:endParaRPr lang="en-US" sz="1150" dirty="0"/>
          </a:p>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Les supernovæ lointaines sont apparues trop faibles : l'expansion accélère. Adam Riess a d'abord traqué l'erreur dans ses propres calculs — le résultat semblait absurde.</a:t>
            </a:r>
            <a:endParaRPr lang="en-US" sz="1150" dirty="0"/>
          </a:p>
        </p:txBody>
      </p:sp>
      <p:sp>
        <p:nvSpPr>
          <p:cNvPr id="54" name="Shape 52"/>
          <p:cNvSpPr/>
          <p:nvPr/>
        </p:nvSpPr>
        <p:spPr>
          <a:xfrm>
            <a:off x="6675120" y="2779776"/>
            <a:ext cx="4663440" cy="2249424"/>
          </a:xfrm>
          <a:prstGeom prst="roundRect">
            <a:avLst>
              <a:gd name="adj" fmla="val 2846"/>
            </a:avLst>
          </a:prstGeom>
          <a:solidFill>
            <a:srgbClr val="FFFFFF"/>
          </a:solidFill>
          <a:ln w="15875">
            <a:solidFill>
              <a:srgbClr val="F5827A"/>
            </a:solidFill>
            <a:prstDash val="solid"/>
          </a:ln>
          <a:effectLst>
            <a:outerShdw sx="100000" sy="100000" kx="0" ky="0" algn="bl" rotWithShape="0" blurRad="88900" dist="25400" dir="5400000">
              <a:srgbClr val="8FAE7E">
                <a:alpha val="30000"/>
              </a:srgbClr>
            </a:outerShdw>
          </a:effectLst>
        </p:spPr>
      </p:sp>
      <p:sp>
        <p:nvSpPr>
          <p:cNvPr id="55" name="Text 53"/>
          <p:cNvSpPr txBox="1"/>
          <p:nvPr/>
        </p:nvSpPr>
        <p:spPr>
          <a:xfrm>
            <a:off x="6912864" y="2962656"/>
            <a:ext cx="4206240" cy="256032"/>
          </a:xfrm>
          <a:prstGeom prst="rect">
            <a:avLst/>
          </a:prstGeom>
          <a:noFill/>
          <a:ln/>
        </p:spPr>
        <p:txBody>
          <a:bodyPr wrap="square" lIns="0" tIns="0" rIns="0" bIns="0" rtlCol="0" anchor="ctr"/>
          <a:lstStyle/>
          <a:p>
            <a:pPr indent="0" marL="0">
              <a:buNone/>
            </a:pPr>
            <a:r>
              <a:rPr lang="en-US" sz="1300" b="1" spc="20" kern="0" dirty="0">
                <a:solidFill>
                  <a:srgbClr val="C25B52"/>
                </a:solidFill>
                <a:latin typeface="Century Schoolbook" pitchFamily="34" charset="0"/>
                <a:ea typeface="Century Schoolbook" pitchFamily="34" charset="-122"/>
                <a:cs typeface="Century Schoolbook" pitchFamily="34" charset="-120"/>
              </a:rPr>
              <a:t>Pourquoi celui-ci a tenu, et pas OPERA</a:t>
            </a:r>
            <a:endParaRPr lang="en-US" sz="1300" dirty="0"/>
          </a:p>
        </p:txBody>
      </p:sp>
      <p:sp>
        <p:nvSpPr>
          <p:cNvPr id="56" name="Text 54"/>
          <p:cNvSpPr txBox="1"/>
          <p:nvPr/>
        </p:nvSpPr>
        <p:spPr>
          <a:xfrm>
            <a:off x="6912864" y="3346704"/>
            <a:ext cx="4169664" cy="1554480"/>
          </a:xfrm>
          <a:prstGeom prst="rect">
            <a:avLst/>
          </a:prstGeom>
          <a:noFill/>
          <a:ln/>
        </p:spPr>
        <p:txBody>
          <a:bodyPr wrap="square" lIns="0" tIns="0" rIns="0" bIns="0" rtlCol="0" anchor="t"/>
          <a:lstStyle/>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Structure logique identique : un résultat contredit la théorie établie. Issue inverse.</a:t>
            </a:r>
            <a:endParaRPr lang="en-US" sz="1150" dirty="0"/>
          </a:p>
          <a:p>
            <a:pPr algn="l" indent="0" marL="0">
              <a:lnSpc>
                <a:spcPts val="1500"/>
              </a:lnSpc>
              <a:buNone/>
            </a:pPr>
            <a:endParaRPr lang="en-US" sz="1150" dirty="0"/>
          </a:p>
          <a:p>
            <a:pPr algn="l" indent="0" marL="0">
              <a:lnSpc>
                <a:spcPts val="1500"/>
              </a:lnSpc>
              <a:buNone/>
            </a:pPr>
            <a:r>
              <a:rPr lang="en-US" sz="1150" dirty="0">
                <a:solidFill>
                  <a:srgbClr val="3A3A38"/>
                </a:solidFill>
                <a:latin typeface="Calibri" pitchFamily="34" charset="0"/>
                <a:ea typeface="Calibri" pitchFamily="34" charset="-122"/>
                <a:cs typeface="Calibri" pitchFamily="34" charset="-120"/>
              </a:rPr>
              <a:t>Ce qui a fait la différence n'est ni l'intuition ni le degré de surprise, mais la réplication par une équipe concurrente et la convergence avec d'autres données indépendantes.</a:t>
            </a:r>
            <a:endParaRPr lang="en-US" sz="1150" dirty="0"/>
          </a:p>
        </p:txBody>
      </p:sp>
      <p:sp>
        <p:nvSpPr>
          <p:cNvPr id="57" name="Shape 55"/>
          <p:cNvSpPr/>
          <p:nvPr/>
        </p:nvSpPr>
        <p:spPr>
          <a:xfrm rot="-18000">
            <a:off x="1481328" y="5285232"/>
            <a:ext cx="9857232" cy="566928"/>
          </a:xfrm>
          <a:prstGeom prst="rect">
            <a:avLst/>
          </a:prstGeom>
          <a:solidFill>
            <a:srgbClr val="F7F1B4"/>
          </a:solidFill>
          <a:ln/>
          <a:effectLst>
            <a:outerShdw sx="100000" sy="100000" kx="0" ky="0" algn="bl" rotWithShape="0" blurRad="114300" dist="38100" dir="5400000">
              <a:srgbClr val="6B6633">
                <a:alpha val="30000"/>
              </a:srgbClr>
            </a:outerShdw>
          </a:effectLst>
        </p:spPr>
      </p:sp>
      <p:sp>
        <p:nvSpPr>
          <p:cNvPr id="58" name="Shape 56"/>
          <p:cNvSpPr/>
          <p:nvPr/>
        </p:nvSpPr>
        <p:spPr>
          <a:xfrm rot="-318000">
            <a:off x="5998464" y="5166360"/>
            <a:ext cx="822960" cy="237744"/>
          </a:xfrm>
          <a:prstGeom prst="rect">
            <a:avLst/>
          </a:prstGeom>
          <a:solidFill>
            <a:srgbClr val="FFFFFF">
              <a:alpha val="52000"/>
            </a:srgbClr>
          </a:solidFill>
          <a:ln/>
        </p:spPr>
      </p:sp>
      <p:sp>
        <p:nvSpPr>
          <p:cNvPr id="59" name="Text 57"/>
          <p:cNvSpPr txBox="1"/>
          <p:nvPr/>
        </p:nvSpPr>
        <p:spPr>
          <a:xfrm>
            <a:off x="1792224" y="5413248"/>
            <a:ext cx="9235440" cy="329184"/>
          </a:xfrm>
          <a:prstGeom prst="rect">
            <a:avLst/>
          </a:prstGeom>
          <a:noFill/>
          <a:ln/>
        </p:spPr>
        <p:txBody>
          <a:bodyPr wrap="square" lIns="0" tIns="0" rIns="0" bIns="0" rtlCol="0" anchor="ctr"/>
          <a:lstStyle/>
          <a:p>
            <a:pPr algn="ctr" indent="0" marL="0">
              <a:lnSpc>
                <a:spcPts val="1600"/>
              </a:lnSpc>
              <a:buNone/>
            </a:pPr>
            <a:r>
              <a:rPr lang="en-US" sz="1250" b="1" dirty="0">
                <a:solidFill>
                  <a:srgbClr val="B23A32"/>
                </a:solidFill>
                <a:latin typeface="Century Schoolbook" pitchFamily="34" charset="0"/>
                <a:ea typeface="Century Schoolbook" pitchFamily="34" charset="-122"/>
                <a:cs typeface="Century Schoolbook" pitchFamily="34" charset="-120"/>
              </a:rPr>
              <a:t>→ Lien avec ma question : </a:t>
            </a:r>
            <a:pPr algn="ctr" indent="0" marL="0">
              <a:lnSpc>
                <a:spcPts val="1600"/>
              </a:lnSpc>
              <a:buNone/>
            </a:pPr>
            <a:r>
              <a:rPr lang="en-US" sz="1200" dirty="0">
                <a:solidFill>
                  <a:srgbClr val="5E5A38"/>
                </a:solidFill>
                <a:latin typeface="Calibri" pitchFamily="34" charset="0"/>
                <a:ea typeface="Calibri" pitchFamily="34" charset="-122"/>
                <a:cs typeface="Calibri" pitchFamily="34" charset="-120"/>
              </a:rPr>
              <a:t>ce qui justifie une croyance contre-intuitive n'est pas l'évidence ressentie, mais une procédure publique et répétable.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09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9 — ANALYSE ET CONCLUSION</a:t>
            </a:r>
            <a:endParaRPr lang="en-US" sz="1000" dirty="0"/>
          </a:p>
        </p:txBody>
      </p:sp>
      <p:sp>
        <p:nvSpPr>
          <p:cNvPr id="40" name="Shape 38"/>
          <p:cNvSpPr/>
          <p:nvPr/>
        </p:nvSpPr>
        <p:spPr>
          <a:xfrm rot="-42000">
            <a:off x="1417320" y="868680"/>
            <a:ext cx="608076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Ce que l'on peut raisonnablement conclure</a:t>
            </a:r>
            <a:endParaRPr lang="en-US" sz="2600" dirty="0"/>
          </a:p>
        </p:txBody>
      </p:sp>
      <p:sp>
        <p:nvSpPr>
          <p:cNvPr id="42" name="Shape 40"/>
          <p:cNvSpPr/>
          <p:nvPr/>
        </p:nvSpPr>
        <p:spPr>
          <a:xfrm>
            <a:off x="1481328" y="1389888"/>
            <a:ext cx="3127248" cy="3273552"/>
          </a:xfrm>
          <a:prstGeom prst="roundRect">
            <a:avLst>
              <a:gd name="adj" fmla="val 2047"/>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3" name="Shape 41"/>
          <p:cNvSpPr/>
          <p:nvPr/>
        </p:nvSpPr>
        <p:spPr>
          <a:xfrm>
            <a:off x="1700784" y="1572768"/>
            <a:ext cx="384048" cy="384048"/>
          </a:xfrm>
          <a:prstGeom prst="ellipse">
            <a:avLst/>
          </a:prstGeom>
          <a:solidFill>
            <a:srgbClr val="F5827A"/>
          </a:solidFill>
          <a:ln/>
        </p:spPr>
      </p:sp>
      <p:sp>
        <p:nvSpPr>
          <p:cNvPr id="44" name="Text 42"/>
          <p:cNvSpPr txBox="1"/>
          <p:nvPr/>
        </p:nvSpPr>
        <p:spPr>
          <a:xfrm>
            <a:off x="1700784" y="1572768"/>
            <a:ext cx="384048" cy="384048"/>
          </a:xfrm>
          <a:prstGeom prst="rect">
            <a:avLst/>
          </a:prstGeom>
          <a:noFill/>
          <a:ln/>
        </p:spPr>
        <p:txBody>
          <a:bodyPr wrap="square" lIns="0" tIns="0" rIns="0" bIns="0" rtlCol="0" anchor="ctr"/>
          <a:lstStyle/>
          <a:p>
            <a:pPr algn="ctr" indent="0" marL="0">
              <a:buNone/>
            </a:pPr>
            <a:r>
              <a:rPr lang="en-US" sz="1300" b="1" dirty="0">
                <a:solidFill>
                  <a:srgbClr val="7A2E27"/>
                </a:solidFill>
                <a:latin typeface="Courier New" pitchFamily="34" charset="0"/>
                <a:ea typeface="Courier New" pitchFamily="34" charset="-122"/>
                <a:cs typeface="Courier New" pitchFamily="34" charset="-120"/>
              </a:rPr>
              <a:t>1</a:t>
            </a:r>
            <a:endParaRPr lang="en-US" sz="1300" dirty="0"/>
          </a:p>
        </p:txBody>
      </p:sp>
      <p:sp>
        <p:nvSpPr>
          <p:cNvPr id="45" name="Text 43"/>
          <p:cNvSpPr txBox="1"/>
          <p:nvPr/>
        </p:nvSpPr>
        <p:spPr>
          <a:xfrm>
            <a:off x="1700784" y="2048256"/>
            <a:ext cx="2706624" cy="493776"/>
          </a:xfrm>
          <a:prstGeom prst="rect">
            <a:avLst/>
          </a:prstGeom>
          <a:noFill/>
          <a:ln/>
        </p:spPr>
        <p:txBody>
          <a:bodyPr wrap="square" lIns="0" tIns="0" rIns="0" bIns="0" rtlCol="0" anchor="t"/>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Fécond — mais pas en soi</a:t>
            </a:r>
            <a:endParaRPr lang="en-US" sz="1250" dirty="0"/>
          </a:p>
        </p:txBody>
      </p:sp>
      <p:sp>
        <p:nvSpPr>
          <p:cNvPr id="46" name="Text 44"/>
          <p:cNvSpPr txBox="1"/>
          <p:nvPr/>
        </p:nvSpPr>
        <p:spPr>
          <a:xfrm>
            <a:off x="1700784" y="2633472"/>
            <a:ext cx="2706624" cy="1883664"/>
          </a:xfrm>
          <a:prstGeom prst="rect">
            <a:avLst/>
          </a:prstGeom>
          <a:noFill/>
          <a:ln/>
        </p:spPr>
        <p:txBody>
          <a:bodyPr wrap="square" lIns="0" tIns="0" rIns="0" bIns="0" rtlCol="0" anchor="t"/>
          <a:lstStyle/>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Explorer le contre-intuitif est utile parce que c'est là que les théories sont le plus testables : un résultat improbable élimine davantage d'hypothèses.</a:t>
            </a:r>
            <a:endParaRPr lang="en-US" sz="1050" dirty="0"/>
          </a:p>
          <a:p>
            <a:pPr algn="l" indent="0" marL="0">
              <a:lnSpc>
                <a:spcPts val="1400"/>
              </a:lnSpc>
              <a:buNone/>
            </a:pPr>
            <a:endParaRPr lang="en-US" sz="1050" dirty="0"/>
          </a:p>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Mais il est aussi plus probablement faux. D'où la règle de Laplace : une affirmation extraordinaire exige des preuves extraordinaires.</a:t>
            </a:r>
            <a:endParaRPr lang="en-US" sz="1050" dirty="0"/>
          </a:p>
        </p:txBody>
      </p:sp>
      <p:sp>
        <p:nvSpPr>
          <p:cNvPr id="47" name="Shape 45"/>
          <p:cNvSpPr/>
          <p:nvPr/>
        </p:nvSpPr>
        <p:spPr>
          <a:xfrm>
            <a:off x="4800600" y="1389888"/>
            <a:ext cx="3127248" cy="3273552"/>
          </a:xfrm>
          <a:prstGeom prst="roundRect">
            <a:avLst>
              <a:gd name="adj" fmla="val 2047"/>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8" name="Shape 46"/>
          <p:cNvSpPr/>
          <p:nvPr/>
        </p:nvSpPr>
        <p:spPr>
          <a:xfrm>
            <a:off x="5020056" y="1572768"/>
            <a:ext cx="384048" cy="384048"/>
          </a:xfrm>
          <a:prstGeom prst="ellipse">
            <a:avLst/>
          </a:prstGeom>
          <a:solidFill>
            <a:srgbClr val="B23A32"/>
          </a:solidFill>
          <a:ln/>
        </p:spPr>
      </p:sp>
      <p:sp>
        <p:nvSpPr>
          <p:cNvPr id="49" name="Text 47"/>
          <p:cNvSpPr txBox="1"/>
          <p:nvPr/>
        </p:nvSpPr>
        <p:spPr>
          <a:xfrm>
            <a:off x="5020056"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50" name="Text 48"/>
          <p:cNvSpPr txBox="1"/>
          <p:nvPr/>
        </p:nvSpPr>
        <p:spPr>
          <a:xfrm>
            <a:off x="5020056" y="2048256"/>
            <a:ext cx="2706624" cy="493776"/>
          </a:xfrm>
          <a:prstGeom prst="rect">
            <a:avLst/>
          </a:prstGeom>
          <a:noFill/>
          <a:ln/>
        </p:spPr>
        <p:txBody>
          <a:bodyPr wrap="square" lIns="0" tIns="0" rIns="0" bIns="0" rtlCol="0" anchor="t"/>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Le mot change de sens selon le domaine</a:t>
            </a:r>
            <a:endParaRPr lang="en-US" sz="1250" dirty="0"/>
          </a:p>
        </p:txBody>
      </p:sp>
      <p:sp>
        <p:nvSpPr>
          <p:cNvPr id="51" name="Text 49"/>
          <p:cNvSpPr txBox="1"/>
          <p:nvPr/>
        </p:nvSpPr>
        <p:spPr>
          <a:xfrm>
            <a:off x="5020056" y="2633472"/>
            <a:ext cx="2706624" cy="1883664"/>
          </a:xfrm>
          <a:prstGeom prst="rect">
            <a:avLst/>
          </a:prstGeom>
          <a:noFill/>
          <a:ln/>
        </p:spPr>
        <p:txBody>
          <a:bodyPr wrap="square" lIns="0" tIns="0" rIns="0" bIns="0" rtlCol="0" anchor="t"/>
          <a:lstStyle/>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Signal d'erreur en sciences naturelles ; révélateur de fondements en mathématiques ; méthode délibérée en arts et en philosophie, où l'absurde de Camus ou le ready-made de Duchamp forcent le réexamen des catégories.</a:t>
            </a:r>
            <a:endParaRPr lang="en-US" sz="1050" dirty="0"/>
          </a:p>
          <a:p>
            <a:pPr algn="l" indent="0" marL="0">
              <a:lnSpc>
                <a:spcPts val="1400"/>
              </a:lnSpc>
              <a:buNone/>
            </a:pPr>
            <a:endParaRPr lang="en-US" sz="1050" dirty="0"/>
          </a:p>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Il n'existe donc pas une seule réponse.</a:t>
            </a:r>
            <a:endParaRPr lang="en-US" sz="1050" dirty="0"/>
          </a:p>
        </p:txBody>
      </p:sp>
      <p:sp>
        <p:nvSpPr>
          <p:cNvPr id="52" name="Shape 50"/>
          <p:cNvSpPr/>
          <p:nvPr/>
        </p:nvSpPr>
        <p:spPr>
          <a:xfrm>
            <a:off x="8119872" y="1389888"/>
            <a:ext cx="3127248" cy="3273552"/>
          </a:xfrm>
          <a:prstGeom prst="roundRect">
            <a:avLst>
              <a:gd name="adj" fmla="val 2047"/>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3" name="Shape 51"/>
          <p:cNvSpPr/>
          <p:nvPr/>
        </p:nvSpPr>
        <p:spPr>
          <a:xfrm>
            <a:off x="8339328" y="1572768"/>
            <a:ext cx="384048" cy="384048"/>
          </a:xfrm>
          <a:prstGeom prst="ellipse">
            <a:avLst/>
          </a:prstGeom>
          <a:solidFill>
            <a:srgbClr val="F7C927"/>
          </a:solidFill>
          <a:ln/>
        </p:spPr>
      </p:sp>
      <p:sp>
        <p:nvSpPr>
          <p:cNvPr id="54" name="Text 52"/>
          <p:cNvSpPr txBox="1"/>
          <p:nvPr/>
        </p:nvSpPr>
        <p:spPr>
          <a:xfrm>
            <a:off x="8339328" y="1572768"/>
            <a:ext cx="384048" cy="384048"/>
          </a:xfrm>
          <a:prstGeom prst="rect">
            <a:avLst/>
          </a:prstGeom>
          <a:noFill/>
          <a:ln/>
        </p:spPr>
        <p:txBody>
          <a:bodyPr wrap="square" lIns="0" tIns="0" rIns="0" bIns="0" rtlCol="0" anchor="ctr"/>
          <a:lstStyle/>
          <a:p>
            <a:pPr algn="ctr" indent="0" marL="0">
              <a:buNone/>
            </a:pPr>
            <a:r>
              <a:rPr lang="en-US" sz="1300" b="1" dirty="0">
                <a:solidFill>
                  <a:srgbClr val="6B4A05"/>
                </a:solidFill>
                <a:latin typeface="Courier New" pitchFamily="34" charset="0"/>
                <a:ea typeface="Courier New" pitchFamily="34" charset="-122"/>
                <a:cs typeface="Courier New" pitchFamily="34" charset="-120"/>
              </a:rPr>
              <a:t>3</a:t>
            </a:r>
            <a:endParaRPr lang="en-US" sz="1300" dirty="0"/>
          </a:p>
        </p:txBody>
      </p:sp>
      <p:sp>
        <p:nvSpPr>
          <p:cNvPr id="55" name="Text 53"/>
          <p:cNvSpPr txBox="1"/>
          <p:nvPr/>
        </p:nvSpPr>
        <p:spPr>
          <a:xfrm>
            <a:off x="8339328" y="2048256"/>
            <a:ext cx="2706624" cy="493776"/>
          </a:xfrm>
          <a:prstGeom prst="rect">
            <a:avLst/>
          </a:prstGeom>
          <a:noFill/>
          <a:ln/>
        </p:spPr>
        <p:txBody>
          <a:bodyPr wrap="square" lIns="0" tIns="0" rIns="0" bIns="0" rtlCol="0" anchor="t"/>
          <a:lstStyle/>
          <a:p>
            <a:pPr indent="0" marL="0">
              <a:buNone/>
            </a:pPr>
            <a:r>
              <a:rPr lang="en-US" sz="1250" b="1" spc="20" kern="0" dirty="0">
                <a:solidFill>
                  <a:srgbClr val="B23A32"/>
                </a:solidFill>
                <a:latin typeface="Century Schoolbook" pitchFamily="34" charset="0"/>
                <a:ea typeface="Century Schoolbook" pitchFamily="34" charset="-122"/>
                <a:cs typeface="Century Schoolbook" pitchFamily="34" charset="-120"/>
              </a:rPr>
              <a:t>Ce que j'ai appris sur la justification</a:t>
            </a:r>
            <a:endParaRPr lang="en-US" sz="1250" dirty="0"/>
          </a:p>
        </p:txBody>
      </p:sp>
      <p:sp>
        <p:nvSpPr>
          <p:cNvPr id="56" name="Text 54"/>
          <p:cNvSpPr txBox="1"/>
          <p:nvPr/>
        </p:nvSpPr>
        <p:spPr>
          <a:xfrm>
            <a:off x="8339328" y="2633472"/>
            <a:ext cx="2706624" cy="1883664"/>
          </a:xfrm>
          <a:prstGeom prst="rect">
            <a:avLst/>
          </a:prstGeom>
          <a:noFill/>
          <a:ln/>
        </p:spPr>
        <p:txBody>
          <a:bodyPr wrap="square" lIns="0" tIns="0" rIns="0" bIns="0" rtlCol="0" anchor="t"/>
          <a:lstStyle/>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Le « contre-intuitif » est relatif à nous, non au monde : la rotation de la Terre a cessé de l'être.</a:t>
            </a:r>
            <a:endParaRPr lang="en-US" sz="1050" dirty="0"/>
          </a:p>
          <a:p>
            <a:pPr algn="l" indent="0" marL="0">
              <a:lnSpc>
                <a:spcPts val="1400"/>
              </a:lnSpc>
              <a:buNone/>
            </a:pPr>
            <a:endParaRPr lang="en-US" sz="1050" dirty="0"/>
          </a:p>
          <a:p>
            <a:pPr algn="l" indent="0" marL="0">
              <a:lnSpc>
                <a:spcPts val="1400"/>
              </a:lnSpc>
              <a:buNone/>
            </a:pPr>
            <a:r>
              <a:rPr lang="en-US" sz="1050" dirty="0">
                <a:solidFill>
                  <a:srgbClr val="3A3A38"/>
                </a:solidFill>
                <a:latin typeface="Calibri" pitchFamily="34" charset="0"/>
                <a:ea typeface="Calibri" pitchFamily="34" charset="-122"/>
                <a:cs typeface="Calibri" pitchFamily="34" charset="-120"/>
              </a:rPr>
              <a:t>Notre intuition est calibrée pour l'échelle humaine (Kahneman, système 1) ; elle échoue aux échelles quantique, cosmologique et statistique.</a:t>
            </a:r>
            <a:endParaRPr lang="en-US" sz="1050" dirty="0"/>
          </a:p>
        </p:txBody>
      </p:sp>
      <p:sp>
        <p:nvSpPr>
          <p:cNvPr id="57" name="Shape 55"/>
          <p:cNvSpPr/>
          <p:nvPr/>
        </p:nvSpPr>
        <p:spPr>
          <a:xfrm>
            <a:off x="1481328" y="4901184"/>
            <a:ext cx="9857232" cy="1005840"/>
          </a:xfrm>
          <a:prstGeom prst="roundRect">
            <a:avLst>
              <a:gd name="adj" fmla="val 6364"/>
            </a:avLst>
          </a:prstGeom>
          <a:solidFill>
            <a:srgbClr val="FFFCF0"/>
          </a:solidFill>
          <a:ln w="20320">
            <a:solidFill>
              <a:srgbClr val="B23A32"/>
            </a:solidFill>
            <a:prstDash val="solid"/>
          </a:ln>
          <a:effectLst>
            <a:outerShdw sx="100000" sy="100000" kx="0" ky="0" algn="bl" rotWithShape="0" blurRad="88900" dist="25400" dir="5400000">
              <a:srgbClr val="8FAE7E">
                <a:alpha val="30000"/>
              </a:srgbClr>
            </a:outerShdw>
          </a:effectLst>
        </p:spPr>
      </p:sp>
      <p:sp>
        <p:nvSpPr>
          <p:cNvPr id="58" name="Text 56"/>
          <p:cNvSpPr txBox="1"/>
          <p:nvPr/>
        </p:nvSpPr>
        <p:spPr>
          <a:xfrm>
            <a:off x="1847088" y="5047488"/>
            <a:ext cx="9125712" cy="713232"/>
          </a:xfrm>
          <a:prstGeom prst="rect">
            <a:avLst/>
          </a:prstGeom>
          <a:noFill/>
          <a:ln/>
        </p:spPr>
        <p:txBody>
          <a:bodyPr wrap="square" lIns="0" tIns="0" rIns="0" bIns="0" rtlCol="0" anchor="ctr"/>
          <a:lstStyle/>
          <a:p>
            <a:pPr algn="ctr" indent="0" marL="0">
              <a:lnSpc>
                <a:spcPts val="2300"/>
              </a:lnSpc>
              <a:buNone/>
            </a:pPr>
            <a:r>
              <a:rPr lang="en-US" sz="1400" b="1" dirty="0">
                <a:solidFill>
                  <a:srgbClr val="B23A32"/>
                </a:solidFill>
                <a:latin typeface="Century Schoolbook" pitchFamily="34" charset="0"/>
                <a:ea typeface="Century Schoolbook" pitchFamily="34" charset="-122"/>
                <a:cs typeface="Century Schoolbook" pitchFamily="34" charset="-120"/>
              </a:rPr>
              <a:t>Implication : apprendre à connaître, ce n'est pas apprendre à faire confiance à son intuition — c'est apprendre à savoir quand s'en méfier, et selon quelles procédures.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6CE8E"/>
        </a:solidFill>
      </p:bgPr>
    </p:bg>
    <p:spTree>
      <p:nvGrpSpPr>
        <p:cNvPr id="1" name=""/>
        <p:cNvGrpSpPr/>
        <p:nvPr/>
      </p:nvGrpSpPr>
      <p:grpSpPr>
        <a:xfrm>
          <a:off x="0" y="0"/>
          <a:ext cx="0" cy="0"/>
          <a:chOff x="0" y="0"/>
          <a:chExt cx="0" cy="0"/>
        </a:xfrm>
      </p:grpSpPr>
      <p:sp>
        <p:nvSpPr>
          <p:cNvPr id="2" name="Shape 0"/>
          <p:cNvSpPr/>
          <p:nvPr/>
        </p:nvSpPr>
        <p:spPr>
          <a:xfrm>
            <a:off x="566928" y="365760"/>
            <a:ext cx="11064240" cy="6126480"/>
          </a:xfrm>
          <a:prstGeom prst="roundRect">
            <a:avLst>
              <a:gd name="adj" fmla="val 896"/>
            </a:avLst>
          </a:prstGeom>
          <a:solidFill>
            <a:srgbClr val="FCFBF7"/>
          </a:solidFill>
          <a:ln w="9525">
            <a:solidFill>
              <a:srgbClr val="E7E2D6"/>
            </a:solidFill>
            <a:prstDash val="solid"/>
          </a:ln>
          <a:effectLst>
            <a:outerShdw sx="100000" sy="100000" kx="0" ky="0" algn="bl" rotWithShape="0" blurRad="203200" dist="63500" dir="4500000">
              <a:srgbClr val="3F5C2E">
                <a:alpha val="38000"/>
              </a:srgbClr>
            </a:outerShdw>
          </a:effectLst>
        </p:spPr>
      </p:sp>
      <p:sp>
        <p:nvSpPr>
          <p:cNvPr id="3" name="Shape 1"/>
          <p:cNvSpPr/>
          <p:nvPr/>
        </p:nvSpPr>
        <p:spPr>
          <a:xfrm>
            <a:off x="932688" y="914400"/>
            <a:ext cx="10332720" cy="10973"/>
          </a:xfrm>
          <a:prstGeom prst="rect">
            <a:avLst/>
          </a:prstGeom>
          <a:solidFill>
            <a:srgbClr val="E3EBF2"/>
          </a:solidFill>
          <a:ln/>
        </p:spPr>
      </p:sp>
      <p:sp>
        <p:nvSpPr>
          <p:cNvPr id="4" name="Shape 2"/>
          <p:cNvSpPr/>
          <p:nvPr/>
        </p:nvSpPr>
        <p:spPr>
          <a:xfrm>
            <a:off x="932688" y="1280160"/>
            <a:ext cx="10332720" cy="10973"/>
          </a:xfrm>
          <a:prstGeom prst="rect">
            <a:avLst/>
          </a:prstGeom>
          <a:solidFill>
            <a:srgbClr val="E3EBF2"/>
          </a:solidFill>
          <a:ln/>
        </p:spPr>
      </p:sp>
      <p:sp>
        <p:nvSpPr>
          <p:cNvPr id="5" name="Shape 3"/>
          <p:cNvSpPr/>
          <p:nvPr/>
        </p:nvSpPr>
        <p:spPr>
          <a:xfrm>
            <a:off x="932688" y="1645920"/>
            <a:ext cx="10332720" cy="10973"/>
          </a:xfrm>
          <a:prstGeom prst="rect">
            <a:avLst/>
          </a:prstGeom>
          <a:solidFill>
            <a:srgbClr val="E3EBF2"/>
          </a:solidFill>
          <a:ln/>
        </p:spPr>
      </p:sp>
      <p:sp>
        <p:nvSpPr>
          <p:cNvPr id="6" name="Shape 4"/>
          <p:cNvSpPr/>
          <p:nvPr/>
        </p:nvSpPr>
        <p:spPr>
          <a:xfrm>
            <a:off x="932688" y="2011680"/>
            <a:ext cx="10332720" cy="10973"/>
          </a:xfrm>
          <a:prstGeom prst="rect">
            <a:avLst/>
          </a:prstGeom>
          <a:solidFill>
            <a:srgbClr val="E3EBF2"/>
          </a:solidFill>
          <a:ln/>
        </p:spPr>
      </p:sp>
      <p:sp>
        <p:nvSpPr>
          <p:cNvPr id="7" name="Shape 5"/>
          <p:cNvSpPr/>
          <p:nvPr/>
        </p:nvSpPr>
        <p:spPr>
          <a:xfrm>
            <a:off x="932688" y="2377440"/>
            <a:ext cx="10332720" cy="10973"/>
          </a:xfrm>
          <a:prstGeom prst="rect">
            <a:avLst/>
          </a:prstGeom>
          <a:solidFill>
            <a:srgbClr val="E3EBF2"/>
          </a:solidFill>
          <a:ln/>
        </p:spPr>
      </p:sp>
      <p:sp>
        <p:nvSpPr>
          <p:cNvPr id="8" name="Shape 6"/>
          <p:cNvSpPr/>
          <p:nvPr/>
        </p:nvSpPr>
        <p:spPr>
          <a:xfrm>
            <a:off x="932688" y="2743200"/>
            <a:ext cx="10332720" cy="10973"/>
          </a:xfrm>
          <a:prstGeom prst="rect">
            <a:avLst/>
          </a:prstGeom>
          <a:solidFill>
            <a:srgbClr val="E3EBF2"/>
          </a:solidFill>
          <a:ln/>
        </p:spPr>
      </p:sp>
      <p:sp>
        <p:nvSpPr>
          <p:cNvPr id="9" name="Shape 7"/>
          <p:cNvSpPr/>
          <p:nvPr/>
        </p:nvSpPr>
        <p:spPr>
          <a:xfrm>
            <a:off x="932688" y="3108960"/>
            <a:ext cx="10332720" cy="10973"/>
          </a:xfrm>
          <a:prstGeom prst="rect">
            <a:avLst/>
          </a:prstGeom>
          <a:solidFill>
            <a:srgbClr val="E3EBF2"/>
          </a:solidFill>
          <a:ln/>
        </p:spPr>
      </p:sp>
      <p:sp>
        <p:nvSpPr>
          <p:cNvPr id="10" name="Shape 8"/>
          <p:cNvSpPr/>
          <p:nvPr/>
        </p:nvSpPr>
        <p:spPr>
          <a:xfrm>
            <a:off x="932688" y="3474720"/>
            <a:ext cx="10332720" cy="10973"/>
          </a:xfrm>
          <a:prstGeom prst="rect">
            <a:avLst/>
          </a:prstGeom>
          <a:solidFill>
            <a:srgbClr val="E3EBF2"/>
          </a:solidFill>
          <a:ln/>
        </p:spPr>
      </p:sp>
      <p:sp>
        <p:nvSpPr>
          <p:cNvPr id="11" name="Shape 9"/>
          <p:cNvSpPr/>
          <p:nvPr/>
        </p:nvSpPr>
        <p:spPr>
          <a:xfrm>
            <a:off x="932688" y="3840480"/>
            <a:ext cx="10332720" cy="10973"/>
          </a:xfrm>
          <a:prstGeom prst="rect">
            <a:avLst/>
          </a:prstGeom>
          <a:solidFill>
            <a:srgbClr val="E3EBF2"/>
          </a:solidFill>
          <a:ln/>
        </p:spPr>
      </p:sp>
      <p:sp>
        <p:nvSpPr>
          <p:cNvPr id="12" name="Shape 10"/>
          <p:cNvSpPr/>
          <p:nvPr/>
        </p:nvSpPr>
        <p:spPr>
          <a:xfrm>
            <a:off x="932688" y="4206240"/>
            <a:ext cx="10332720" cy="10973"/>
          </a:xfrm>
          <a:prstGeom prst="rect">
            <a:avLst/>
          </a:prstGeom>
          <a:solidFill>
            <a:srgbClr val="E3EBF2"/>
          </a:solidFill>
          <a:ln/>
        </p:spPr>
      </p:sp>
      <p:sp>
        <p:nvSpPr>
          <p:cNvPr id="13" name="Shape 11"/>
          <p:cNvSpPr/>
          <p:nvPr/>
        </p:nvSpPr>
        <p:spPr>
          <a:xfrm>
            <a:off x="932688" y="4572000"/>
            <a:ext cx="10332720" cy="10973"/>
          </a:xfrm>
          <a:prstGeom prst="rect">
            <a:avLst/>
          </a:prstGeom>
          <a:solidFill>
            <a:srgbClr val="E3EBF2"/>
          </a:solidFill>
          <a:ln/>
        </p:spPr>
      </p:sp>
      <p:sp>
        <p:nvSpPr>
          <p:cNvPr id="14" name="Shape 12"/>
          <p:cNvSpPr/>
          <p:nvPr/>
        </p:nvSpPr>
        <p:spPr>
          <a:xfrm>
            <a:off x="932688" y="4937760"/>
            <a:ext cx="10332720" cy="10973"/>
          </a:xfrm>
          <a:prstGeom prst="rect">
            <a:avLst/>
          </a:prstGeom>
          <a:solidFill>
            <a:srgbClr val="E3EBF2"/>
          </a:solidFill>
          <a:ln/>
        </p:spPr>
      </p:sp>
      <p:sp>
        <p:nvSpPr>
          <p:cNvPr id="15" name="Shape 13"/>
          <p:cNvSpPr/>
          <p:nvPr/>
        </p:nvSpPr>
        <p:spPr>
          <a:xfrm>
            <a:off x="932688" y="5303520"/>
            <a:ext cx="10332720" cy="10973"/>
          </a:xfrm>
          <a:prstGeom prst="rect">
            <a:avLst/>
          </a:prstGeom>
          <a:solidFill>
            <a:srgbClr val="E3EBF2"/>
          </a:solidFill>
          <a:ln/>
        </p:spPr>
      </p:sp>
      <p:sp>
        <p:nvSpPr>
          <p:cNvPr id="16" name="Shape 14"/>
          <p:cNvSpPr/>
          <p:nvPr/>
        </p:nvSpPr>
        <p:spPr>
          <a:xfrm>
            <a:off x="932688" y="5669280"/>
            <a:ext cx="10332720" cy="10973"/>
          </a:xfrm>
          <a:prstGeom prst="rect">
            <a:avLst/>
          </a:prstGeom>
          <a:solidFill>
            <a:srgbClr val="E3EBF2"/>
          </a:solidFill>
          <a:ln/>
        </p:spPr>
      </p:sp>
      <p:sp>
        <p:nvSpPr>
          <p:cNvPr id="17" name="Shape 15"/>
          <p:cNvSpPr/>
          <p:nvPr/>
        </p:nvSpPr>
        <p:spPr>
          <a:xfrm>
            <a:off x="932688" y="6035040"/>
            <a:ext cx="10332720" cy="10973"/>
          </a:xfrm>
          <a:prstGeom prst="rect">
            <a:avLst/>
          </a:prstGeom>
          <a:solidFill>
            <a:srgbClr val="E3EBF2"/>
          </a:solidFill>
          <a:ln/>
        </p:spPr>
      </p:sp>
      <p:sp>
        <p:nvSpPr>
          <p:cNvPr id="18" name="Shape 16"/>
          <p:cNvSpPr/>
          <p:nvPr/>
        </p:nvSpPr>
        <p:spPr>
          <a:xfrm>
            <a:off x="1243584" y="475488"/>
            <a:ext cx="13716" cy="5907024"/>
          </a:xfrm>
          <a:prstGeom prst="rect">
            <a:avLst/>
          </a:prstGeom>
          <a:solidFill>
            <a:srgbClr val="EAA9A4"/>
          </a:solidFill>
          <a:ln/>
        </p:spPr>
      </p:sp>
      <p:sp>
        <p:nvSpPr>
          <p:cNvPr id="19" name="Shape 17"/>
          <p:cNvSpPr/>
          <p:nvPr/>
        </p:nvSpPr>
        <p:spPr>
          <a:xfrm>
            <a:off x="1307592" y="475488"/>
            <a:ext cx="13716" cy="5907024"/>
          </a:xfrm>
          <a:prstGeom prst="rect">
            <a:avLst/>
          </a:prstGeom>
          <a:solidFill>
            <a:srgbClr val="EAA9A4"/>
          </a:solidFill>
          <a:ln/>
        </p:spPr>
      </p:sp>
      <p:sp>
        <p:nvSpPr>
          <p:cNvPr id="20" name="Shape 18"/>
          <p:cNvSpPr/>
          <p:nvPr/>
        </p:nvSpPr>
        <p:spPr>
          <a:xfrm>
            <a:off x="274320" y="640080"/>
            <a:ext cx="603504" cy="155448"/>
          </a:xfrm>
          <a:prstGeom prst="roundRect">
            <a:avLst>
              <a:gd name="adj" fmla="val 52941"/>
            </a:avLst>
          </a:prstGeom>
          <a:solidFill>
            <a:srgbClr val="232323"/>
          </a:solidFill>
          <a:ln/>
        </p:spPr>
      </p:sp>
      <p:sp>
        <p:nvSpPr>
          <p:cNvPr id="21" name="Shape 19"/>
          <p:cNvSpPr/>
          <p:nvPr/>
        </p:nvSpPr>
        <p:spPr>
          <a:xfrm>
            <a:off x="365760" y="681228"/>
            <a:ext cx="274320" cy="50292"/>
          </a:xfrm>
          <a:prstGeom prst="roundRect">
            <a:avLst>
              <a:gd name="adj" fmla="val 54545"/>
            </a:avLst>
          </a:prstGeom>
          <a:solidFill>
            <a:srgbClr val="6E6E6E"/>
          </a:solidFill>
          <a:ln/>
        </p:spPr>
      </p:sp>
      <p:sp>
        <p:nvSpPr>
          <p:cNvPr id="22" name="Shape 20"/>
          <p:cNvSpPr/>
          <p:nvPr/>
        </p:nvSpPr>
        <p:spPr>
          <a:xfrm>
            <a:off x="274320" y="1316736"/>
            <a:ext cx="603504" cy="155448"/>
          </a:xfrm>
          <a:prstGeom prst="roundRect">
            <a:avLst>
              <a:gd name="adj" fmla="val 52941"/>
            </a:avLst>
          </a:prstGeom>
          <a:solidFill>
            <a:srgbClr val="232323"/>
          </a:solidFill>
          <a:ln/>
        </p:spPr>
      </p:sp>
      <p:sp>
        <p:nvSpPr>
          <p:cNvPr id="23" name="Shape 21"/>
          <p:cNvSpPr/>
          <p:nvPr/>
        </p:nvSpPr>
        <p:spPr>
          <a:xfrm>
            <a:off x="365760" y="1357884"/>
            <a:ext cx="274320" cy="50292"/>
          </a:xfrm>
          <a:prstGeom prst="roundRect">
            <a:avLst>
              <a:gd name="adj" fmla="val 54545"/>
            </a:avLst>
          </a:prstGeom>
          <a:solidFill>
            <a:srgbClr val="6E6E6E"/>
          </a:solidFill>
          <a:ln/>
        </p:spPr>
      </p:sp>
      <p:sp>
        <p:nvSpPr>
          <p:cNvPr id="24" name="Shape 22"/>
          <p:cNvSpPr/>
          <p:nvPr/>
        </p:nvSpPr>
        <p:spPr>
          <a:xfrm>
            <a:off x="274320" y="1993392"/>
            <a:ext cx="603504" cy="155448"/>
          </a:xfrm>
          <a:prstGeom prst="roundRect">
            <a:avLst>
              <a:gd name="adj" fmla="val 52941"/>
            </a:avLst>
          </a:prstGeom>
          <a:solidFill>
            <a:srgbClr val="232323"/>
          </a:solidFill>
          <a:ln/>
        </p:spPr>
      </p:sp>
      <p:sp>
        <p:nvSpPr>
          <p:cNvPr id="25" name="Shape 23"/>
          <p:cNvSpPr/>
          <p:nvPr/>
        </p:nvSpPr>
        <p:spPr>
          <a:xfrm>
            <a:off x="365760" y="2034540"/>
            <a:ext cx="274320" cy="50292"/>
          </a:xfrm>
          <a:prstGeom prst="roundRect">
            <a:avLst>
              <a:gd name="adj" fmla="val 54545"/>
            </a:avLst>
          </a:prstGeom>
          <a:solidFill>
            <a:srgbClr val="6E6E6E"/>
          </a:solidFill>
          <a:ln/>
        </p:spPr>
      </p:sp>
      <p:sp>
        <p:nvSpPr>
          <p:cNvPr id="26" name="Shape 24"/>
          <p:cNvSpPr/>
          <p:nvPr/>
        </p:nvSpPr>
        <p:spPr>
          <a:xfrm>
            <a:off x="274320" y="2670048"/>
            <a:ext cx="603504" cy="155448"/>
          </a:xfrm>
          <a:prstGeom prst="roundRect">
            <a:avLst>
              <a:gd name="adj" fmla="val 52941"/>
            </a:avLst>
          </a:prstGeom>
          <a:solidFill>
            <a:srgbClr val="232323"/>
          </a:solidFill>
          <a:ln/>
        </p:spPr>
      </p:sp>
      <p:sp>
        <p:nvSpPr>
          <p:cNvPr id="27" name="Shape 25"/>
          <p:cNvSpPr/>
          <p:nvPr/>
        </p:nvSpPr>
        <p:spPr>
          <a:xfrm>
            <a:off x="365760" y="2711196"/>
            <a:ext cx="274320" cy="50292"/>
          </a:xfrm>
          <a:prstGeom prst="roundRect">
            <a:avLst>
              <a:gd name="adj" fmla="val 54545"/>
            </a:avLst>
          </a:prstGeom>
          <a:solidFill>
            <a:srgbClr val="6E6E6E"/>
          </a:solidFill>
          <a:ln/>
        </p:spPr>
      </p:sp>
      <p:sp>
        <p:nvSpPr>
          <p:cNvPr id="28" name="Shape 26"/>
          <p:cNvSpPr/>
          <p:nvPr/>
        </p:nvSpPr>
        <p:spPr>
          <a:xfrm>
            <a:off x="274320" y="3346704"/>
            <a:ext cx="603504" cy="155448"/>
          </a:xfrm>
          <a:prstGeom prst="roundRect">
            <a:avLst>
              <a:gd name="adj" fmla="val 52941"/>
            </a:avLst>
          </a:prstGeom>
          <a:solidFill>
            <a:srgbClr val="232323"/>
          </a:solidFill>
          <a:ln/>
        </p:spPr>
      </p:sp>
      <p:sp>
        <p:nvSpPr>
          <p:cNvPr id="29" name="Shape 27"/>
          <p:cNvSpPr/>
          <p:nvPr/>
        </p:nvSpPr>
        <p:spPr>
          <a:xfrm>
            <a:off x="365760" y="3387852"/>
            <a:ext cx="274320" cy="50292"/>
          </a:xfrm>
          <a:prstGeom prst="roundRect">
            <a:avLst>
              <a:gd name="adj" fmla="val 54545"/>
            </a:avLst>
          </a:prstGeom>
          <a:solidFill>
            <a:srgbClr val="6E6E6E"/>
          </a:solidFill>
          <a:ln/>
        </p:spPr>
      </p:sp>
      <p:sp>
        <p:nvSpPr>
          <p:cNvPr id="30" name="Shape 28"/>
          <p:cNvSpPr/>
          <p:nvPr/>
        </p:nvSpPr>
        <p:spPr>
          <a:xfrm>
            <a:off x="274320" y="4023360"/>
            <a:ext cx="603504" cy="155448"/>
          </a:xfrm>
          <a:prstGeom prst="roundRect">
            <a:avLst>
              <a:gd name="adj" fmla="val 52941"/>
            </a:avLst>
          </a:prstGeom>
          <a:solidFill>
            <a:srgbClr val="232323"/>
          </a:solidFill>
          <a:ln/>
        </p:spPr>
      </p:sp>
      <p:sp>
        <p:nvSpPr>
          <p:cNvPr id="31" name="Shape 29"/>
          <p:cNvSpPr/>
          <p:nvPr/>
        </p:nvSpPr>
        <p:spPr>
          <a:xfrm>
            <a:off x="365760" y="4064508"/>
            <a:ext cx="274320" cy="50292"/>
          </a:xfrm>
          <a:prstGeom prst="roundRect">
            <a:avLst>
              <a:gd name="adj" fmla="val 54545"/>
            </a:avLst>
          </a:prstGeom>
          <a:solidFill>
            <a:srgbClr val="6E6E6E"/>
          </a:solidFill>
          <a:ln/>
        </p:spPr>
      </p:sp>
      <p:sp>
        <p:nvSpPr>
          <p:cNvPr id="32" name="Shape 30"/>
          <p:cNvSpPr/>
          <p:nvPr/>
        </p:nvSpPr>
        <p:spPr>
          <a:xfrm>
            <a:off x="274320" y="4700016"/>
            <a:ext cx="603504" cy="155448"/>
          </a:xfrm>
          <a:prstGeom prst="roundRect">
            <a:avLst>
              <a:gd name="adj" fmla="val 52941"/>
            </a:avLst>
          </a:prstGeom>
          <a:solidFill>
            <a:srgbClr val="232323"/>
          </a:solidFill>
          <a:ln/>
        </p:spPr>
      </p:sp>
      <p:sp>
        <p:nvSpPr>
          <p:cNvPr id="33" name="Shape 31"/>
          <p:cNvSpPr/>
          <p:nvPr/>
        </p:nvSpPr>
        <p:spPr>
          <a:xfrm>
            <a:off x="365760" y="4741164"/>
            <a:ext cx="274320" cy="50292"/>
          </a:xfrm>
          <a:prstGeom prst="roundRect">
            <a:avLst>
              <a:gd name="adj" fmla="val 54545"/>
            </a:avLst>
          </a:prstGeom>
          <a:solidFill>
            <a:srgbClr val="6E6E6E"/>
          </a:solidFill>
          <a:ln/>
        </p:spPr>
      </p:sp>
      <p:sp>
        <p:nvSpPr>
          <p:cNvPr id="34" name="Shape 32"/>
          <p:cNvSpPr/>
          <p:nvPr/>
        </p:nvSpPr>
        <p:spPr>
          <a:xfrm>
            <a:off x="274320" y="5376672"/>
            <a:ext cx="603504" cy="155448"/>
          </a:xfrm>
          <a:prstGeom prst="roundRect">
            <a:avLst>
              <a:gd name="adj" fmla="val 52941"/>
            </a:avLst>
          </a:prstGeom>
          <a:solidFill>
            <a:srgbClr val="232323"/>
          </a:solidFill>
          <a:ln/>
        </p:spPr>
      </p:sp>
      <p:sp>
        <p:nvSpPr>
          <p:cNvPr id="35" name="Shape 33"/>
          <p:cNvSpPr/>
          <p:nvPr/>
        </p:nvSpPr>
        <p:spPr>
          <a:xfrm>
            <a:off x="365760" y="5417820"/>
            <a:ext cx="274320" cy="50292"/>
          </a:xfrm>
          <a:prstGeom prst="roundRect">
            <a:avLst>
              <a:gd name="adj" fmla="val 54545"/>
            </a:avLst>
          </a:prstGeom>
          <a:solidFill>
            <a:srgbClr val="6E6E6E"/>
          </a:solidFill>
          <a:ln/>
        </p:spPr>
      </p:sp>
      <p:sp>
        <p:nvSpPr>
          <p:cNvPr id="36" name="Shape 34"/>
          <p:cNvSpPr/>
          <p:nvPr/>
        </p:nvSpPr>
        <p:spPr>
          <a:xfrm>
            <a:off x="274320" y="6053328"/>
            <a:ext cx="603504" cy="155448"/>
          </a:xfrm>
          <a:prstGeom prst="roundRect">
            <a:avLst>
              <a:gd name="adj" fmla="val 52941"/>
            </a:avLst>
          </a:prstGeom>
          <a:solidFill>
            <a:srgbClr val="232323"/>
          </a:solidFill>
          <a:ln/>
        </p:spPr>
      </p:sp>
      <p:sp>
        <p:nvSpPr>
          <p:cNvPr id="37" name="Shape 35"/>
          <p:cNvSpPr/>
          <p:nvPr/>
        </p:nvSpPr>
        <p:spPr>
          <a:xfrm>
            <a:off x="365760" y="6094476"/>
            <a:ext cx="274320" cy="50292"/>
          </a:xfrm>
          <a:prstGeom prst="roundRect">
            <a:avLst>
              <a:gd name="adj" fmla="val 54545"/>
            </a:avLst>
          </a:prstGeom>
          <a:solidFill>
            <a:srgbClr val="6E6E6E"/>
          </a:solidFill>
          <a:ln/>
        </p:spPr>
      </p:sp>
      <p:sp>
        <p:nvSpPr>
          <p:cNvPr id="38" name="Text 36"/>
          <p:cNvSpPr txBox="1"/>
          <p:nvPr/>
        </p:nvSpPr>
        <p:spPr>
          <a:xfrm>
            <a:off x="9966960" y="6108192"/>
            <a:ext cx="1371600" cy="237744"/>
          </a:xfrm>
          <a:prstGeom prst="rect">
            <a:avLst/>
          </a:prstGeom>
          <a:noFill/>
          <a:ln/>
        </p:spPr>
        <p:txBody>
          <a:bodyPr wrap="square" lIns="0" tIns="0" rIns="0" bIns="0" rtlCol="0" anchor="ctr"/>
          <a:lstStyle/>
          <a:p>
            <a:pPr algn="r" indent="0" marL="0">
              <a:buNone/>
            </a:pPr>
            <a:r>
              <a:rPr lang="en-US" sz="1000" dirty="0">
                <a:solidFill>
                  <a:srgbClr val="7E7E74"/>
                </a:solidFill>
                <a:latin typeface="Courier New" pitchFamily="34" charset="0"/>
                <a:ea typeface="Courier New" pitchFamily="34" charset="-122"/>
                <a:cs typeface="Courier New" pitchFamily="34" charset="-120"/>
              </a:rPr>
              <a:t>10 / 10</a:t>
            </a:r>
            <a:endParaRPr lang="en-US" sz="1000" dirty="0"/>
          </a:p>
        </p:txBody>
      </p:sp>
      <p:sp>
        <p:nvSpPr>
          <p:cNvPr id="39" name="Text 37"/>
          <p:cNvSpPr txBox="1"/>
          <p:nvPr/>
        </p:nvSpPr>
        <p:spPr>
          <a:xfrm>
            <a:off x="1481328" y="475488"/>
            <a:ext cx="7680960" cy="219456"/>
          </a:xfrm>
          <a:prstGeom prst="rect">
            <a:avLst/>
          </a:prstGeom>
          <a:noFill/>
          <a:ln/>
        </p:spPr>
        <p:txBody>
          <a:bodyPr wrap="square" lIns="0" tIns="0" rIns="0" bIns="0" rtlCol="0" anchor="ctr"/>
          <a:lstStyle/>
          <a:p>
            <a:pPr indent="0" marL="0">
              <a:buNone/>
            </a:pPr>
            <a:r>
              <a:rPr lang="en-US" sz="1000" b="1" spc="140" kern="0" dirty="0">
                <a:solidFill>
                  <a:srgbClr val="C25B52"/>
                </a:solidFill>
                <a:latin typeface="Courier New" pitchFamily="34" charset="0"/>
                <a:ea typeface="Courier New" pitchFamily="34" charset="-122"/>
                <a:cs typeface="Courier New" pitchFamily="34" charset="-120"/>
              </a:rPr>
              <a:t>DIAPOSITIVE 10 — SOURCES</a:t>
            </a:r>
            <a:endParaRPr lang="en-US" sz="1000" dirty="0"/>
          </a:p>
        </p:txBody>
      </p:sp>
      <p:sp>
        <p:nvSpPr>
          <p:cNvPr id="40" name="Shape 38"/>
          <p:cNvSpPr/>
          <p:nvPr/>
        </p:nvSpPr>
        <p:spPr>
          <a:xfrm rot="-42000">
            <a:off x="1417320" y="868680"/>
            <a:ext cx="5074920" cy="310896"/>
          </a:xfrm>
          <a:prstGeom prst="rect">
            <a:avLst/>
          </a:prstGeom>
          <a:solidFill>
            <a:srgbClr val="F7C927">
              <a:alpha val="58000"/>
            </a:srgbClr>
          </a:solidFill>
          <a:ln/>
        </p:spPr>
      </p:sp>
      <p:sp>
        <p:nvSpPr>
          <p:cNvPr id="41" name="Text 39"/>
          <p:cNvSpPr txBox="1"/>
          <p:nvPr/>
        </p:nvSpPr>
        <p:spPr>
          <a:xfrm>
            <a:off x="1481328" y="694944"/>
            <a:ext cx="9857232" cy="530352"/>
          </a:xfrm>
          <a:prstGeom prst="rect">
            <a:avLst/>
          </a:prstGeom>
          <a:noFill/>
          <a:ln/>
        </p:spPr>
        <p:txBody>
          <a:bodyPr wrap="square" lIns="0" tIns="0" rIns="0" bIns="0" rtlCol="0" anchor="ctr"/>
          <a:lstStyle/>
          <a:p>
            <a:pPr indent="0" marL="0">
              <a:buNone/>
            </a:pPr>
            <a:r>
              <a:rPr lang="en-US" sz="2600" b="1" spc="30" kern="0" dirty="0">
                <a:solidFill>
                  <a:srgbClr val="B23A32"/>
                </a:solidFill>
                <a:latin typeface="Century Schoolbook" pitchFamily="34" charset="0"/>
                <a:ea typeface="Century Schoolbook" pitchFamily="34" charset="-122"/>
                <a:cs typeface="Century Schoolbook" pitchFamily="34" charset="-120"/>
              </a:rPr>
              <a:t>Sources et ressources utilisées</a:t>
            </a:r>
            <a:endParaRPr lang="en-US" sz="2600" dirty="0"/>
          </a:p>
        </p:txBody>
      </p:sp>
      <p:sp>
        <p:nvSpPr>
          <p:cNvPr id="42" name="Shape 40"/>
          <p:cNvSpPr/>
          <p:nvPr/>
        </p:nvSpPr>
        <p:spPr>
          <a:xfrm>
            <a:off x="1481328" y="1389888"/>
            <a:ext cx="4846320" cy="2139696"/>
          </a:xfrm>
          <a:prstGeom prst="roundRect">
            <a:avLst>
              <a:gd name="adj" fmla="val 2991"/>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3" name="Shape 41"/>
          <p:cNvSpPr/>
          <p:nvPr/>
        </p:nvSpPr>
        <p:spPr>
          <a:xfrm>
            <a:off x="1700784" y="1554480"/>
            <a:ext cx="1554480" cy="256032"/>
          </a:xfrm>
          <a:prstGeom prst="roundRect">
            <a:avLst>
              <a:gd name="adj" fmla="val 17857"/>
            </a:avLst>
          </a:prstGeom>
          <a:solidFill>
            <a:srgbClr val="F5827A"/>
          </a:solidFill>
          <a:ln/>
        </p:spPr>
      </p:sp>
      <p:sp>
        <p:nvSpPr>
          <p:cNvPr id="44" name="Text 42"/>
          <p:cNvSpPr txBox="1"/>
          <p:nvPr/>
        </p:nvSpPr>
        <p:spPr>
          <a:xfrm>
            <a:off x="1700784" y="1554480"/>
            <a:ext cx="1554480" cy="256032"/>
          </a:xfrm>
          <a:prstGeom prst="rect">
            <a:avLst/>
          </a:prstGeom>
          <a:noFill/>
          <a:ln/>
        </p:spPr>
        <p:txBody>
          <a:bodyPr wrap="square" lIns="0" tIns="0" rIns="0" bIns="0" rtlCol="0" anchor="ctr"/>
          <a:lstStyle/>
          <a:p>
            <a:pPr algn="ctr" indent="0" marL="0">
              <a:buNone/>
            </a:pPr>
            <a:r>
              <a:rPr lang="en-US" sz="950" b="1" dirty="0">
                <a:solidFill>
                  <a:srgbClr val="7A2E27"/>
                </a:solidFill>
                <a:latin typeface="Courier New" pitchFamily="34" charset="0"/>
                <a:ea typeface="Courier New" pitchFamily="34" charset="-122"/>
                <a:cs typeface="Courier New" pitchFamily="34" charset="-120"/>
              </a:rPr>
              <a:t>LIVRES</a:t>
            </a:r>
            <a:endParaRPr lang="en-US" sz="950" dirty="0"/>
          </a:p>
        </p:txBody>
      </p:sp>
      <p:sp>
        <p:nvSpPr>
          <p:cNvPr id="45" name="Text 43"/>
          <p:cNvSpPr txBox="1"/>
          <p:nvPr/>
        </p:nvSpPr>
        <p:spPr>
          <a:xfrm>
            <a:off x="1719072" y="1901952"/>
            <a:ext cx="4370832" cy="1463040"/>
          </a:xfrm>
          <a:prstGeom prst="rect">
            <a:avLst/>
          </a:prstGeom>
          <a:noFill/>
          <a:ln/>
        </p:spPr>
        <p:txBody>
          <a:bodyPr wrap="square" lIns="0" tIns="0" rIns="0" bIns="0" rtlCol="0" anchor="ctr"/>
          <a:lstStyle/>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KUHN, T. S., La Structure des révolutions scientifiques, 1962 (trad. fr. Flammarion, 2008).</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POPPER, K., La Logique de la découverte scientifique, 1934 (trad. fr. Payot, 1973).</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KAHNEMAN, D., Système 1 / Système 2 : les deux vitesses de la pensée, Flammarion, 2012.</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NAGEL, E. &amp; NEWMAN, J., Le Théorème de Gödel, Seuil, 1989.</a:t>
            </a:r>
            <a:endParaRPr lang="en-US" sz="1000" dirty="0"/>
          </a:p>
        </p:txBody>
      </p:sp>
      <p:sp>
        <p:nvSpPr>
          <p:cNvPr id="46" name="Shape 44"/>
          <p:cNvSpPr/>
          <p:nvPr/>
        </p:nvSpPr>
        <p:spPr>
          <a:xfrm>
            <a:off x="1481328" y="3840480"/>
            <a:ext cx="4846320" cy="2139696"/>
          </a:xfrm>
          <a:prstGeom prst="roundRect">
            <a:avLst>
              <a:gd name="adj" fmla="val 2991"/>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47" name="Shape 45"/>
          <p:cNvSpPr/>
          <p:nvPr/>
        </p:nvSpPr>
        <p:spPr>
          <a:xfrm>
            <a:off x="1700784" y="4005072"/>
            <a:ext cx="1554480" cy="256032"/>
          </a:xfrm>
          <a:prstGeom prst="roundRect">
            <a:avLst>
              <a:gd name="adj" fmla="val 17857"/>
            </a:avLst>
          </a:prstGeom>
          <a:solidFill>
            <a:srgbClr val="F7C927"/>
          </a:solidFill>
          <a:ln/>
        </p:spPr>
      </p:sp>
      <p:sp>
        <p:nvSpPr>
          <p:cNvPr id="48" name="Text 46"/>
          <p:cNvSpPr txBox="1"/>
          <p:nvPr/>
        </p:nvSpPr>
        <p:spPr>
          <a:xfrm>
            <a:off x="1700784" y="4005072"/>
            <a:ext cx="1554480" cy="256032"/>
          </a:xfrm>
          <a:prstGeom prst="rect">
            <a:avLst/>
          </a:prstGeom>
          <a:noFill/>
          <a:ln/>
        </p:spPr>
        <p:txBody>
          <a:bodyPr wrap="square" lIns="0" tIns="0" rIns="0" bIns="0" rtlCol="0" anchor="ctr"/>
          <a:lstStyle/>
          <a:p>
            <a:pPr algn="ctr" indent="0" marL="0">
              <a:buNone/>
            </a:pPr>
            <a:r>
              <a:rPr lang="en-US" sz="950" b="1" dirty="0">
                <a:solidFill>
                  <a:srgbClr val="6B4A05"/>
                </a:solidFill>
                <a:latin typeface="Courier New" pitchFamily="34" charset="0"/>
                <a:ea typeface="Courier New" pitchFamily="34" charset="-122"/>
                <a:cs typeface="Courier New" pitchFamily="34" charset="-120"/>
              </a:rPr>
              <a:t>SITES</a:t>
            </a:r>
            <a:endParaRPr lang="en-US" sz="950" dirty="0"/>
          </a:p>
        </p:txBody>
      </p:sp>
      <p:sp>
        <p:nvSpPr>
          <p:cNvPr id="49" name="Text 47"/>
          <p:cNvSpPr txBox="1"/>
          <p:nvPr/>
        </p:nvSpPr>
        <p:spPr>
          <a:xfrm>
            <a:off x="1719072" y="4352544"/>
            <a:ext cx="4370832" cy="1463040"/>
          </a:xfrm>
          <a:prstGeom prst="rect">
            <a:avLst/>
          </a:prstGeom>
          <a:noFill/>
          <a:ln/>
        </p:spPr>
        <p:txBody>
          <a:bodyPr wrap="square" lIns="0" tIns="0" rIns="0" bIns="0" rtlCol="0" anchor="ctr"/>
          <a:lstStyle/>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nobelprize.org — prix Nobel de physique 2011 (expansion accélérée) et 2022 (intrication).</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home.cern — communiqué du 8 juin 2012 : correction de la mesure de vitesse des neutrinos (OPERA).</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plato.stanford.edu — « Russell's Paradox », Stanford Encyclopedia of Philosophy.</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ibo.org — Guide de Théorie de la connaissance, Baccalauréat International.</a:t>
            </a:r>
            <a:endParaRPr lang="en-US" sz="1000" dirty="0"/>
          </a:p>
        </p:txBody>
      </p:sp>
      <p:sp>
        <p:nvSpPr>
          <p:cNvPr id="50" name="Shape 48"/>
          <p:cNvSpPr/>
          <p:nvPr/>
        </p:nvSpPr>
        <p:spPr>
          <a:xfrm>
            <a:off x="6675120" y="1389888"/>
            <a:ext cx="4663440" cy="3017520"/>
          </a:xfrm>
          <a:prstGeom prst="roundRect">
            <a:avLst>
              <a:gd name="adj" fmla="val 2121"/>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1" name="Shape 49"/>
          <p:cNvSpPr/>
          <p:nvPr/>
        </p:nvSpPr>
        <p:spPr>
          <a:xfrm>
            <a:off x="6894576" y="1554480"/>
            <a:ext cx="1554480" cy="256032"/>
          </a:xfrm>
          <a:prstGeom prst="roundRect">
            <a:avLst>
              <a:gd name="adj" fmla="val 17857"/>
            </a:avLst>
          </a:prstGeom>
          <a:solidFill>
            <a:srgbClr val="B23A32"/>
          </a:solidFill>
          <a:ln/>
        </p:spPr>
      </p:sp>
      <p:sp>
        <p:nvSpPr>
          <p:cNvPr id="52" name="Text 50"/>
          <p:cNvSpPr txBox="1"/>
          <p:nvPr/>
        </p:nvSpPr>
        <p:spPr>
          <a:xfrm>
            <a:off x="6894576" y="1554480"/>
            <a:ext cx="155448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ARTICLES</a:t>
            </a:r>
            <a:endParaRPr lang="en-US" sz="950" dirty="0"/>
          </a:p>
        </p:txBody>
      </p:sp>
      <p:sp>
        <p:nvSpPr>
          <p:cNvPr id="53" name="Text 51"/>
          <p:cNvSpPr txBox="1"/>
          <p:nvPr/>
        </p:nvSpPr>
        <p:spPr>
          <a:xfrm>
            <a:off x="6912864" y="1901952"/>
            <a:ext cx="4187952" cy="2340864"/>
          </a:xfrm>
          <a:prstGeom prst="rect">
            <a:avLst/>
          </a:prstGeom>
          <a:noFill/>
          <a:ln/>
        </p:spPr>
        <p:txBody>
          <a:bodyPr wrap="square" lIns="0" tIns="0" rIns="0" bIns="0" rtlCol="0" anchor="ctr"/>
          <a:lstStyle/>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RIESS, A. et al., « Observational Evidence from Supernovae for an Accelerating Universe », The Astronomical Journal, 116(3), 1998, p. 1009-1038.</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PERLMUTTER, S. et al., « Measurements of Ω and Λ from 42 High-Redshift Supernovae », The Astrophysical Journal, 517(2), 1999, p. 565-586.</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OPERA Collaboration, « Measurement of the neutrino velocity with the OPERA detector », arXiv:1109.4897, version corrigée, 2012.</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GÖDEL, K., « Über formal unentscheidbare Sätze der Principia Mathematica und verwandter Systeme I », Monatshefte für Mathematik und Physik, 38, 1931.</a:t>
            </a:r>
            <a:endParaRPr lang="en-US" sz="1000" dirty="0"/>
          </a:p>
        </p:txBody>
      </p:sp>
      <p:sp>
        <p:nvSpPr>
          <p:cNvPr id="54" name="Shape 52"/>
          <p:cNvSpPr/>
          <p:nvPr/>
        </p:nvSpPr>
        <p:spPr>
          <a:xfrm>
            <a:off x="6675120" y="4590288"/>
            <a:ext cx="4663440" cy="1389888"/>
          </a:xfrm>
          <a:prstGeom prst="roundRect">
            <a:avLst>
              <a:gd name="adj" fmla="val 4605"/>
            </a:avLst>
          </a:prstGeom>
          <a:solidFill>
            <a:srgbClr val="FFFFFF"/>
          </a:solidFill>
          <a:ln w="15875">
            <a:solidFill>
              <a:srgbClr val="E8CFA8"/>
            </a:solidFill>
            <a:prstDash val="solid"/>
          </a:ln>
          <a:effectLst>
            <a:outerShdw sx="100000" sy="100000" kx="0" ky="0" algn="bl" rotWithShape="0" blurRad="88900" dist="25400" dir="5400000">
              <a:srgbClr val="8FAE7E">
                <a:alpha val="30000"/>
              </a:srgbClr>
            </a:outerShdw>
          </a:effectLst>
        </p:spPr>
      </p:sp>
      <p:sp>
        <p:nvSpPr>
          <p:cNvPr id="55" name="Shape 53"/>
          <p:cNvSpPr/>
          <p:nvPr/>
        </p:nvSpPr>
        <p:spPr>
          <a:xfrm>
            <a:off x="6894576" y="4754880"/>
            <a:ext cx="1554480" cy="256032"/>
          </a:xfrm>
          <a:prstGeom prst="roundRect">
            <a:avLst>
              <a:gd name="adj" fmla="val 17857"/>
            </a:avLst>
          </a:prstGeom>
          <a:solidFill>
            <a:srgbClr val="F5827A"/>
          </a:solidFill>
          <a:ln/>
        </p:spPr>
      </p:sp>
      <p:sp>
        <p:nvSpPr>
          <p:cNvPr id="56" name="Text 54"/>
          <p:cNvSpPr txBox="1"/>
          <p:nvPr/>
        </p:nvSpPr>
        <p:spPr>
          <a:xfrm>
            <a:off x="6894576" y="4754880"/>
            <a:ext cx="1554480" cy="256032"/>
          </a:xfrm>
          <a:prstGeom prst="rect">
            <a:avLst/>
          </a:prstGeom>
          <a:noFill/>
          <a:ln/>
        </p:spPr>
        <p:txBody>
          <a:bodyPr wrap="square" lIns="0" tIns="0" rIns="0" bIns="0" rtlCol="0" anchor="ctr"/>
          <a:lstStyle/>
          <a:p>
            <a:pPr algn="ctr" indent="0" marL="0">
              <a:buNone/>
            </a:pPr>
            <a:r>
              <a:rPr lang="en-US" sz="950" b="1" dirty="0">
                <a:solidFill>
                  <a:srgbClr val="7A2E27"/>
                </a:solidFill>
                <a:latin typeface="Courier New" pitchFamily="34" charset="0"/>
                <a:ea typeface="Courier New" pitchFamily="34" charset="-122"/>
                <a:cs typeface="Courier New" pitchFamily="34" charset="-120"/>
              </a:rPr>
              <a:t>IMAGES</a:t>
            </a:r>
            <a:endParaRPr lang="en-US" sz="950" dirty="0"/>
          </a:p>
        </p:txBody>
      </p:sp>
      <p:sp>
        <p:nvSpPr>
          <p:cNvPr id="57" name="Text 55"/>
          <p:cNvSpPr txBox="1"/>
          <p:nvPr/>
        </p:nvSpPr>
        <p:spPr>
          <a:xfrm>
            <a:off x="6912864" y="5102352"/>
            <a:ext cx="4187952" cy="713232"/>
          </a:xfrm>
          <a:prstGeom prst="rect">
            <a:avLst/>
          </a:prstGeom>
          <a:noFill/>
          <a:ln/>
        </p:spPr>
        <p:txBody>
          <a:bodyPr wrap="square" lIns="0" tIns="0" rIns="0" bIns="0" rtlCol="0" anchor="ctr"/>
          <a:lstStyle/>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Charte graphique inspirée du modèle « Notebook Lesson », Slidesgo / Freepik.</a:t>
            </a:r>
            <a:endParaRPr lang="en-US" sz="1000" dirty="0"/>
          </a:p>
          <a:p>
            <a:pPr marL="342900" indent="-342900">
              <a:lnSpc>
                <a:spcPts val="1250"/>
              </a:lnSpc>
              <a:spcAft>
                <a:spcPts val="500"/>
              </a:spcAft>
              <a:buSzPct val="100000"/>
              <a:buChar char="•"/>
            </a:pPr>
            <a:r>
              <a:rPr lang="en-US" sz="1000" dirty="0">
                <a:solidFill>
                  <a:srgbClr val="3A3A38"/>
                </a:solidFill>
                <a:latin typeface="Calibri" pitchFamily="34" charset="0"/>
                <a:ea typeface="Calibri" pitchFamily="34" charset="-122"/>
                <a:cs typeface="Calibri" pitchFamily="34" charset="-120"/>
              </a:rPr>
              <a:t>Mise en page et composition : réalisation personnelle. Sites consultés en septembre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Penser contre l'intuition</dc:title>
  <dc:subject>PptxGenJS Presentation</dc:subject>
  <dc:creator>TdC</dc:creator>
  <cp:lastModifiedBy>TdC</cp:lastModifiedBy>
  <cp:revision>1</cp:revision>
  <dcterms:created xsi:type="dcterms:W3CDTF">2026-09-15T07:01:58Z</dcterms:created>
  <dcterms:modified xsi:type="dcterms:W3CDTF">2026-09-15T07:01:58Z</dcterms:modified>
</cp:coreProperties>
</file>