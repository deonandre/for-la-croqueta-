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83080"/>
            <a:ext cx="411480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8016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 DIPLOMA PROGRAMME · ECONOMICS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39496" y="1737360"/>
            <a:ext cx="7086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 Growth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72491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Macroeconomics · Standard &amp; Higher Level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2461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FE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study deck — diagrams, worked examples, exercises and real exam practice, built to give you a solid understanding fast.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2805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66928" y="42062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505456" y="42062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2805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505456" y="42062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443984" y="420624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2805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43984" y="42062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practice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29200"/>
            <a:ext cx="6492240" cy="603504"/>
          </a:xfrm>
          <a:prstGeom prst="roundRect">
            <a:avLst>
              <a:gd name="adj" fmla="val 15152"/>
            </a:avLst>
          </a:prstGeom>
          <a:solidFill>
            <a:srgbClr val="123E30"/>
          </a:solidFill>
          <a:ln w="12700">
            <a:solidFill>
              <a:srgbClr val="1C6B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" y="5029200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Tip:  </a:t>
            </a:r>
            <a:pPr indent="0" marL="0">
              <a:buNone/>
            </a:pPr>
            <a:r>
              <a:rPr lang="en-US" sz="120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in Slide Show mode — click to reveal answers and watch the diagrams shift.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DECK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master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EAF7F0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691640"/>
            <a:ext cx="548640" cy="54864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5" y="1839773"/>
            <a:ext cx="252374" cy="2523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38967" y="16642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BE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35608" y="1572768"/>
            <a:ext cx="94119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&amp; measure growth 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GDP, real GDP per capita, and why "real" matters.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66928" y="2487168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F4F9F6"/>
          </a:solidFill>
          <a:ln/>
        </p:spPr>
      </p:sp>
      <p:sp>
        <p:nvSpPr>
          <p:cNvPr id="10" name="Shape 7"/>
          <p:cNvSpPr/>
          <p:nvPr/>
        </p:nvSpPr>
        <p:spPr>
          <a:xfrm>
            <a:off x="713232" y="2606040"/>
            <a:ext cx="548640" cy="54864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275417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38967" y="25786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BE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1435608" y="2487168"/>
            <a:ext cx="94119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growth on diagrams 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PPC and the AD–AS model (short run vs long run).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66928" y="3401568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EAF7F0"/>
          </a:solidFill>
          <a:ln/>
        </p:spPr>
      </p:sp>
      <p:sp>
        <p:nvSpPr>
          <p:cNvPr id="15" name="Shape 11"/>
          <p:cNvSpPr/>
          <p:nvPr/>
        </p:nvSpPr>
        <p:spPr>
          <a:xfrm>
            <a:off x="713232" y="3520440"/>
            <a:ext cx="548640" cy="54864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5" y="366857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938967" y="34930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BE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1435608" y="3401568"/>
            <a:ext cx="94119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factors of production and better productivity.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566928" y="4315968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F4F9F6"/>
          </a:solidFill>
          <a:ln/>
        </p:spPr>
      </p:sp>
      <p:sp>
        <p:nvSpPr>
          <p:cNvPr id="20" name="Shape 15"/>
          <p:cNvSpPr/>
          <p:nvPr/>
        </p:nvSpPr>
        <p:spPr>
          <a:xfrm>
            <a:off x="713232" y="4434840"/>
            <a:ext cx="548640" cy="54864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365" y="458297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38967" y="44074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BE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1435608" y="4315968"/>
            <a:ext cx="94119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consequences 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standards, inequality, the environment &amp; sustainability.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566928" y="5230368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EAF7F0"/>
          </a:solidFill>
          <a:ln/>
        </p:spPr>
      </p:sp>
      <p:sp>
        <p:nvSpPr>
          <p:cNvPr id="25" name="Shape 19"/>
          <p:cNvSpPr/>
          <p:nvPr/>
        </p:nvSpPr>
        <p:spPr>
          <a:xfrm>
            <a:off x="713232" y="5349240"/>
            <a:ext cx="548640" cy="54864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5" y="549737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938967" y="53218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BE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8" name="Text 21"/>
          <p:cNvSpPr txBox="1"/>
          <p:nvPr/>
        </p:nvSpPr>
        <p:spPr>
          <a:xfrm>
            <a:off x="1435608" y="5230368"/>
            <a:ext cx="94119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&amp; sit the exam   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Growth-rate calculations plus Paper 1 exam-style questions.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3703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economic growth is — and how we measure it.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378440" y="2468880"/>
            <a:ext cx="1280160" cy="128016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3" y="2814523"/>
            <a:ext cx="588874" cy="58887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economic growth?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6537960" cy="1371600"/>
          </a:xfrm>
          <a:prstGeom prst="roundRect">
            <a:avLst>
              <a:gd name="adj" fmla="val 6667"/>
            </a:avLst>
          </a:prstGeom>
          <a:solidFill>
            <a:srgbClr val="0E3D2E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16002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 = 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increase in the </a:t>
            </a:r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(real GDP)</a:t>
            </a:r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 economy over a period of time.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24612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as the % change in real GDP from one year to the next.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per capita (real GDP ÷ population) better reflects average living standards.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“Real” strips out inflation, so we compare volumes of output, not just higher prices.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the key macroeconomic objectives, alongside low unemployment, low inflation and equity.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06640" y="1600200"/>
            <a:ext cx="4218127" cy="3703320"/>
          </a:xfrm>
          <a:prstGeom prst="roundRect">
            <a:avLst>
              <a:gd name="adj" fmla="val 2469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80960" y="1874520"/>
            <a:ext cx="640080" cy="64008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3782" y="204734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58200" y="19385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699248" y="2697480"/>
            <a:ext cx="3834079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— output valued at constant (base-year) prices.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GDP — output at current prices (inflation-distorted).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per capita — GDP ÷ population.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of growth — annual % change in real GDP.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vs nominal GDP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00320" cy="2697480"/>
          </a:xfrm>
          <a:prstGeom prst="roundRect">
            <a:avLst>
              <a:gd name="adj" fmla="val 3390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47088"/>
            <a:ext cx="731520" cy="731520"/>
          </a:xfrm>
          <a:prstGeom prst="ellipse">
            <a:avLst/>
          </a:prstGeom>
          <a:solidFill>
            <a:srgbClr val="5B6F6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758" y="2044598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670048"/>
            <a:ext cx="475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GDP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3145536"/>
            <a:ext cx="47333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current (this year’s) prices.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when prices rise — even if no extra goods are made.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overstate real progress during inflation.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4448" y="1572768"/>
            <a:ext cx="5300320" cy="2697480"/>
          </a:xfrm>
          <a:prstGeom prst="roundRect">
            <a:avLst>
              <a:gd name="adj" fmla="val 3390"/>
            </a:avLst>
          </a:prstGeom>
          <a:solidFill>
            <a:srgbClr val="0E3D2E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98768" y="1847088"/>
            <a:ext cx="731520" cy="73152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278" y="2044598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98768" y="2670048"/>
            <a:ext cx="475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17056" y="3145536"/>
            <a:ext cx="47333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constant (base-year) prices.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out inflation — shows the true change in volume.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measure of economic growth.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407408"/>
            <a:ext cx="11057839" cy="822960"/>
          </a:xfrm>
          <a:prstGeom prst="roundRect">
            <a:avLst>
              <a:gd name="adj" fmla="val 10000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544568"/>
            <a:ext cx="548640" cy="54864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4692701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81328" y="4407408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Convert:   </a:t>
            </a:r>
            <a:pPr indent="0" marL="0"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 =  ( Nominal GDP  ÷  GDP deflator )  × 100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66928" y="5394960"/>
            <a:ext cx="11057839" cy="914400"/>
          </a:xfrm>
          <a:prstGeom prst="roundRect">
            <a:avLst>
              <a:gd name="adj" fmla="val 9000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1389888" y="55046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FURTHER  </a:t>
            </a:r>
            <a:pPr indent="0" marL="0">
              <a:buNone/>
            </a:pPr>
            <a:r>
              <a:rPr lang="en-US" sz="1100" i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your knowledge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389888" y="5779008"/>
            <a:ext cx="100062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about the difference between the GDP deflator and the CPI, and why economists prefer chained/real measures for comparisons over time.</a:t>
            </a:r>
            <a:endParaRPr lang="en-US" sz="12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566928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potential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300320" cy="3063240"/>
          </a:xfrm>
          <a:prstGeom prst="roundRect">
            <a:avLst>
              <a:gd name="adj" fmla="val 2985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777240" cy="77724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815" y="2093519"/>
            <a:ext cx="357530" cy="3575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83664"/>
            <a:ext cx="390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growth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971800"/>
            <a:ext cx="4751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increase in output happening now.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up spare / idle capacity (e.g. re-employing workers).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cyclical — the short-run upswing of the business cycle.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a negative output gap.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24448" y="1645920"/>
            <a:ext cx="5300320" cy="3063240"/>
          </a:xfrm>
          <a:prstGeom prst="roundRect">
            <a:avLst>
              <a:gd name="adj" fmla="val 2985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0480" y="1883664"/>
            <a:ext cx="777240" cy="77724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334" y="2093519"/>
            <a:ext cx="357530" cy="3575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0600" y="1883664"/>
            <a:ext cx="390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growth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98768" y="2971800"/>
            <a:ext cx="4751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increase in the economy’s productive capacity.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it can sustainably produce at full employment.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 — more or better factors of production.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the frontier (PPC / LRAS) outward.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66928" y="4937760"/>
            <a:ext cx="11057839" cy="658368"/>
          </a:xfrm>
          <a:prstGeom prst="roundRect">
            <a:avLst>
              <a:gd name="adj" fmla="val 12500"/>
            </a:avLst>
          </a:prstGeom>
          <a:solidFill>
            <a:srgbClr val="0E3D2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41248" y="4937760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 </a:t>
            </a:r>
            <a:pPr indent="0" marL="0">
              <a:buNone/>
            </a:pPr>
            <a:r>
              <a:rPr lang="en-US" sz="1350" dirty="0">
                <a:solidFill>
                  <a:srgbClr val="E5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an output gap = actual growth · expanding the capacity ceiling = potential growth.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&amp; the business cycle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417320"/>
            <a:ext cx="7040880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52360" y="1691640"/>
            <a:ext cx="417240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the upward long-run trend in real GDP.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cycle is the short-run fluctuation around that trend.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 → recession → trough → recovery, then repeat.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C43D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Recession = two consecutive quarters of negative real GDP growth.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452360" y="4617720"/>
            <a:ext cx="4172407" cy="1143000"/>
          </a:xfrm>
          <a:prstGeom prst="roundRect">
            <a:avLst>
              <a:gd name="adj" fmla="val 7200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75320" y="4727448"/>
            <a:ext cx="31665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FURTHER  </a:t>
            </a:r>
            <a:pPr indent="0" marL="0">
              <a:buNone/>
            </a:pPr>
            <a:r>
              <a:rPr lang="en-US" sz="1100" i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your knowledge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5001768"/>
            <a:ext cx="31208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output gaps (positive vs negative) and leading economic indicators used to forecast the cycle.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104" y="489204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on a Diagram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3703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growth with the PPC and AD–AS.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378440" y="2468880"/>
            <a:ext cx="1280160" cy="128016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3" y="2814523"/>
            <a:ext cx="588874" cy="58887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DIAGRAMS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on the PPC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371600"/>
            <a:ext cx="6309360" cy="4572000"/>
          </a:xfrm>
          <a:prstGeom prst="rect">
            <a:avLst/>
          </a:prstGeom>
        </p:spPr>
      </p:pic>
      <p:pic>
        <p:nvPicPr>
          <p:cNvPr id="7" name="s9_o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71600"/>
            <a:ext cx="6309360" cy="45720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20840" y="1481328"/>
            <a:ext cx="4903927" cy="1828800"/>
          </a:xfrm>
          <a:prstGeom prst="roundRect">
            <a:avLst>
              <a:gd name="adj" fmla="val 5000"/>
            </a:avLst>
          </a:prstGeom>
          <a:solidFill>
            <a:srgbClr val="FBEDC6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976872" y="1719072"/>
            <a:ext cx="640080" cy="64008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9694" y="1891894"/>
            <a:ext cx="294437" cy="29443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99832" y="1719072"/>
            <a:ext cx="3642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growth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2468880"/>
            <a:ext cx="43552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a point inside the PPC (A) onto the curve (B) — using previously idle resources. The curve does not shift.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720840" y="3456432"/>
            <a:ext cx="4903927" cy="1828800"/>
          </a:xfrm>
          <a:prstGeom prst="roundRect">
            <a:avLst>
              <a:gd name="adj" fmla="val 5000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976872" y="3694176"/>
            <a:ext cx="640080" cy="64008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94" y="3866998"/>
            <a:ext cx="294437" cy="29443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799832" y="3694176"/>
            <a:ext cx="3642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growth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6995160" y="4443984"/>
            <a:ext cx="43552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PPC shifts outward (PPC₁ → PPC₂) — more or better factors of production raise capacity.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DIAGRAMS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AD–AS: actual (short-run)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371600"/>
            <a:ext cx="6309360" cy="4572000"/>
          </a:xfrm>
          <a:prstGeom prst="rect">
            <a:avLst/>
          </a:prstGeom>
        </p:spPr>
      </p:pic>
      <p:pic>
        <p:nvPicPr>
          <p:cNvPr id="7" name="s10_o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71600"/>
            <a:ext cx="6309360" cy="4572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720840" y="1600200"/>
            <a:ext cx="4903927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rise in aggregate demand (AD₁ → AD₂) raises real GDP in the short run.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Drivers: consumption (C), investment (I), government (G) or net exports (X−M).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C43D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note: the price level also rises (PL₁ → PL₂) — inflation risk as you near full capacity (Yf).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720840" y="4160520"/>
            <a:ext cx="4903927" cy="1051560"/>
          </a:xfrm>
          <a:prstGeom prst="roundRect">
            <a:avLst>
              <a:gd name="adj" fmla="val 7826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43800" y="427024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FURTHER  </a:t>
            </a:r>
            <a:pPr indent="0" marL="0">
              <a:buNone/>
            </a:pPr>
            <a:r>
              <a:rPr lang="en-US" sz="1100" i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your knowledge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543800" y="4544568"/>
            <a:ext cx="38523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demand-side growth. Compare it with supply-side (LRAS) growth on the next slide.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84" y="4434840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DIAGRAMS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AD–AS: potential (long-run)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371600"/>
            <a:ext cx="6309360" cy="4572000"/>
          </a:xfrm>
          <a:prstGeom prst="rect">
            <a:avLst/>
          </a:prstGeom>
        </p:spPr>
      </p:pic>
      <p:pic>
        <p:nvPicPr>
          <p:cNvPr id="7" name="s11_o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71600"/>
            <a:ext cx="6309360" cy="4572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720840" y="1600200"/>
            <a:ext cx="4903927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growth = a rightward shift of LRAS (LRAS₁ → LRAS₂).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more / better factors of production and higher productivity.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Full-capacity output rises with no inflationary pressure — this is sustainable growth.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720840" y="4160520"/>
            <a:ext cx="4903927" cy="1234440"/>
          </a:xfrm>
          <a:prstGeom prst="roundRect">
            <a:avLst>
              <a:gd name="adj" fmla="val 6667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43800" y="427024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FURTHER  </a:t>
            </a:r>
            <a:pPr indent="0" marL="0">
              <a:buNone/>
            </a:pPr>
            <a:r>
              <a:rPr lang="en-US" sz="1100" i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your knowledge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543800" y="4544568"/>
            <a:ext cx="38523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Monetarist/New-Classical vertical LRAS with the Keynesian AS model, where the vertical (full-employment) section shifts right.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84" y="4434840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DIAGRAMS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turn: read the diagram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1057839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1955902"/>
            <a:ext cx="294437" cy="2944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18488" y="1554480"/>
            <a:ext cx="973195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Question. 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reopens idle factories, putting unemployed workers back to work. (a) Is this actual or potential growth?  (b) How is it shown on a PPC?</a:t>
            </a:r>
            <a:endParaRPr lang="en-US" sz="1550" dirty="0"/>
          </a:p>
        </p:txBody>
      </p:sp>
      <p:sp>
        <p:nvSpPr>
          <p:cNvPr id="10" name="s12_bg"/>
          <p:cNvSpPr/>
          <p:nvPr/>
        </p:nvSpPr>
        <p:spPr>
          <a:xfrm>
            <a:off x="566928" y="3246120"/>
            <a:ext cx="11057839" cy="2468880"/>
          </a:xfrm>
          <a:prstGeom prst="roundRect">
            <a:avLst>
              <a:gd name="adj" fmla="val 3704"/>
            </a:avLst>
          </a:prstGeom>
          <a:solidFill>
            <a:srgbClr val="FBEDC6"/>
          </a:solidFill>
          <a:ln w="15875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1" name="s12_ic"/>
          <p:cNvSpPr/>
          <p:nvPr/>
        </p:nvSpPr>
        <p:spPr>
          <a:xfrm>
            <a:off x="822960" y="3483864"/>
            <a:ext cx="640080" cy="64008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2" name="s12_im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782" y="3656686"/>
            <a:ext cx="294437" cy="294437"/>
          </a:xfrm>
          <a:prstGeom prst="rect">
            <a:avLst/>
          </a:prstGeom>
        </p:spPr>
      </p:pic>
      <p:sp>
        <p:nvSpPr>
          <p:cNvPr id="13" name="s12_hd"/>
          <p:cNvSpPr txBox="1"/>
          <p:nvPr/>
        </p:nvSpPr>
        <p:spPr>
          <a:xfrm>
            <a:off x="1618488" y="35021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answer</a:t>
            </a:r>
            <a:endParaRPr lang="en-US" sz="1600" dirty="0"/>
          </a:p>
        </p:txBody>
      </p:sp>
      <p:sp>
        <p:nvSpPr>
          <p:cNvPr id="14" name="s12_tx"/>
          <p:cNvSpPr txBox="1"/>
          <p:nvPr/>
        </p:nvSpPr>
        <p:spPr>
          <a:xfrm>
            <a:off x="1618488" y="3977640"/>
            <a:ext cx="968623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Actual growth. </a:t>
            </a:r>
            <a:endParaRPr lang="en-US" sz="140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capacity is being used — the economy moves toward its existing frontier, it does not expand it.</a:t>
            </a:r>
            <a:endParaRPr lang="en-US" sz="14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 movement from a point inside the PPC to a point on the curve.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PPC itself does not shift (that would be potential growth).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Causes Growth?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3703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engines behind more — and better — output.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378440" y="2468880"/>
            <a:ext cx="1280160" cy="128016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3" y="2814523"/>
            <a:ext cx="588874" cy="58887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CAUSES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1 — more factors of production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the QUANTITY of resources shifts the PPC / LRAS outward.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082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33" y="2213397"/>
            <a:ext cx="328087" cy="328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02082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4378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natural resources — e.g. discovering oil, gas or mineral reserves.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78728" y="178308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02082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7332" y="2213397"/>
            <a:ext cx="328087" cy="328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30872" y="202082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53048" y="284378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workforce — population growth, immigration, higher participation.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" y="402336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26110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533" y="4453677"/>
            <a:ext cx="328087" cy="32808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19072" y="426110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" y="508406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machines, factories and infrastructure.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78728" y="402336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4760" y="426110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7332" y="4453677"/>
            <a:ext cx="328087" cy="32808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30872" y="426110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553048" y="508406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entrepreneurs combining resources and taking risks.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CAUSES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2 — more productive factors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the QUALITY of resources raises productivity (output per worker) — the engine of long-run growth.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0824"/>
            <a:ext cx="713232" cy="713232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33" y="2213397"/>
            <a:ext cx="328087" cy="328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02082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capital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4378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Education, training and better health raise worker productivity.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78728" y="178308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020824"/>
            <a:ext cx="713232" cy="713232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7332" y="2213397"/>
            <a:ext cx="328087" cy="328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30872" y="202082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53048" y="284378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and automation let the same inputs produce more.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" y="402336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261104"/>
            <a:ext cx="713232" cy="713232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533" y="4453677"/>
            <a:ext cx="328087" cy="32808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19072" y="426110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" y="508406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rights, rule of law and stability encourage investment.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78728" y="402336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4760" y="4261104"/>
            <a:ext cx="713232" cy="713232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7332" y="4453677"/>
            <a:ext cx="328087" cy="32808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30872" y="426110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(key)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553048" y="508406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both the quantity AND quality of capital — a double driver.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CAUSES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turn: sort the cause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71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each a QUANTITY of factors or a QUALITY / productivity improvement? (Answers appear on click.)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704088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7452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3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baby-boom generation enters the workforce</a:t>
            </a:r>
            <a:endParaRPr lang="en-US" sz="1350" dirty="0"/>
          </a:p>
        </p:txBody>
      </p:sp>
      <p:sp>
        <p:nvSpPr>
          <p:cNvPr id="9" name="s16_0_bg"/>
          <p:cNvSpPr/>
          <p:nvPr/>
        </p:nvSpPr>
        <p:spPr>
          <a:xfrm>
            <a:off x="7790688" y="1874520"/>
            <a:ext cx="3834079" cy="658368"/>
          </a:xfrm>
          <a:prstGeom prst="roundRect">
            <a:avLst>
              <a:gd name="adj" fmla="val 9722"/>
            </a:avLst>
          </a:prstGeom>
          <a:solidFill>
            <a:srgbClr val="EAF7F0"/>
          </a:solidFill>
          <a:ln w="15875">
            <a:solidFill>
              <a:srgbClr val="12805C"/>
            </a:solidFill>
            <a:prstDash val="solid"/>
          </a:ln>
        </p:spPr>
      </p:sp>
      <p:sp>
        <p:nvSpPr>
          <p:cNvPr id="10" name="s16_0_tx"/>
          <p:cNvSpPr txBox="1"/>
          <p:nvPr/>
        </p:nvSpPr>
        <p:spPr>
          <a:xfrm>
            <a:off x="7790688" y="1874520"/>
            <a:ext cx="3834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— Labour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624328"/>
            <a:ext cx="704088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62432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3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 free-vaccination programme</a:t>
            </a:r>
            <a:endParaRPr lang="en-US" sz="1350" dirty="0"/>
          </a:p>
        </p:txBody>
      </p:sp>
      <p:sp>
        <p:nvSpPr>
          <p:cNvPr id="13" name="s16_1_bg"/>
          <p:cNvSpPr/>
          <p:nvPr/>
        </p:nvSpPr>
        <p:spPr>
          <a:xfrm>
            <a:off x="7790688" y="2624328"/>
            <a:ext cx="3834079" cy="658368"/>
          </a:xfrm>
          <a:prstGeom prst="roundRect">
            <a:avLst>
              <a:gd name="adj" fmla="val 9722"/>
            </a:avLst>
          </a:prstGeom>
          <a:solidFill>
            <a:srgbClr val="FBEDC6"/>
          </a:solidFill>
          <a:ln w="15875">
            <a:solidFill>
              <a:srgbClr val="E0A100"/>
            </a:solidFill>
            <a:prstDash val="solid"/>
          </a:ln>
        </p:spPr>
      </p:sp>
      <p:sp>
        <p:nvSpPr>
          <p:cNvPr id="14" name="s16_1_tx"/>
          <p:cNvSpPr txBox="1"/>
          <p:nvPr/>
        </p:nvSpPr>
        <p:spPr>
          <a:xfrm>
            <a:off x="7790688" y="2624328"/>
            <a:ext cx="3834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Human capital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374136"/>
            <a:ext cx="704088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37413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3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AI software raises output per worker</a:t>
            </a:r>
            <a:endParaRPr lang="en-US" sz="1350" dirty="0"/>
          </a:p>
        </p:txBody>
      </p:sp>
      <p:sp>
        <p:nvSpPr>
          <p:cNvPr id="17" name="s16_2_bg"/>
          <p:cNvSpPr/>
          <p:nvPr/>
        </p:nvSpPr>
        <p:spPr>
          <a:xfrm>
            <a:off x="7790688" y="3374136"/>
            <a:ext cx="3834079" cy="658368"/>
          </a:xfrm>
          <a:prstGeom prst="roundRect">
            <a:avLst>
              <a:gd name="adj" fmla="val 9722"/>
            </a:avLst>
          </a:prstGeom>
          <a:solidFill>
            <a:srgbClr val="FBEDC6"/>
          </a:solidFill>
          <a:ln w="15875">
            <a:solidFill>
              <a:srgbClr val="E0A100"/>
            </a:solidFill>
            <a:prstDash val="solid"/>
          </a:ln>
        </p:spPr>
      </p:sp>
      <p:sp>
        <p:nvSpPr>
          <p:cNvPr id="18" name="s16_2_tx"/>
          <p:cNvSpPr txBox="1"/>
          <p:nvPr/>
        </p:nvSpPr>
        <p:spPr>
          <a:xfrm>
            <a:off x="7790688" y="3374136"/>
            <a:ext cx="3834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Technology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123944"/>
            <a:ext cx="704088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12394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3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new oil field is discovered</a:t>
            </a:r>
            <a:endParaRPr lang="en-US" sz="1350" dirty="0"/>
          </a:p>
        </p:txBody>
      </p:sp>
      <p:sp>
        <p:nvSpPr>
          <p:cNvPr id="21" name="s16_3_bg"/>
          <p:cNvSpPr/>
          <p:nvPr/>
        </p:nvSpPr>
        <p:spPr>
          <a:xfrm>
            <a:off x="7790688" y="4123944"/>
            <a:ext cx="3834079" cy="658368"/>
          </a:xfrm>
          <a:prstGeom prst="roundRect">
            <a:avLst>
              <a:gd name="adj" fmla="val 9722"/>
            </a:avLst>
          </a:prstGeom>
          <a:solidFill>
            <a:srgbClr val="EAF7F0"/>
          </a:solidFill>
          <a:ln w="15875">
            <a:solidFill>
              <a:srgbClr val="12805C"/>
            </a:solidFill>
            <a:prstDash val="solid"/>
          </a:ln>
        </p:spPr>
      </p:sp>
      <p:sp>
        <p:nvSpPr>
          <p:cNvPr id="22" name="s16_3_tx"/>
          <p:cNvSpPr txBox="1"/>
          <p:nvPr/>
        </p:nvSpPr>
        <p:spPr>
          <a:xfrm>
            <a:off x="7790688" y="4123944"/>
            <a:ext cx="3834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— Land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4873752"/>
            <a:ext cx="704088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4873752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3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vocational-training scheme</a:t>
            </a:r>
            <a:endParaRPr lang="en-US" sz="1350" dirty="0"/>
          </a:p>
        </p:txBody>
      </p:sp>
      <p:sp>
        <p:nvSpPr>
          <p:cNvPr id="25" name="s16_4_bg"/>
          <p:cNvSpPr/>
          <p:nvPr/>
        </p:nvSpPr>
        <p:spPr>
          <a:xfrm>
            <a:off x="7790688" y="4873752"/>
            <a:ext cx="3834079" cy="658368"/>
          </a:xfrm>
          <a:prstGeom prst="roundRect">
            <a:avLst>
              <a:gd name="adj" fmla="val 9722"/>
            </a:avLst>
          </a:prstGeom>
          <a:solidFill>
            <a:srgbClr val="FBEDC6"/>
          </a:solidFill>
          <a:ln w="15875">
            <a:solidFill>
              <a:srgbClr val="E0A100"/>
            </a:solidFill>
            <a:prstDash val="solid"/>
          </a:ln>
        </p:spPr>
      </p:sp>
      <p:sp>
        <p:nvSpPr>
          <p:cNvPr id="26" name="s16_4_tx"/>
          <p:cNvSpPr txBox="1"/>
          <p:nvPr/>
        </p:nvSpPr>
        <p:spPr>
          <a:xfrm>
            <a:off x="7790688" y="4873752"/>
            <a:ext cx="3834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Human capital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5623560"/>
            <a:ext cx="704088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562356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pPr indent="0" marL="0">
              <a:buNone/>
            </a:pPr>
            <a:r>
              <a:rPr lang="en-US" sz="135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inward migration of workers</a:t>
            </a:r>
            <a:endParaRPr lang="en-US" sz="1350" dirty="0"/>
          </a:p>
        </p:txBody>
      </p:sp>
      <p:sp>
        <p:nvSpPr>
          <p:cNvPr id="29" name="s16_5_bg"/>
          <p:cNvSpPr/>
          <p:nvPr/>
        </p:nvSpPr>
        <p:spPr>
          <a:xfrm>
            <a:off x="7790688" y="5623560"/>
            <a:ext cx="3834079" cy="658368"/>
          </a:xfrm>
          <a:prstGeom prst="roundRect">
            <a:avLst>
              <a:gd name="adj" fmla="val 9722"/>
            </a:avLst>
          </a:prstGeom>
          <a:solidFill>
            <a:srgbClr val="EAF7F0"/>
          </a:solidFill>
          <a:ln w="15875">
            <a:solidFill>
              <a:srgbClr val="12805C"/>
            </a:solidFill>
            <a:prstDash val="solid"/>
          </a:ln>
        </p:spPr>
      </p:sp>
      <p:sp>
        <p:nvSpPr>
          <p:cNvPr id="30" name="s16_5_tx"/>
          <p:cNvSpPr txBox="1"/>
          <p:nvPr/>
        </p:nvSpPr>
        <p:spPr>
          <a:xfrm>
            <a:off x="7790688" y="5623560"/>
            <a:ext cx="3834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— Labour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3703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costs, and the evaluation examiners love.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378440" y="2468880"/>
            <a:ext cx="1280160" cy="128016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3" y="2814523"/>
            <a:ext cx="588874" cy="58887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CONSEQUENCES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economic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33" y="2076237"/>
            <a:ext cx="328087" cy="3280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19072" y="188366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living standards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70662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real incomes let households consume more.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78728" y="164592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88366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7332" y="2076237"/>
            <a:ext cx="328087" cy="3280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30872" y="188366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unemployment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70662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firms hire more workers as output expands.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388620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12394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533" y="4316517"/>
            <a:ext cx="328087" cy="3280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19072" y="412394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tax revenue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494690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public services and can reduce government debt.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278728" y="388620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4123944"/>
            <a:ext cx="713232" cy="71323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7332" y="4316517"/>
            <a:ext cx="328087" cy="3280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0872" y="412394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absolute poverty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53048" y="494690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incomes can lift people out of poverty — if shared.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 </a:t>
            </a:r>
            <a:pPr indent="0" marL="0">
              <a:buNone/>
            </a:pPr>
            <a:r>
              <a:rPr lang="en-US" sz="125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business &amp; consumer confidence, encouraging further investment.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CONSEQUENCES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&amp; risks of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ADFE3"/>
          </a:solidFill>
          <a:ln w="12700">
            <a:solidFill>
              <a:srgbClr val="C43D51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713232" cy="713232"/>
          </a:xfrm>
          <a:prstGeom prst="ellipse">
            <a:avLst/>
          </a:prstGeom>
          <a:solidFill>
            <a:srgbClr val="C43D51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33" y="2076237"/>
            <a:ext cx="328087" cy="3280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19072" y="188366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Demand-pull inflation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70662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AD-driven near capacity, the price level rises.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78728" y="164592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ADFE3"/>
          </a:solidFill>
          <a:ln w="12700">
            <a:solidFill>
              <a:srgbClr val="C43D51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1883664"/>
            <a:ext cx="713232" cy="713232"/>
          </a:xfrm>
          <a:prstGeom prst="ellipse">
            <a:avLst/>
          </a:prstGeom>
          <a:solidFill>
            <a:srgbClr val="C43D51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7332" y="2076237"/>
            <a:ext cx="328087" cy="3280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30872" y="188366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damage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70662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Pollution, carbon emissions and depletion of resources.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388620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ADFE3"/>
          </a:solidFill>
          <a:ln w="12700">
            <a:solidFill>
              <a:srgbClr val="C43D51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123944"/>
            <a:ext cx="713232" cy="713232"/>
          </a:xfrm>
          <a:prstGeom prst="ellipse">
            <a:avLst/>
          </a:prstGeom>
          <a:solidFill>
            <a:srgbClr val="C43D51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533" y="4316517"/>
            <a:ext cx="328087" cy="3280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19072" y="412394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inequality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494690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gains may go mostly to owners of capital and skilled workers.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278728" y="3886200"/>
            <a:ext cx="5346040" cy="1965960"/>
          </a:xfrm>
          <a:prstGeom prst="roundRect">
            <a:avLst>
              <a:gd name="adj" fmla="val 4651"/>
            </a:avLst>
          </a:prstGeom>
          <a:solidFill>
            <a:srgbClr val="FADFE3"/>
          </a:solidFill>
          <a:ln w="12700">
            <a:solidFill>
              <a:srgbClr val="C43D51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4123944"/>
            <a:ext cx="713232" cy="713232"/>
          </a:xfrm>
          <a:prstGeom prst="ellipse">
            <a:avLst/>
          </a:prstGeom>
          <a:solidFill>
            <a:srgbClr val="C43D51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7332" y="4316517"/>
            <a:ext cx="328087" cy="3280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0872" y="4123944"/>
            <a:ext cx="40110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unsustainable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53048" y="4946904"/>
            <a:ext cx="4797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growth today can undermine the resources of tomorrow.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43D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 </a:t>
            </a:r>
            <a:pPr indent="0" marL="0">
              <a:buNone/>
            </a:pPr>
            <a:r>
              <a:rPr lang="en-US" sz="125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unemployment as “creative destruction” makes some industries obsolete.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CONSEQUENCES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is growth always good?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087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marks come from judgement — “it depends on…”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057400"/>
            <a:ext cx="2558720" cy="2880360"/>
          </a:xfrm>
          <a:prstGeom prst="roundRect">
            <a:avLst>
              <a:gd name="adj" fmla="val 3574"/>
            </a:avLst>
          </a:prstGeom>
          <a:solidFill>
            <a:srgbClr val="123E30"/>
          </a:solidFill>
          <a:ln w="12700">
            <a:solidFill>
              <a:srgbClr val="1C6B5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313432"/>
            <a:ext cx="658368" cy="658368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719" y="2491191"/>
            <a:ext cx="302849" cy="30284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" y="310896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achieved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657600"/>
            <a:ext cx="2119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AD-led growth risks inflation; LRAS-led (supply-side) growth is more sustainable.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99968" y="2057400"/>
            <a:ext cx="2558720" cy="2880360"/>
          </a:xfrm>
          <a:prstGeom prst="roundRect">
            <a:avLst>
              <a:gd name="adj" fmla="val 3574"/>
            </a:avLst>
          </a:prstGeom>
          <a:solidFill>
            <a:srgbClr val="123E30"/>
          </a:solidFill>
          <a:ln w="12700">
            <a:solidFill>
              <a:srgbClr val="1C6B5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56000" y="2313432"/>
            <a:ext cx="658368" cy="658368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759" y="2491191"/>
            <a:ext cx="302849" cy="30284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19424" y="310896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3619424" y="3657600"/>
            <a:ext cx="2119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growth mainly benefits the top, inequality can worsen despite a bigger economy.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33008" y="2057400"/>
            <a:ext cx="2558720" cy="2880360"/>
          </a:xfrm>
          <a:prstGeom prst="roundRect">
            <a:avLst>
              <a:gd name="adj" fmla="val 3574"/>
            </a:avLst>
          </a:prstGeom>
          <a:solidFill>
            <a:srgbClr val="123E30"/>
          </a:solidFill>
          <a:ln w="12700">
            <a:solidFill>
              <a:srgbClr val="1C6B5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89040" y="2313432"/>
            <a:ext cx="658368" cy="658368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799" y="2491191"/>
            <a:ext cx="302849" cy="3028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52464" y="310896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cost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6452464" y="3657600"/>
            <a:ext cx="2119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“Dirty” growth harms welfare; green growth aims to decouple output from emissions.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9066047" y="2057400"/>
            <a:ext cx="2558720" cy="2880360"/>
          </a:xfrm>
          <a:prstGeom prst="roundRect">
            <a:avLst>
              <a:gd name="adj" fmla="val 3574"/>
            </a:avLst>
          </a:prstGeom>
          <a:solidFill>
            <a:srgbClr val="123E30"/>
          </a:solidFill>
          <a:ln w="12700">
            <a:solidFill>
              <a:srgbClr val="1C6B5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22079" y="2313432"/>
            <a:ext cx="658368" cy="658368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839" y="2491191"/>
            <a:ext cx="302849" cy="30284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85503" y="310896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type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9285503" y="3657600"/>
            <a:ext cx="2119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growth means more in a low-income country than in a rich one.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66928" y="5212080"/>
            <a:ext cx="11057839" cy="658368"/>
          </a:xfrm>
          <a:prstGeom prst="roundRect">
            <a:avLst>
              <a:gd name="adj" fmla="val 13889"/>
            </a:avLst>
          </a:prstGeom>
          <a:solidFill>
            <a:srgbClr val="E0A100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841248" y="5212080"/>
            <a:ext cx="1050919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tip:  </a:t>
            </a:r>
            <a:pPr indent="0" marL="0">
              <a:buNone/>
            </a:pPr>
            <a:r>
              <a:rPr lang="en-US" sz="13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weigh benefits against costs, use a real-world example, then give a supported final judgement.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CONSEQUENCES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vs development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300320" cy="2514600"/>
          </a:xfrm>
          <a:prstGeom prst="roundRect">
            <a:avLst>
              <a:gd name="adj" fmla="val 3636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731520" cy="73152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081174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883664"/>
            <a:ext cx="394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724912"/>
            <a:ext cx="47516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Quantitative: simply more real output (GDP). A necessary means, but narrow — it says nothing about how people actually live.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645920"/>
            <a:ext cx="5300320" cy="2514600"/>
          </a:xfrm>
          <a:prstGeom prst="roundRect">
            <a:avLst>
              <a:gd name="adj" fmla="val 3636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0480" y="1883664"/>
            <a:ext cx="731520" cy="73152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990" y="2081174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4880" y="1883664"/>
            <a:ext cx="394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development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98768" y="2724912"/>
            <a:ext cx="47516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Multidimensional: incomes + health + education + freedoms &amp; choices. Growth can enable it, but is not sufficient on its own.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66928" y="4389120"/>
            <a:ext cx="11057839" cy="1188720"/>
          </a:xfrm>
          <a:prstGeom prst="roundRect">
            <a:avLst>
              <a:gd name="adj" fmla="val 6923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1389888" y="449884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FURTHER  </a:t>
            </a:r>
            <a:pPr indent="0" marL="0">
              <a:buNone/>
            </a:pPr>
            <a:r>
              <a:rPr lang="en-US" sz="1100" i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your knowledge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1389888" y="4773168"/>
            <a:ext cx="100062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about: GDP vs the HDI · sustainable development (meeting today’s needs without harming future generations) · “green growth” and decoupling growth from carbon emissions.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66344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Crunch the Numbers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3703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quantitative skills the exam rewards.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378440" y="2468880"/>
            <a:ext cx="1280160" cy="128016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3" y="2814523"/>
            <a:ext cx="588874" cy="58887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QUANTITATIVE SKILLS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economic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7839" cy="1207008"/>
          </a:xfrm>
          <a:prstGeom prst="roundRect">
            <a:avLst>
              <a:gd name="adj" fmla="val 7576"/>
            </a:avLst>
          </a:prstGeom>
          <a:solidFill>
            <a:srgbClr val="0E3D2E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0240"/>
            <a:ext cx="658368" cy="658368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431" y="2097999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179222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of economic growth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664208" y="22494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annual percentage change in real GDP.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1883664"/>
            <a:ext cx="5297119" cy="731520"/>
          </a:xfrm>
          <a:prstGeom prst="roundRect">
            <a:avLst>
              <a:gd name="adj" fmla="val 10000"/>
            </a:avLst>
          </a:prstGeom>
          <a:solidFill>
            <a:srgbClr val="123E30"/>
          </a:solidFill>
          <a:ln w="12700">
            <a:solidFill>
              <a:srgbClr val="1C6B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44768" y="1883664"/>
            <a:ext cx="51142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E0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%Δ  =  [ (GDP₂ − GDP₁) ÷ GDP₁ ]  × 100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3017520"/>
            <a:ext cx="11057839" cy="1207008"/>
          </a:xfrm>
          <a:prstGeom prst="roundRect">
            <a:avLst>
              <a:gd name="adj" fmla="val 7576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3291840"/>
            <a:ext cx="658368" cy="658368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431" y="3469599"/>
            <a:ext cx="302849" cy="3028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64208" y="316382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from nominal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1664208" y="36210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effect of inflation.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53328" y="3255264"/>
            <a:ext cx="529711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44768" y="3255264"/>
            <a:ext cx="51142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GDP  =  ( Nominal GDP ÷ deflator ) × 100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66928" y="4389120"/>
            <a:ext cx="11057839" cy="1207008"/>
          </a:xfrm>
          <a:prstGeom prst="roundRect">
            <a:avLst>
              <a:gd name="adj" fmla="val 7576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4672" y="4663440"/>
            <a:ext cx="658368" cy="658368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431" y="4841199"/>
            <a:ext cx="302849" cy="30284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64208" y="453542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per capita</a:t>
            </a:r>
            <a:endParaRPr lang="en-US" sz="1550" dirty="0"/>
          </a:p>
        </p:txBody>
      </p:sp>
      <p:sp>
        <p:nvSpPr>
          <p:cNvPr id="22" name="Text 17"/>
          <p:cNvSpPr txBox="1"/>
          <p:nvPr/>
        </p:nvSpPr>
        <p:spPr>
          <a:xfrm>
            <a:off x="1664208" y="49926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proxy for average living standards.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053328" y="4626864"/>
            <a:ext cx="529711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144768" y="4626864"/>
            <a:ext cx="51142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Real GDP  ÷  Population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QUANTITATIVE SKILLS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1057839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737360"/>
            <a:ext cx="621792" cy="621792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844" y="1905244"/>
            <a:ext cx="286024" cy="2860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18488" y="1554480"/>
            <a:ext cx="973195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Problem.  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is $500bn in Year 1 and $530bn in Year 2. (a) Find the growth rate. (b) If population rose 2%, what happened to real GDP per capita?</a:t>
            </a:r>
            <a:endParaRPr lang="en-US" sz="1500" dirty="0"/>
          </a:p>
        </p:txBody>
      </p:sp>
      <p:sp>
        <p:nvSpPr>
          <p:cNvPr id="10" name="s24a_bg"/>
          <p:cNvSpPr/>
          <p:nvPr/>
        </p:nvSpPr>
        <p:spPr>
          <a:xfrm>
            <a:off x="566928" y="2926080"/>
            <a:ext cx="5346040" cy="2331720"/>
          </a:xfrm>
          <a:prstGeom prst="roundRect">
            <a:avLst>
              <a:gd name="adj" fmla="val 3922"/>
            </a:avLst>
          </a:prstGeom>
          <a:solidFill>
            <a:srgbClr val="FBEDC6"/>
          </a:solidFill>
          <a:ln w="15875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1" name="s24a_hd"/>
          <p:cNvSpPr txBox="1"/>
          <p:nvPr/>
        </p:nvSpPr>
        <p:spPr>
          <a:xfrm>
            <a:off x="841248" y="3108960"/>
            <a:ext cx="479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Growth rate</a:t>
            </a:r>
            <a:endParaRPr lang="en-US" sz="1500" dirty="0"/>
          </a:p>
        </p:txBody>
      </p:sp>
      <p:sp>
        <p:nvSpPr>
          <p:cNvPr id="12" name="s24a_tx"/>
          <p:cNvSpPr txBox="1"/>
          <p:nvPr/>
        </p:nvSpPr>
        <p:spPr>
          <a:xfrm>
            <a:off x="841248" y="3611880"/>
            <a:ext cx="479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(530 − 500) ÷ 500 × 100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30 ÷ 500 × 100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8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6%</a:t>
            </a:r>
            <a:endParaRPr lang="en-US" sz="1500" dirty="0"/>
          </a:p>
        </p:txBody>
      </p:sp>
      <p:sp>
        <p:nvSpPr>
          <p:cNvPr id="13" name="s24b_bg"/>
          <p:cNvSpPr/>
          <p:nvPr/>
        </p:nvSpPr>
        <p:spPr>
          <a:xfrm>
            <a:off x="6278728" y="2926080"/>
            <a:ext cx="5346040" cy="2331720"/>
          </a:xfrm>
          <a:prstGeom prst="roundRect">
            <a:avLst>
              <a:gd name="adj" fmla="val 3922"/>
            </a:avLst>
          </a:prstGeom>
          <a:solidFill>
            <a:srgbClr val="0E3D2E"/>
          </a:solidFill>
          <a:ln/>
          <a:effectLst>
            <a:outerShdw sx="100000" sy="100000" kx="0" ky="0" algn="bl" rotWithShape="0" blurRad="114300" dist="31750" dir="5400000">
              <a:srgbClr val="0E2A20">
                <a:alpha val="20000"/>
              </a:srgbClr>
            </a:outerShdw>
          </a:effectLst>
        </p:spPr>
      </p:sp>
      <p:sp>
        <p:nvSpPr>
          <p:cNvPr id="14" name="s24b_hd"/>
          <p:cNvSpPr txBox="1"/>
          <p:nvPr/>
        </p:nvSpPr>
        <p:spPr>
          <a:xfrm>
            <a:off x="6553048" y="3108960"/>
            <a:ext cx="479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Real GDP per capita</a:t>
            </a:r>
            <a:endParaRPr lang="en-US" sz="1500" dirty="0"/>
          </a:p>
        </p:txBody>
      </p:sp>
      <p:sp>
        <p:nvSpPr>
          <p:cNvPr id="15" name="s24b_tx"/>
          <p:cNvSpPr txBox="1"/>
          <p:nvPr/>
        </p:nvSpPr>
        <p:spPr>
          <a:xfrm>
            <a:off x="6553048" y="3611880"/>
            <a:ext cx="479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Approx. %Δ per capita ≈ %Δ GDP − %Δ population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6% − 2%  =  +4%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FE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standards rose — output grew faster than population.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44068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the subtraction rule is an approximation — fine for small percentages.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E0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33172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Zone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37033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Quick-fire quiz and Paper 1 practice.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378440" y="2468880"/>
            <a:ext cx="1280160" cy="1280160"/>
          </a:xfrm>
          <a:prstGeom prst="ellipse">
            <a:avLst/>
          </a:prstGeom>
          <a:solidFill>
            <a:srgbClr val="7FE0B6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3" y="2814523"/>
            <a:ext cx="588874" cy="58887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C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EXAM ZONE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Quick-fire quiz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5847" y="457200"/>
            <a:ext cx="2788920" cy="40233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35847" y="45720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Click to reveal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7635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41248" y="174650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Economic growth is best defined as an increase in…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25856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nominal GDP   B) real GDP over time   C) the money supply</a:t>
            </a:r>
            <a:endParaRPr lang="en-US" sz="1250" dirty="0"/>
          </a:p>
        </p:txBody>
      </p:sp>
      <p:sp>
        <p:nvSpPr>
          <p:cNvPr id="9" name="s26_0_bg"/>
          <p:cNvSpPr/>
          <p:nvPr/>
        </p:nvSpPr>
        <p:spPr>
          <a:xfrm>
            <a:off x="8430768" y="1600200"/>
            <a:ext cx="3193999" cy="1371600"/>
          </a:xfrm>
          <a:prstGeom prst="roundRect">
            <a:avLst>
              <a:gd name="adj" fmla="val 6000"/>
            </a:avLst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sp>
        <p:nvSpPr>
          <p:cNvPr id="10" name="s26_0_tx"/>
          <p:cNvSpPr txBox="1"/>
          <p:nvPr/>
        </p:nvSpPr>
        <p:spPr>
          <a:xfrm>
            <a:off x="8522208" y="1600200"/>
            <a:ext cx="30111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B) real GDP over time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118104"/>
            <a:ext cx="7635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1248" y="326440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outward shift of the PPC represents…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77647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actual growth   B) inflation   C) potential (long-run) growth</a:t>
            </a:r>
            <a:endParaRPr lang="en-US" sz="1250" dirty="0"/>
          </a:p>
        </p:txBody>
      </p:sp>
      <p:sp>
        <p:nvSpPr>
          <p:cNvPr id="14" name="s26_1_bg"/>
          <p:cNvSpPr/>
          <p:nvPr/>
        </p:nvSpPr>
        <p:spPr>
          <a:xfrm>
            <a:off x="8430768" y="3118104"/>
            <a:ext cx="3193999" cy="1371600"/>
          </a:xfrm>
          <a:prstGeom prst="roundRect">
            <a:avLst>
              <a:gd name="adj" fmla="val 6000"/>
            </a:avLst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sp>
        <p:nvSpPr>
          <p:cNvPr id="15" name="s26_1_tx"/>
          <p:cNvSpPr txBox="1"/>
          <p:nvPr/>
        </p:nvSpPr>
        <p:spPr>
          <a:xfrm>
            <a:off x="8522208" y="3118104"/>
            <a:ext cx="30111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C) potential (long-run) growth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636008"/>
            <a:ext cx="7635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E4DA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" y="47823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Which is most likely a cost of rapid growth?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29437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lower tax revenue   B) environmental degradation   C) lower prices</a:t>
            </a:r>
            <a:endParaRPr lang="en-US" sz="1250" dirty="0"/>
          </a:p>
        </p:txBody>
      </p:sp>
      <p:sp>
        <p:nvSpPr>
          <p:cNvPr id="19" name="s26_2_bg"/>
          <p:cNvSpPr/>
          <p:nvPr/>
        </p:nvSpPr>
        <p:spPr>
          <a:xfrm>
            <a:off x="8430768" y="4636008"/>
            <a:ext cx="3193999" cy="1371600"/>
          </a:xfrm>
          <a:prstGeom prst="roundRect">
            <a:avLst>
              <a:gd name="adj" fmla="val 6000"/>
            </a:avLst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sp>
        <p:nvSpPr>
          <p:cNvPr id="20" name="s26_2_tx"/>
          <p:cNvSpPr txBox="1"/>
          <p:nvPr/>
        </p:nvSpPr>
        <p:spPr>
          <a:xfrm>
            <a:off x="8522208" y="4636008"/>
            <a:ext cx="30111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B) environmental degradation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EXAM ZONE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 — exam-style questions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5300320" cy="3383280"/>
          </a:xfrm>
          <a:prstGeom prst="roundRect">
            <a:avLst>
              <a:gd name="adj" fmla="val 2703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56232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1280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8562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marks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87088" y="18196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(a)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77440"/>
            <a:ext cx="475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 how investment can increase an economy’s rate of economic growth.”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383280"/>
            <a:ext cx="475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economic growth &amp; investment.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diagram: LRAS (or PPC) shifting right.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chain: investment → more/better capital → productivity → capacity.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real-world example.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4448" y="1600200"/>
            <a:ext cx="5300320" cy="3383280"/>
          </a:xfrm>
          <a:prstGeom prst="roundRect">
            <a:avLst>
              <a:gd name="adj" fmla="val 2703"/>
            </a:avLst>
          </a:prstGeom>
          <a:solidFill>
            <a:srgbClr val="0E3D2E"/>
          </a:solidFill>
          <a:ln/>
          <a:effectLst>
            <a:outerShdw sx="100000" sy="100000" kx="0" ky="0" algn="bl" rotWithShape="0" blurRad="114300" dist="31750" dir="5400000">
              <a:srgbClr val="0E2A20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856232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18562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marks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344607" y="18196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(b)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377440"/>
            <a:ext cx="475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“Evaluate the view that economic growth always improves living standards.”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3383280"/>
            <a:ext cx="475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incomes, jobs, tax revenue, poverty.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Against: inequality, inflation, environment, sustainability.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D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“Depends on” how growth is achieved &amp; shared.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 + a supported judgement.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663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terms:  </a:t>
            </a:r>
            <a:pPr indent="0" marL="0">
              <a:buNone/>
            </a:pPr>
            <a:r>
              <a:rPr lang="en-US" sz="1250" i="1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“Explain” = give reasons with theory + diagram.  “Evaluate” = weigh both sides and judge.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 glossary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45920"/>
            <a:ext cx="5346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real GDP over time.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at constant (base-year) prices.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GDP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at current prices.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per capita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÷ population.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growth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spare capacity (inside → onto PPC).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growth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in capacity (PPC / LRAS shifts out).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78728" y="1645920"/>
            <a:ext cx="5346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combinations of goods with full resources.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demand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+ I + G + (X − M).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LRAS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at full employment (potential).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per unit of input (per worker).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Recession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quarters of negative real growth.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growth  —  </a:t>
            </a:r>
            <a:pPr indent="0" marL="0">
              <a:lnSpc>
                <a:spcPct val="103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harming future generations.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948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76656"/>
            <a:ext cx="8131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&amp; where to go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6309360" cy="4206240"/>
          </a:xfrm>
          <a:prstGeom prst="roundRect">
            <a:avLst>
              <a:gd name="adj" fmla="val 2174"/>
            </a:avLst>
          </a:prstGeom>
          <a:solidFill>
            <a:srgbClr val="EAF7F0"/>
          </a:solidFill>
          <a:ln/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74520"/>
            <a:ext cx="640080" cy="640080"/>
          </a:xfrm>
          <a:prstGeom prst="ellipse">
            <a:avLst/>
          </a:prstGeom>
          <a:solidFill>
            <a:srgbClr val="12805C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70" y="2047342"/>
            <a:ext cx="294437" cy="2944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18488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these away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86968" y="2697480"/>
            <a:ext cx="5760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= rising real GDP; per-capita real GDP tracks living standards.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growth uses spare capacity; potential growth expands it.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with the PPC (shift out) and AD–AS (AD vs LRAS).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= more factors + higher productivity (investment &amp; tech are key).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evaluate: growth has real costs, so it is not automatically “good”.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086600" y="1645920"/>
            <a:ext cx="4538167" cy="4206240"/>
          </a:xfrm>
          <a:prstGeom prst="roundRect">
            <a:avLst>
              <a:gd name="adj" fmla="val 2174"/>
            </a:avLst>
          </a:prstGeom>
          <a:solidFill>
            <a:srgbClr val="FBEDC6"/>
          </a:solidFill>
          <a:ln w="12700">
            <a:solidFill>
              <a:srgbClr val="E0A100"/>
            </a:solidFill>
            <a:prstDash val="solid"/>
          </a:ln>
          <a:effectLst>
            <a:outerShdw sx="100000" sy="100000" kx="0" ky="0" algn="bl" rotWithShape="0" blurRad="114300" dist="31750" dir="5400000">
              <a:srgbClr val="0E2A2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60920" y="1874520"/>
            <a:ext cx="640080" cy="640080"/>
          </a:xfrm>
          <a:prstGeom prst="ellipse">
            <a:avLst/>
          </a:prstGeom>
          <a:solidFill>
            <a:srgbClr val="E0A100"/>
          </a:solidFill>
          <a:ln/>
          <a:effectLst>
            <a:outerShdw sx="100000" sy="100000" kx="0" ky="0" algn="bl" rotWithShape="0" blurRad="114300" dist="31750" dir="5400000">
              <a:srgbClr val="0E2A2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742" y="2047342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38160" y="1920240"/>
            <a:ext cx="33494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further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406640" y="2697480"/>
            <a:ext cx="3898087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gaps &amp; the Keynesian multiplier (HL).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Monetarist vs Keynesian AS models.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vs exogenous growth theory.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vs HDI — growth vs development.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growth, decoupling &amp; the Kuznets curve.</a:t>
            </a:r>
            <a:endParaRPr lang="en-US" sz="1250" dirty="0"/>
          </a:p>
          <a:p>
            <a:pPr marL="203200" indent="-2032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E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data-response on one country’s growth.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8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</a:t>
            </a:r>
            <a:pPr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IB Economics · Macroeconomics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984687" y="64922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94560"/>
            <a:ext cx="6949440" cy="6949440"/>
          </a:xfrm>
          <a:prstGeom prst="ellipse">
            <a:avLst/>
          </a:prstGeom>
          <a:ln w="19050">
            <a:solidFill>
              <a:srgbClr val="1C6B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280160"/>
            <a:ext cx="4754880" cy="4754880"/>
          </a:xfrm>
          <a:prstGeom prst="ellipse">
            <a:avLst/>
          </a:prstGeom>
          <a:ln w="15240">
            <a:solidFill>
              <a:srgbClr val="175A4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201168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GROWTH · IB ECONOMICS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2316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You’ve got this.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520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it · draw it · explain it · evaluate it · calculate it.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11784" y="434340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23E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1784" y="43434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picture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30856" y="434340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23E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30856" y="43434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49928" y="434340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23E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49928" y="43434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69000" y="434340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23E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69000" y="43434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88072" y="434340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23E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88072" y="43434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7144" y="434340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23E3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7144" y="434340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E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for IB Economics revision — good luck in the exam!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 Growth — IB Economics</dc:title>
  <dc:subject>PptxGenJS Presentation</dc:subject>
  <dc:creator>IB Economics</dc:creator>
  <cp:lastModifiedBy>IB Economics</cp:lastModifiedBy>
  <cp:revision>1</cp:revision>
  <dcterms:created xsi:type="dcterms:W3CDTF">2026-09-29T05:26:52Z</dcterms:created>
  <dcterms:modified xsi:type="dcterms:W3CDTF">2026-09-29T05:26:52Z</dcterms:modified>
</cp:coreProperties>
</file>