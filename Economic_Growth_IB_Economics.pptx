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Today's topic is economic growth - one of the main macroeconomic objectives. By the end you should be able to define, draw, explain, evaluate and calculate growth (SL and HL). Tip: run this in Slide Show mode - the exercises reveal their answers on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five things we will master. Emphasise that diagrams and evaluation earn the most marks in the exam. Point out the 'Your turn' slides where students try a question before the answer is revealed.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the big picture - what economic growth means and how we measure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definition: an increase in REAL GDP over time. Stress two words: 'real' (adjusted for inflation) and 'per capita' (better for living standards). Remind them growth is one of the macroeconomic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two. Nominal GDP uses current prices, so inflation can inflate it. Real GDP uses constant prices, so it shows the true change in volume - that is what we mean by growth. Example: if prices rise but output is flat, nominal rises but real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distinction for the whole topic. Actual growth = using spare capacity now (short run, closes an output gap). Potential growth = expanding capacity (long run, shifts the frontier). We draw both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is the long-run upward trend; the business cycle is the short-run wobble around it. Name the phases (boom, recession, trough, recovery). Define a recession: two consecutive quarters of negative real GDP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let's put growth on diagrams - the PPC and the AD-AS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base PPC. Actual growth = moving from a point inside (A) onto the curve (B) using idle resources. CLICK to reveal potential growth = the whole curve shifting outward. One line to remember: inside-to-curve = actual; whole-curve-out =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equilibrium below full capacity. CLICK to shift AD to the right - real GDP rises (actual growth), but so does the price level (inflation risk near full capacity). This is demand-side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shift LRAS to the right = potential growth. Capacity rises with no inflationary pressure, so it is sustainable. For stronger students, mention the Keynesian AS version where the vertical section shifts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attempt this first. Read the question, pause, then CLICK to reveal the model answer. Reinforce: reopening idle factories = actual growth = a movement inside-to-curve, with no shift of the PPC.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what actually causes growth? Two big buckets - more factors, and better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factors of production: land, labour, capital, enterprise. Each shifts the PPC/LRAS outward. Give a quick real example for each (e.g. a new oil field, immigration).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Better, more productive factors: human capital, technology, institutions, and investment (which raises both quantity and quality). Productivity - output per worker - is the real long-run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exercise. Read each item, let students call 'quantity' or 'quality', then CLICK to reveal. Watch-outs: training and health = quality; more workers or new land =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consequences - the benefits, the costs, and the evaluation examiners reward.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run-through of the benefits: higher incomes and living standards, lower unemployment, more tax revenue, less poverty. Students usually know these, so keep it brisk.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flip side: demand-pull inflation, environmental damage, rising inequality, and sustainability concerns. This sets up the evaluation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exam skill. Growth is not automatically good - it depends on how it is achieved, who gains, the environmental cost, and the country's context. Drill the exam tip: weigh both sides, use an example, give a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= more output (quantitative). Development = broader wellbeing - incomes plus health, education and freedoms. Growth can enable development but is not the same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5: the numbers - the calculation skills the exam expects.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formulas. The growth-rate formula is the one most tested. Show the deflator conversion and the per-capita formula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part (a) live: 30/500 x 100 = 6%. CLICK to reveal. Then part (b): per-capita growth is about 6% - 2% = 4%. Emphasise that the subtraction shortcut works for small percentages, and that living standards 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6: exam zone - let's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question, let students answer, then CLICK to reveal the correct option. A quick, fun recap of the key definitions and the PPC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to structure Paper 1 answers. (a) 'Explain' = theory + a diagram + a chain of reasoning + a real example. (b) 'Evaluate' = both sides + a supported judgement. Point out the command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recap of every key term - great for revision. Tell students to cover the right-hand column and test themselves on the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takeaways - especially: always evaluate. Point to the 'go further' list for anyone who wants to push beyond the syllabus (HL multiplier, endogenous growth, HDI, green growth).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the five verbs: define it, draw it, explain it, evaluate it, calculate it. Invite questions. Good luck in the exam!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83080"/>
            <a:ext cx="411480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28016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DIPLOMA PROGRAMME · ECONOMICS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9496" y="1737360"/>
            <a:ext cx="7086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Growth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7249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Macroeconomics · Standard &amp; Higher Level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2461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study deck — diagrams, worked examples, exercises and real exam practice, built to give you a solid understanding fast.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28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206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05456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280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505456" y="4206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43984" y="4206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28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43984" y="4206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practice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5029200"/>
            <a:ext cx="6492240" cy="603504"/>
          </a:xfrm>
          <a:prstGeom prst="roundRect">
            <a:avLst>
              <a:gd name="adj" fmla="val 15152"/>
            </a:avLst>
          </a:prstGeom>
          <a:solidFill>
            <a:srgbClr val="123E30"/>
          </a:solidFill>
          <a:ln w="12700">
            <a:solidFill>
              <a:srgbClr val="1C6B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502920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Tip:  </a:t>
            </a:r>
            <a:pPr indent="0" marL="0">
              <a:buNone/>
            </a:pPr>
            <a:r>
              <a:rPr lang="en-US" sz="120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in Slide Show mode — click to reveal answers and watch the diagrams shift.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master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EAF7F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91640"/>
            <a:ext cx="548640" cy="54864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18397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38967" y="16642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435608" y="1572768"/>
            <a:ext cx="94119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measure growth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GDP, real GDP per capita, and why "real" matters.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2487168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F4F9F6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06040"/>
            <a:ext cx="548640" cy="54864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5" y="275417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38967" y="25786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1435608" y="2487168"/>
            <a:ext cx="94119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growth on diagrams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PPC and the AD–AS model (short run vs long run).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66928" y="3401568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EAF7F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520440"/>
            <a:ext cx="548640" cy="54864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36685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938967" y="34930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1435608" y="3401568"/>
            <a:ext cx="94119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factors of production and better productivity.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66928" y="4315968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F4F9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4434840"/>
            <a:ext cx="548640" cy="54864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5" y="45829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38967" y="44074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1435608" y="4315968"/>
            <a:ext cx="94119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consequences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standards, inequality, the environment &amp; sustainability.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66928" y="5230368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EAF7F0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5349240"/>
            <a:ext cx="548640" cy="54864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5" y="54973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938967" y="53218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E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1435608" y="5230368"/>
            <a:ext cx="94119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sit the exam 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Growth-rate calculations plus Paper 1 exam-style questions.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31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3703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economic growth is — and how we measure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378440" y="2468880"/>
            <a:ext cx="1280160" cy="1280160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3" y="2814523"/>
            <a:ext cx="588874" cy="5888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BIG PICTURE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economic growth?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537960" cy="1371600"/>
          </a:xfrm>
          <a:prstGeom prst="roundRect">
            <a:avLst>
              <a:gd name="adj" fmla="val 6667"/>
            </a:avLst>
          </a:prstGeom>
          <a:solidFill>
            <a:srgbClr val="0E3D2E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6002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 = 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increase in the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(real GDP)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economy over a period of time.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4612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as the % change in real GDP from one year to the next.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per capita (real GDP ÷ population) better reflects average living standards.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“Real” strips out inflation, so we compare volumes of output, not just higher prices.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one of the key macroeconomic objectives, alongside low unemployment, low inflation and equity.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600200"/>
            <a:ext cx="4218127" cy="3703320"/>
          </a:xfrm>
          <a:prstGeom prst="roundRect">
            <a:avLst>
              <a:gd name="adj" fmla="val 2469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0" y="1874520"/>
            <a:ext cx="640080" cy="640080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3782" y="204734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58200" y="1938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699248" y="2697480"/>
            <a:ext cx="383407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— output valued at constant (base-year) prices.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 — output at current prices (inflation-distorted).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— GDP ÷ population.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growth — annual % change in real GDP.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BIG PICTURE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nominal GDP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00320" cy="2697480"/>
          </a:xfrm>
          <a:prstGeom prst="roundRect">
            <a:avLst>
              <a:gd name="adj" fmla="val 3390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731520" cy="731520"/>
          </a:xfrm>
          <a:prstGeom prst="ellipse">
            <a:avLst/>
          </a:prstGeom>
          <a:solidFill>
            <a:srgbClr val="5B6F6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044598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670048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145536"/>
            <a:ext cx="473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 current (this year’s) prices.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when prices rise — even if no extra goods are made.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overstate real progress during inflation.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24448" y="1572768"/>
            <a:ext cx="5300320" cy="2697480"/>
          </a:xfrm>
          <a:prstGeom prst="roundRect">
            <a:avLst>
              <a:gd name="adj" fmla="val 3390"/>
            </a:avLst>
          </a:prstGeom>
          <a:solidFill>
            <a:srgbClr val="0E3D2E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8768" y="1847088"/>
            <a:ext cx="731520" cy="731520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78" y="2044598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98768" y="2670048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17056" y="3145536"/>
            <a:ext cx="473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 constant (base-year) prices.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out inflation — shows the true change in volume.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measure of economic growth.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44074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8096" y="4544568"/>
            <a:ext cx="548640" cy="548640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4692701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81328" y="4407408"/>
            <a:ext cx="9960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   </a:t>
            </a:r>
            <a:pPr indent="0" marL="0"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 =  ( Nominal GDP  ÷  GDP deflator )  × 100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66928" y="539496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4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1389888" y="5504688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 </a:t>
            </a:r>
            <a:pPr indent="0" marL="0">
              <a:buNone/>
            </a:pPr>
            <a:r>
              <a:rPr lang="en-US" sz="1100" i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your knowledge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389888" y="5779008"/>
            <a:ext cx="10006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about the difference between the GDP deflator and the CPI, and why economists prefer chained/real measures for comparisons over time.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66928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BIG PICTURE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potential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00320" cy="3063240"/>
          </a:xfrm>
          <a:prstGeom prst="roundRect">
            <a:avLst>
              <a:gd name="adj" fmla="val 2985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777240" cy="77724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2093519"/>
            <a:ext cx="357530" cy="3575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83664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growth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971800"/>
            <a:ext cx="475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increase in output happening now.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up spare / idle capacity (e.g. re-employing workers).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cyclical — the short-run upswing of the business cycle.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 negative output gap.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4448" y="1645920"/>
            <a:ext cx="5300320" cy="3063240"/>
          </a:xfrm>
          <a:prstGeom prst="roundRect">
            <a:avLst>
              <a:gd name="adj" fmla="val 2985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0480" y="1883664"/>
            <a:ext cx="777240" cy="777240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4" y="2093519"/>
            <a:ext cx="357530" cy="3575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0600" y="1883664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growth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971800"/>
            <a:ext cx="475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increase in the economy’s productive capacity.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it can sustainably produce at full employment.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— more or better factors of production.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frontier (PPC / LRAS) outward.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4937760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0E3D2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41248" y="493776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 </a:t>
            </a:r>
            <a:pPr indent="0" marL="0">
              <a:buNone/>
            </a:pPr>
            <a:r>
              <a:rPr lang="en-US" sz="1350" dirty="0">
                <a:solidFill>
                  <a:srgbClr val="E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 output gap = actual growth · expanding the capacity ceiling = potential growth.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BIG PICTURE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the business cycle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17320"/>
            <a:ext cx="704088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52360" y="1691640"/>
            <a:ext cx="417240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the upward long-run trend in real GDP.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cycle is the short-run fluctuation around that trend.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→ recession → trough → recovery, then repeat.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C4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 = two consecutive quarters of negative real GDP growth.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52360" y="4617720"/>
            <a:ext cx="4172407" cy="1143000"/>
          </a:xfrm>
          <a:prstGeom prst="roundRect">
            <a:avLst>
              <a:gd name="adj" fmla="val 7200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4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4727448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 </a:t>
            </a:r>
            <a:pPr indent="0" marL="0">
              <a:buNone/>
            </a:pPr>
            <a:r>
              <a:rPr lang="en-US" sz="1100" i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your knowledge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5001768"/>
            <a:ext cx="31208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output gaps (positive vs negative) and leading economic indicators used to forecast the cycle.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04" y="48920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31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on a Diagram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3703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growth with the PPC and AD–AS.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378440" y="2468880"/>
            <a:ext cx="1280160" cy="1280160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3" y="2814523"/>
            <a:ext cx="588874" cy="5888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DIAGRAMS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on the PPC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5847" y="45720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35847" y="4572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Click to reveal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71600"/>
            <a:ext cx="6309360" cy="4572000"/>
          </a:xfrm>
          <a:prstGeom prst="rect">
            <a:avLst/>
          </a:prstGeom>
        </p:spPr>
      </p:pic>
      <p:pic>
        <p:nvPicPr>
          <p:cNvPr id="7" name="s9_ov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71600"/>
            <a:ext cx="6309360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20840" y="1481328"/>
            <a:ext cx="4903927" cy="1828800"/>
          </a:xfrm>
          <a:prstGeom prst="roundRect">
            <a:avLst>
              <a:gd name="adj" fmla="val 5000"/>
            </a:avLst>
          </a:prstGeom>
          <a:solidFill>
            <a:srgbClr val="FBEDC6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976872" y="1719072"/>
            <a:ext cx="640080" cy="640080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694" y="1891894"/>
            <a:ext cx="294437" cy="29443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99832" y="1719072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growth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995160" y="2468880"/>
            <a:ext cx="43552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point inside the PPC (A) onto the curve (B) — using previously idle resources. The curve does not shift.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720840" y="3456432"/>
            <a:ext cx="4903927" cy="1828800"/>
          </a:xfrm>
          <a:prstGeom prst="roundRect">
            <a:avLst>
              <a:gd name="adj" fmla="val 5000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976872" y="3694176"/>
            <a:ext cx="640080" cy="64008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94" y="3866998"/>
            <a:ext cx="294437" cy="29443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799832" y="3694176"/>
            <a:ext cx="3642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growth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995160" y="4443984"/>
            <a:ext cx="435528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PPC shifts outward (PPC₁ → PPC₂) — more or better factors of production raise capacity.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DIAGRAMS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AD–AS: actual (short-run)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5847" y="45720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35847" y="4572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Click to reveal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71600"/>
            <a:ext cx="6309360" cy="4572000"/>
          </a:xfrm>
          <a:prstGeom prst="rect">
            <a:avLst/>
          </a:prstGeom>
        </p:spPr>
      </p:pic>
      <p:pic>
        <p:nvPicPr>
          <p:cNvPr id="7" name="s10_ov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71600"/>
            <a:ext cx="6309360" cy="4572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20840" y="1600200"/>
            <a:ext cx="490392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rise in aggregate demand (AD₁ → AD₂) raises real GDP in the short run.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 consumption (C), investment (I), government (G) or net exports (X−M).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C4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note: the price level also rises (PL₁ → PL₂) — inflation risk as you near full capacity (Yf).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720840" y="4160520"/>
            <a:ext cx="4903927" cy="1051560"/>
          </a:xfrm>
          <a:prstGeom prst="roundRect">
            <a:avLst>
              <a:gd name="adj" fmla="val 7826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4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543800" y="427024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 </a:t>
            </a:r>
            <a:pPr indent="0" marL="0">
              <a:buNone/>
            </a:pPr>
            <a:r>
              <a:rPr lang="en-US" sz="1100" i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your knowledge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4544568"/>
            <a:ext cx="38523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demand-side growth. Compare it with supply-side (LRAS) growth on the next slide.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4434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DIAGRAMS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AD–AS: potential (long-run)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5847" y="45720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35847" y="4572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Click to reveal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71600"/>
            <a:ext cx="6309360" cy="4572000"/>
          </a:xfrm>
          <a:prstGeom prst="rect">
            <a:avLst/>
          </a:prstGeom>
        </p:spPr>
      </p:pic>
      <p:pic>
        <p:nvPicPr>
          <p:cNvPr id="7" name="s11_ov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71600"/>
            <a:ext cx="6309360" cy="4572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20840" y="1600200"/>
            <a:ext cx="490392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growth = a rightward shift of LRAS (LRAS₁ → LRAS₂).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more / better factors of production and higher productivity.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Full-capacity output rises with no inflationary pressure — this is sustainable growth.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720840" y="4160520"/>
            <a:ext cx="4903927" cy="1234440"/>
          </a:xfrm>
          <a:prstGeom prst="roundRect">
            <a:avLst>
              <a:gd name="adj" fmla="val 6667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4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543800" y="427024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 </a:t>
            </a:r>
            <a:pPr indent="0" marL="0">
              <a:buNone/>
            </a:pPr>
            <a:r>
              <a:rPr lang="en-US" sz="1100" i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your knowledge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4544568"/>
            <a:ext cx="38523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Monetarist/New-Classical vertical LRAS with the Keynesian AS model, where the vertical (full-employment) section shifts right.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4434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DIAGRAMS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read the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5847" y="45720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35847" y="4572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Click to reveal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18488" y="1554480"/>
            <a:ext cx="973195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Question. 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reopens idle factories, putting unemployed workers back to work. (a) Is this actual or potential growth?  (b) How is it shown on a PPC?</a:t>
            </a:r>
            <a:endParaRPr lang="en-US" sz="1550" dirty="0"/>
          </a:p>
        </p:txBody>
      </p:sp>
      <p:sp>
        <p:nvSpPr>
          <p:cNvPr id="10" name="s12_bg"/>
          <p:cNvSpPr/>
          <p:nvPr/>
        </p:nvSpPr>
        <p:spPr>
          <a:xfrm>
            <a:off x="566928" y="3246120"/>
            <a:ext cx="11057839" cy="2468880"/>
          </a:xfrm>
          <a:prstGeom prst="roundRect">
            <a:avLst>
              <a:gd name="adj" fmla="val 3704"/>
            </a:avLst>
          </a:prstGeom>
          <a:solidFill>
            <a:srgbClr val="FBEDC6"/>
          </a:solidFill>
          <a:ln w="15875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1" name="s12_ic"/>
          <p:cNvSpPr/>
          <p:nvPr/>
        </p:nvSpPr>
        <p:spPr>
          <a:xfrm>
            <a:off x="822960" y="3483864"/>
            <a:ext cx="640080" cy="640080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2" name="s12_i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82" y="3656686"/>
            <a:ext cx="294437" cy="294437"/>
          </a:xfrm>
          <a:prstGeom prst="rect">
            <a:avLst/>
          </a:prstGeom>
        </p:spPr>
      </p:pic>
      <p:sp>
        <p:nvSpPr>
          <p:cNvPr id="13" name="s12_hd"/>
          <p:cNvSpPr txBox="1"/>
          <p:nvPr/>
        </p:nvSpPr>
        <p:spPr>
          <a:xfrm>
            <a:off x="1618488" y="35021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</a:t>
            </a:r>
            <a:endParaRPr lang="en-US" sz="1600" dirty="0"/>
          </a:p>
        </p:txBody>
      </p:sp>
      <p:sp>
        <p:nvSpPr>
          <p:cNvPr id="14" name="s12_tx"/>
          <p:cNvSpPr txBox="1"/>
          <p:nvPr/>
        </p:nvSpPr>
        <p:spPr>
          <a:xfrm>
            <a:off x="1618488" y="3977640"/>
            <a:ext cx="96862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Actual growth. 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capacity is being used — the economy moves toward its existing frontier, it does not expand it.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 movement from a point inside the PPC to a point on the curve.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PPC itself does not shift (that would be potential growth).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31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Growth?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3703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engines behind more — and better — output.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378440" y="2468880"/>
            <a:ext cx="1280160" cy="1280160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3" y="2814523"/>
            <a:ext cx="588874" cy="5888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CAUSES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1 — more factors of production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QUANTITY of resources shifts the PPC / LRAS outward.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082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213397"/>
            <a:ext cx="328087" cy="3280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19072" y="202082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4378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natural resources — e.g. discovering oil, gas or mineral reserves.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178308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4760" y="202082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32" y="2213397"/>
            <a:ext cx="328087" cy="3280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0872" y="202082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53048" y="284378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workforce — population growth, immigration, higher participation.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" y="402336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6110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3" y="4453677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19072" y="426110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" y="508406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machines, factories and infrastructure.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78728" y="402336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4760" y="426110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332" y="4453677"/>
            <a:ext cx="328087" cy="32808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0872" y="426110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553048" y="508406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entrepreneurs combining resources and taking risks.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CAUSES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2 — more productive factors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QUALITY of resources raises productivity (output per worker) — the engine of long-run growth.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0824"/>
            <a:ext cx="713232" cy="713232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213397"/>
            <a:ext cx="328087" cy="3280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19072" y="202082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4378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training and better health raise worker productivity.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178308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4760" y="2020824"/>
            <a:ext cx="713232" cy="713232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32" y="2213397"/>
            <a:ext cx="328087" cy="3280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0872" y="202082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53048" y="284378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automation let the same inputs produce more.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" y="402336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61104"/>
            <a:ext cx="713232" cy="713232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3" y="4453677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19072" y="426110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" y="508406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rights, rule of law and stability encourage investment.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78728" y="402336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4760" y="4261104"/>
            <a:ext cx="713232" cy="713232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332" y="4453677"/>
            <a:ext cx="328087" cy="32808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0872" y="426110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(key)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553048" y="508406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both the quantity AND quality of capital — a double driver.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CAUSES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sort the cause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5847" y="45720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35847" y="4572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Click to reveal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a QUANTITY of factors or a QUALITY / productivity improvement? (Answers appear on click.)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7040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8745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5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baby-boom generation enters the workforce</a:t>
            </a:r>
            <a:endParaRPr lang="en-US" sz="1350" dirty="0"/>
          </a:p>
        </p:txBody>
      </p:sp>
      <p:sp>
        <p:nvSpPr>
          <p:cNvPr id="9" name="s16_0_bg"/>
          <p:cNvSpPr/>
          <p:nvPr/>
        </p:nvSpPr>
        <p:spPr>
          <a:xfrm>
            <a:off x="7790688" y="1874520"/>
            <a:ext cx="3834079" cy="658368"/>
          </a:xfrm>
          <a:prstGeom prst="roundRect">
            <a:avLst>
              <a:gd name="adj" fmla="val 9722"/>
            </a:avLst>
          </a:prstGeom>
          <a:solidFill>
            <a:srgbClr val="EAF7F0"/>
          </a:solidFill>
          <a:ln w="15875">
            <a:solidFill>
              <a:srgbClr val="12805C"/>
            </a:solidFill>
            <a:prstDash val="solid"/>
          </a:ln>
        </p:spPr>
      </p:sp>
      <p:sp>
        <p:nvSpPr>
          <p:cNvPr id="10" name="s16_0_tx"/>
          <p:cNvSpPr txBox="1"/>
          <p:nvPr/>
        </p:nvSpPr>
        <p:spPr>
          <a:xfrm>
            <a:off x="7790688" y="1874520"/>
            <a:ext cx="3834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— Labour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624328"/>
            <a:ext cx="7040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62432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5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free-vaccination programme</a:t>
            </a:r>
            <a:endParaRPr lang="en-US" sz="1350" dirty="0"/>
          </a:p>
        </p:txBody>
      </p:sp>
      <p:sp>
        <p:nvSpPr>
          <p:cNvPr id="13" name="s16_1_bg"/>
          <p:cNvSpPr/>
          <p:nvPr/>
        </p:nvSpPr>
        <p:spPr>
          <a:xfrm>
            <a:off x="7790688" y="2624328"/>
            <a:ext cx="3834079" cy="658368"/>
          </a:xfrm>
          <a:prstGeom prst="roundRect">
            <a:avLst>
              <a:gd name="adj" fmla="val 9722"/>
            </a:avLst>
          </a:prstGeom>
          <a:solidFill>
            <a:srgbClr val="FBEDC6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14" name="s16_1_tx"/>
          <p:cNvSpPr txBox="1"/>
          <p:nvPr/>
        </p:nvSpPr>
        <p:spPr>
          <a:xfrm>
            <a:off x="7790688" y="2624328"/>
            <a:ext cx="3834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Human capital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374136"/>
            <a:ext cx="7040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37413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5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AI software raises output per worker</a:t>
            </a:r>
            <a:endParaRPr lang="en-US" sz="1350" dirty="0"/>
          </a:p>
        </p:txBody>
      </p:sp>
      <p:sp>
        <p:nvSpPr>
          <p:cNvPr id="17" name="s16_2_bg"/>
          <p:cNvSpPr/>
          <p:nvPr/>
        </p:nvSpPr>
        <p:spPr>
          <a:xfrm>
            <a:off x="7790688" y="3374136"/>
            <a:ext cx="3834079" cy="658368"/>
          </a:xfrm>
          <a:prstGeom prst="roundRect">
            <a:avLst>
              <a:gd name="adj" fmla="val 9722"/>
            </a:avLst>
          </a:prstGeom>
          <a:solidFill>
            <a:srgbClr val="FBEDC6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18" name="s16_2_tx"/>
          <p:cNvSpPr txBox="1"/>
          <p:nvPr/>
        </p:nvSpPr>
        <p:spPr>
          <a:xfrm>
            <a:off x="7790688" y="3374136"/>
            <a:ext cx="3834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Technology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123944"/>
            <a:ext cx="7040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12394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5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new oil field is discovered</a:t>
            </a:r>
            <a:endParaRPr lang="en-US" sz="1350" dirty="0"/>
          </a:p>
        </p:txBody>
      </p:sp>
      <p:sp>
        <p:nvSpPr>
          <p:cNvPr id="21" name="s16_3_bg"/>
          <p:cNvSpPr/>
          <p:nvPr/>
        </p:nvSpPr>
        <p:spPr>
          <a:xfrm>
            <a:off x="7790688" y="4123944"/>
            <a:ext cx="3834079" cy="658368"/>
          </a:xfrm>
          <a:prstGeom prst="roundRect">
            <a:avLst>
              <a:gd name="adj" fmla="val 9722"/>
            </a:avLst>
          </a:prstGeom>
          <a:solidFill>
            <a:srgbClr val="EAF7F0"/>
          </a:solidFill>
          <a:ln w="15875">
            <a:solidFill>
              <a:srgbClr val="12805C"/>
            </a:solidFill>
            <a:prstDash val="solid"/>
          </a:ln>
        </p:spPr>
      </p:sp>
      <p:sp>
        <p:nvSpPr>
          <p:cNvPr id="22" name="s16_3_tx"/>
          <p:cNvSpPr txBox="1"/>
          <p:nvPr/>
        </p:nvSpPr>
        <p:spPr>
          <a:xfrm>
            <a:off x="7790688" y="4123944"/>
            <a:ext cx="3834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— Land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873752"/>
            <a:ext cx="7040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87375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35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vocational-training scheme</a:t>
            </a:r>
            <a:endParaRPr lang="en-US" sz="1350" dirty="0"/>
          </a:p>
        </p:txBody>
      </p:sp>
      <p:sp>
        <p:nvSpPr>
          <p:cNvPr id="25" name="s16_4_bg"/>
          <p:cNvSpPr/>
          <p:nvPr/>
        </p:nvSpPr>
        <p:spPr>
          <a:xfrm>
            <a:off x="7790688" y="4873752"/>
            <a:ext cx="3834079" cy="658368"/>
          </a:xfrm>
          <a:prstGeom prst="roundRect">
            <a:avLst>
              <a:gd name="adj" fmla="val 9722"/>
            </a:avLst>
          </a:prstGeom>
          <a:solidFill>
            <a:srgbClr val="FBEDC6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26" name="s16_4_tx"/>
          <p:cNvSpPr txBox="1"/>
          <p:nvPr/>
        </p:nvSpPr>
        <p:spPr>
          <a:xfrm>
            <a:off x="7790688" y="4873752"/>
            <a:ext cx="3834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Human capital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5623560"/>
            <a:ext cx="7040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562356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35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inward migration of workers</a:t>
            </a:r>
            <a:endParaRPr lang="en-US" sz="1350" dirty="0"/>
          </a:p>
        </p:txBody>
      </p:sp>
      <p:sp>
        <p:nvSpPr>
          <p:cNvPr id="29" name="s16_5_bg"/>
          <p:cNvSpPr/>
          <p:nvPr/>
        </p:nvSpPr>
        <p:spPr>
          <a:xfrm>
            <a:off x="7790688" y="5623560"/>
            <a:ext cx="3834079" cy="658368"/>
          </a:xfrm>
          <a:prstGeom prst="roundRect">
            <a:avLst>
              <a:gd name="adj" fmla="val 9722"/>
            </a:avLst>
          </a:prstGeom>
          <a:solidFill>
            <a:srgbClr val="EAF7F0"/>
          </a:solidFill>
          <a:ln w="15875">
            <a:solidFill>
              <a:srgbClr val="12805C"/>
            </a:solidFill>
            <a:prstDash val="solid"/>
          </a:ln>
        </p:spPr>
      </p:sp>
      <p:sp>
        <p:nvSpPr>
          <p:cNvPr id="30" name="s16_5_tx"/>
          <p:cNvSpPr txBox="1"/>
          <p:nvPr/>
        </p:nvSpPr>
        <p:spPr>
          <a:xfrm>
            <a:off x="7790688" y="5623560"/>
            <a:ext cx="3834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— Labour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31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3703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costs, and the evaluation examiners love.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378440" y="2468880"/>
            <a:ext cx="1280160" cy="1280160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3" y="2814523"/>
            <a:ext cx="588874" cy="5888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CONSEQUENCES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economic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076237"/>
            <a:ext cx="328087" cy="3280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88366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living standards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0662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real incomes let households consume more.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64592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4760" y="188366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32" y="2076237"/>
            <a:ext cx="328087" cy="3280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30872" y="188366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unemployment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70662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firms hire more workers as output expands.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88620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2394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3" y="4316517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19072" y="412394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tax revenue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94690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public services and can reduce government debt.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8728" y="388620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4760" y="4123944"/>
            <a:ext cx="713232" cy="71323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332" y="4316517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0872" y="412394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absolute poverty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53048" y="494690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incomes can lift people out of poverty — if shared.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</a:t>
            </a:r>
            <a:pPr indent="0" marL="0">
              <a:buNone/>
            </a:pPr>
            <a:r>
              <a:rPr lang="en-US" sz="125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business &amp; consumer confidence, encouraging further investment.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CONSEQUENCES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risks of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ADFE3"/>
          </a:solidFill>
          <a:ln w="12700">
            <a:solidFill>
              <a:srgbClr val="C43D51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713232" cy="713232"/>
          </a:xfrm>
          <a:prstGeom prst="ellipse">
            <a:avLst/>
          </a:prstGeom>
          <a:solidFill>
            <a:srgbClr val="C43D51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076237"/>
            <a:ext cx="328087" cy="3280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88366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Demand-pull inflation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0662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AD-driven near capacity, the price level rises.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64592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ADFE3"/>
          </a:solidFill>
          <a:ln w="12700">
            <a:solidFill>
              <a:srgbClr val="C43D51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4760" y="1883664"/>
            <a:ext cx="713232" cy="713232"/>
          </a:xfrm>
          <a:prstGeom prst="ellipse">
            <a:avLst/>
          </a:prstGeom>
          <a:solidFill>
            <a:srgbClr val="C43D51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32" y="2076237"/>
            <a:ext cx="328087" cy="3280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30872" y="188366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damage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70662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Pollution, carbon emissions and depletion of resources.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88620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ADFE3"/>
          </a:solidFill>
          <a:ln w="12700">
            <a:solidFill>
              <a:srgbClr val="C43D51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23944"/>
            <a:ext cx="713232" cy="713232"/>
          </a:xfrm>
          <a:prstGeom prst="ellipse">
            <a:avLst/>
          </a:prstGeom>
          <a:solidFill>
            <a:srgbClr val="C43D51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3" y="4316517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19072" y="412394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inequality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94690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gains may go mostly to owners of capital and skilled workers.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78728" y="3886200"/>
            <a:ext cx="5346040" cy="1965960"/>
          </a:xfrm>
          <a:prstGeom prst="roundRect">
            <a:avLst>
              <a:gd name="adj" fmla="val 4651"/>
            </a:avLst>
          </a:prstGeom>
          <a:solidFill>
            <a:srgbClr val="FADFE3"/>
          </a:solidFill>
          <a:ln w="12700">
            <a:solidFill>
              <a:srgbClr val="C43D51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4760" y="4123944"/>
            <a:ext cx="713232" cy="713232"/>
          </a:xfrm>
          <a:prstGeom prst="ellipse">
            <a:avLst/>
          </a:prstGeom>
          <a:solidFill>
            <a:srgbClr val="C43D51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332" y="4316517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0872" y="4123944"/>
            <a:ext cx="401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unsustainable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53048" y="4946904"/>
            <a:ext cx="4797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growth today can undermine the resources of tomorrow.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43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</a:t>
            </a:r>
            <a:pPr indent="0" marL="0">
              <a:buNone/>
            </a:pPr>
            <a:r>
              <a:rPr lang="en-US" sz="125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unemployment as “creative destruction” makes some industries obsolete.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CONSEQUENCES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is growth always good?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087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marks come from judgement — “it depends on…”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2558720" cy="2880360"/>
          </a:xfrm>
          <a:prstGeom prst="roundRect">
            <a:avLst>
              <a:gd name="adj" fmla="val 3574"/>
            </a:avLst>
          </a:prstGeom>
          <a:solidFill>
            <a:srgbClr val="123E30"/>
          </a:solidFill>
          <a:ln w="12700">
            <a:solidFill>
              <a:srgbClr val="1C6B5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13432"/>
            <a:ext cx="658368" cy="658368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491191"/>
            <a:ext cx="302849" cy="30284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86384" y="3108960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achieved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3657600"/>
            <a:ext cx="2119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AD-led growth risks inflation; LRAS-led (supply-side) growth is more sustainable.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99968" y="2057400"/>
            <a:ext cx="2558720" cy="2880360"/>
          </a:xfrm>
          <a:prstGeom prst="roundRect">
            <a:avLst>
              <a:gd name="adj" fmla="val 3574"/>
            </a:avLst>
          </a:prstGeom>
          <a:solidFill>
            <a:srgbClr val="123E30"/>
          </a:solidFill>
          <a:ln w="12700">
            <a:solidFill>
              <a:srgbClr val="1C6B5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6000" y="2313432"/>
            <a:ext cx="658368" cy="658368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759" y="2491191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9424" y="3108960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gains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619424" y="3657600"/>
            <a:ext cx="2119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growth mainly benefits the top, inequality can worsen despite a bigger economy.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33008" y="2057400"/>
            <a:ext cx="2558720" cy="2880360"/>
          </a:xfrm>
          <a:prstGeom prst="roundRect">
            <a:avLst>
              <a:gd name="adj" fmla="val 3574"/>
            </a:avLst>
          </a:prstGeom>
          <a:solidFill>
            <a:srgbClr val="123E30"/>
          </a:solidFill>
          <a:ln w="12700">
            <a:solidFill>
              <a:srgbClr val="1C6B5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89040" y="2313432"/>
            <a:ext cx="658368" cy="658368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799" y="2491191"/>
            <a:ext cx="302849" cy="3028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52464" y="3108960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cost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52464" y="3657600"/>
            <a:ext cx="2119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“Dirty” growth harms welfare; green growth aims to decouple output from emissions.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66047" y="2057400"/>
            <a:ext cx="2558720" cy="2880360"/>
          </a:xfrm>
          <a:prstGeom prst="roundRect">
            <a:avLst>
              <a:gd name="adj" fmla="val 3574"/>
            </a:avLst>
          </a:prstGeom>
          <a:solidFill>
            <a:srgbClr val="123E30"/>
          </a:solidFill>
          <a:ln w="12700">
            <a:solidFill>
              <a:srgbClr val="1C6B5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22079" y="2313432"/>
            <a:ext cx="658368" cy="658368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839" y="2491191"/>
            <a:ext cx="302849" cy="30284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5503" y="3108960"/>
            <a:ext cx="211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type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9285503" y="3657600"/>
            <a:ext cx="2119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growth means more in a low-income country than in a rich one.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66928" y="5212080"/>
            <a:ext cx="11057839" cy="658368"/>
          </a:xfrm>
          <a:prstGeom prst="roundRect">
            <a:avLst>
              <a:gd name="adj" fmla="val 13889"/>
            </a:avLst>
          </a:prstGeom>
          <a:solidFill>
            <a:srgbClr val="E0A100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41248" y="521208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 </a:t>
            </a:r>
            <a:pPr indent="0" marL="0">
              <a:buNone/>
            </a:pPr>
            <a:r>
              <a:rPr lang="en-US" sz="135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weigh benefits against costs, use a real-world example, then give a supported final judgement.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CONSEQUENCES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00320" cy="2514600"/>
          </a:xfrm>
          <a:prstGeom prst="roundRect">
            <a:avLst>
              <a:gd name="adj" fmla="val 3636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731520" cy="73152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081174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83664"/>
            <a:ext cx="394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24912"/>
            <a:ext cx="47516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 simply more real output (GDP). A necessary means, but narrow — it says nothing about how people actually live.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645920"/>
            <a:ext cx="5300320" cy="2514600"/>
          </a:xfrm>
          <a:prstGeom prst="roundRect">
            <a:avLst>
              <a:gd name="adj" fmla="val 3636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0480" y="1883664"/>
            <a:ext cx="731520" cy="731520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2081174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4880" y="1883664"/>
            <a:ext cx="394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development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724912"/>
            <a:ext cx="47516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Multidimensional: incomes + health + education + freedoms &amp; choices. Growth can enable it, but is not sufficient on its own.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4389120"/>
            <a:ext cx="11057839" cy="1188720"/>
          </a:xfrm>
          <a:prstGeom prst="roundRect">
            <a:avLst>
              <a:gd name="adj" fmla="val 6923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4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1389888" y="4498848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 </a:t>
            </a:r>
            <a:pPr indent="0" marL="0">
              <a:buNone/>
            </a:pPr>
            <a:r>
              <a:rPr lang="en-US" sz="1100" i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your knowledge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389888" y="4773168"/>
            <a:ext cx="10006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about: GDP vs the HDI · sustainable development (meeting today’s needs without harming future generations) · “green growth” and decoupling growth from carbon emissions.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6634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31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 the Numbers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3703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quantitative skills the exam rewards.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378440" y="2468880"/>
            <a:ext cx="1280160" cy="1280160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3" y="2814523"/>
            <a:ext cx="588874" cy="5888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QUANTITATIVE SKILLS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economic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1207008"/>
          </a:xfrm>
          <a:prstGeom prst="roundRect">
            <a:avLst>
              <a:gd name="adj" fmla="val 7576"/>
            </a:avLst>
          </a:prstGeom>
          <a:solidFill>
            <a:srgbClr val="0E3D2E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658368" cy="658368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31" y="2097999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17922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economic growth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2249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annual percentage change in real GDP.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53328" y="1883664"/>
            <a:ext cx="5297119" cy="731520"/>
          </a:xfrm>
          <a:prstGeom prst="roundRect">
            <a:avLst>
              <a:gd name="adj" fmla="val 10000"/>
            </a:avLst>
          </a:prstGeom>
          <a:solidFill>
            <a:srgbClr val="123E30"/>
          </a:solidFill>
          <a:ln w="12700">
            <a:solidFill>
              <a:srgbClr val="1C6B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44768" y="1883664"/>
            <a:ext cx="5114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E0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%Δ  =  [ (GDP₂ − GDP₁) ÷ GDP₁ ]  × 100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3017520"/>
            <a:ext cx="11057839" cy="1207008"/>
          </a:xfrm>
          <a:prstGeom prst="roundRect">
            <a:avLst>
              <a:gd name="adj" fmla="val 7576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3291840"/>
            <a:ext cx="658368" cy="658368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31" y="3469599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64208" y="3163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from nominal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1664208" y="36210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effect of inflation.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53328" y="3255264"/>
            <a:ext cx="5297119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44768" y="3255264"/>
            <a:ext cx="5114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GDP  =  ( Nominal GDP ÷ deflator ) × 100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66928" y="4389120"/>
            <a:ext cx="11057839" cy="1207008"/>
          </a:xfrm>
          <a:prstGeom prst="roundRect">
            <a:avLst>
              <a:gd name="adj" fmla="val 7576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4663440"/>
            <a:ext cx="658368" cy="658368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31" y="4841199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64208" y="45354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per capita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1664208" y="49926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proxy for average living standards.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053328" y="4626864"/>
            <a:ext cx="5297119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144768" y="4626864"/>
            <a:ext cx="5114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Real GDP  ÷  Population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QUANTITATIVE SKILLS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5847" y="45720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35847" y="4572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Click to reveal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578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621792" cy="621792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44" y="1905244"/>
            <a:ext cx="286024" cy="2860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18488" y="1554480"/>
            <a:ext cx="97319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 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is $500bn in Year 1 and $530bn in Year 2. (a) Find the growth rate. (b) If population rose 2%, what happened to real GDP per capita?</a:t>
            </a:r>
            <a:endParaRPr lang="en-US" sz="1500" dirty="0"/>
          </a:p>
        </p:txBody>
      </p:sp>
      <p:sp>
        <p:nvSpPr>
          <p:cNvPr id="10" name="s24a_bg"/>
          <p:cNvSpPr/>
          <p:nvPr/>
        </p:nvSpPr>
        <p:spPr>
          <a:xfrm>
            <a:off x="566928" y="2926080"/>
            <a:ext cx="5346040" cy="2331720"/>
          </a:xfrm>
          <a:prstGeom prst="roundRect">
            <a:avLst>
              <a:gd name="adj" fmla="val 3922"/>
            </a:avLst>
          </a:prstGeom>
          <a:solidFill>
            <a:srgbClr val="FBEDC6"/>
          </a:solidFill>
          <a:ln w="15875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1" name="s24a_hd"/>
          <p:cNvSpPr txBox="1"/>
          <p:nvPr/>
        </p:nvSpPr>
        <p:spPr>
          <a:xfrm>
            <a:off x="841248" y="310896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Growth rate</a:t>
            </a:r>
            <a:endParaRPr lang="en-US" sz="1500" dirty="0"/>
          </a:p>
        </p:txBody>
      </p:sp>
      <p:sp>
        <p:nvSpPr>
          <p:cNvPr id="12" name="s24a_tx"/>
          <p:cNvSpPr txBox="1"/>
          <p:nvPr/>
        </p:nvSpPr>
        <p:spPr>
          <a:xfrm>
            <a:off x="841248" y="3611880"/>
            <a:ext cx="479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(530 − 500) ÷ 500 × 100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30 ÷ 500 × 100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28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6%</a:t>
            </a:r>
            <a:endParaRPr lang="en-US" sz="1500" dirty="0"/>
          </a:p>
        </p:txBody>
      </p:sp>
      <p:sp>
        <p:nvSpPr>
          <p:cNvPr id="13" name="s24b_bg"/>
          <p:cNvSpPr/>
          <p:nvPr/>
        </p:nvSpPr>
        <p:spPr>
          <a:xfrm>
            <a:off x="6278728" y="2926080"/>
            <a:ext cx="5346040" cy="2331720"/>
          </a:xfrm>
          <a:prstGeom prst="roundRect">
            <a:avLst>
              <a:gd name="adj" fmla="val 3922"/>
            </a:avLst>
          </a:prstGeom>
          <a:solidFill>
            <a:srgbClr val="0E3D2E"/>
          </a:solidFill>
          <a:ln/>
          <a:effectLst>
            <a:outerShdw sx="100000" sy="100000" kx="0" ky="0" algn="bl" rotWithShape="0" blurRad="114300" dist="31750" dir="5400000">
              <a:srgbClr val="0E2A20">
                <a:alpha val="20000"/>
              </a:srgbClr>
            </a:outerShdw>
          </a:effectLst>
        </p:spPr>
      </p:sp>
      <p:sp>
        <p:nvSpPr>
          <p:cNvPr id="14" name="s24b_hd"/>
          <p:cNvSpPr txBox="1"/>
          <p:nvPr/>
        </p:nvSpPr>
        <p:spPr>
          <a:xfrm>
            <a:off x="6553048" y="310896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Real GDP per capita</a:t>
            </a:r>
            <a:endParaRPr lang="en-US" sz="1500" dirty="0"/>
          </a:p>
        </p:txBody>
      </p:sp>
      <p:sp>
        <p:nvSpPr>
          <p:cNvPr id="15" name="s24b_tx"/>
          <p:cNvSpPr txBox="1"/>
          <p:nvPr/>
        </p:nvSpPr>
        <p:spPr>
          <a:xfrm>
            <a:off x="6553048" y="3611880"/>
            <a:ext cx="479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%Δ per capita ≈ %Δ GDP − %Δ population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6% − 2%  =  +4%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C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standards rose — output grew faster than population.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4406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subtraction rule is an approximation — fine for small percentages.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31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Zone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3703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Quick-fire quiz and Paper 1 practice.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378440" y="2468880"/>
            <a:ext cx="1280160" cy="1280160"/>
          </a:xfrm>
          <a:prstGeom prst="ellipse">
            <a:avLst/>
          </a:prstGeom>
          <a:solidFill>
            <a:srgbClr val="7FE0B6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3" y="2814523"/>
            <a:ext cx="588874" cy="5888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EXAM ZONE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Quick-fire quiz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5847" y="45720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35847" y="45720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Click to reveal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7635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74650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Economic growth is best defined as an increase in…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5856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nominal GDP   B) real GDP over time   C) the money supply</a:t>
            </a:r>
            <a:endParaRPr lang="en-US" sz="1250" dirty="0"/>
          </a:p>
        </p:txBody>
      </p:sp>
      <p:sp>
        <p:nvSpPr>
          <p:cNvPr id="9" name="s26_0_bg"/>
          <p:cNvSpPr/>
          <p:nvPr/>
        </p:nvSpPr>
        <p:spPr>
          <a:xfrm>
            <a:off x="8430768" y="1600200"/>
            <a:ext cx="3193999" cy="1371600"/>
          </a:xfrm>
          <a:prstGeom prst="roundRect">
            <a:avLst>
              <a:gd name="adj" fmla="val 6000"/>
            </a:avLst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sp>
        <p:nvSpPr>
          <p:cNvPr id="10" name="s26_0_tx"/>
          <p:cNvSpPr txBox="1"/>
          <p:nvPr/>
        </p:nvSpPr>
        <p:spPr>
          <a:xfrm>
            <a:off x="8522208" y="1600200"/>
            <a:ext cx="30111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B) real GDP over time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118104"/>
            <a:ext cx="7635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" y="32644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 outward shift of the PPC represents…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7764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actual growth   B) inflation   C) potential (long-run) growth</a:t>
            </a:r>
            <a:endParaRPr lang="en-US" sz="1250" dirty="0"/>
          </a:p>
        </p:txBody>
      </p:sp>
      <p:sp>
        <p:nvSpPr>
          <p:cNvPr id="14" name="s26_1_bg"/>
          <p:cNvSpPr/>
          <p:nvPr/>
        </p:nvSpPr>
        <p:spPr>
          <a:xfrm>
            <a:off x="8430768" y="3118104"/>
            <a:ext cx="3193999" cy="1371600"/>
          </a:xfrm>
          <a:prstGeom prst="roundRect">
            <a:avLst>
              <a:gd name="adj" fmla="val 6000"/>
            </a:avLst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sp>
        <p:nvSpPr>
          <p:cNvPr id="15" name="s26_1_tx"/>
          <p:cNvSpPr txBox="1"/>
          <p:nvPr/>
        </p:nvSpPr>
        <p:spPr>
          <a:xfrm>
            <a:off x="8522208" y="3118104"/>
            <a:ext cx="30111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C) potential (long-run) growth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636008"/>
            <a:ext cx="7635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E4DA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47823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is most likely a cost of rapid growth?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29437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lower tax revenue   B) environmental degradation   C) lower prices</a:t>
            </a:r>
            <a:endParaRPr lang="en-US" sz="1250" dirty="0"/>
          </a:p>
        </p:txBody>
      </p:sp>
      <p:sp>
        <p:nvSpPr>
          <p:cNvPr id="19" name="s26_2_bg"/>
          <p:cNvSpPr/>
          <p:nvPr/>
        </p:nvSpPr>
        <p:spPr>
          <a:xfrm>
            <a:off x="8430768" y="4636008"/>
            <a:ext cx="3193999" cy="1371600"/>
          </a:xfrm>
          <a:prstGeom prst="roundRect">
            <a:avLst>
              <a:gd name="adj" fmla="val 6000"/>
            </a:avLst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sp>
        <p:nvSpPr>
          <p:cNvPr id="20" name="s26_2_tx"/>
          <p:cNvSpPr txBox="1"/>
          <p:nvPr/>
        </p:nvSpPr>
        <p:spPr>
          <a:xfrm>
            <a:off x="8522208" y="4636008"/>
            <a:ext cx="30111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B) environmental degradation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EXAM ZONE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— exam-style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00320" cy="3383280"/>
          </a:xfrm>
          <a:prstGeom prst="roundRect">
            <a:avLst>
              <a:gd name="adj" fmla="val 2703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5623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280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562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marks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87088" y="18196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(a)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77440"/>
            <a:ext cx="475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investment can increase an economy’s rate of economic growth.”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83280"/>
            <a:ext cx="475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economic growth &amp; investment.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diagram: LRAS (or PPC) shifting right.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chain: investment → more/better capital → productivity → capacity.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real-world example.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1600200"/>
            <a:ext cx="5300320" cy="3383280"/>
          </a:xfrm>
          <a:prstGeom prst="roundRect">
            <a:avLst>
              <a:gd name="adj" fmla="val 2703"/>
            </a:avLst>
          </a:prstGeom>
          <a:solidFill>
            <a:srgbClr val="0E3D2E"/>
          </a:solidFill>
          <a:ln/>
          <a:effectLst>
            <a:outerShdw sx="100000" sy="100000" kx="0" ky="0" algn="bl" rotWithShape="0" blurRad="114300" dist="31750" dir="5400000">
              <a:srgbClr val="0E2A2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185623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18562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marks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344607" y="18196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(b)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377440"/>
            <a:ext cx="475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“Evaluate the view that economic growth always improves living standards.”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3383280"/>
            <a:ext cx="475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incomes, jobs, tax revenue, poverty.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Against: inequality, inflation, environment, sustainability.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“Depends on” how growth is achieved &amp; shared.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 + a supported judgement.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663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terms:  </a:t>
            </a:r>
            <a:pPr indent="0" marL="0">
              <a:buNone/>
            </a:pPr>
            <a:r>
              <a:rPr lang="en-US" sz="1250" i="1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“Explain” = give reasons with theory + diagram.  “Evaluate” = weigh both sides and judge.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glossary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5346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real GDP over time.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 constant (base-year) prices.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 current prices.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÷ population.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growth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spare capacity (inside → onto PPC).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growth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capacity (PPC / LRAS shifts out).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46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combinations of goods with full resources.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demand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I + G + (X − M).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LRAS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 full employment (potential).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unit of input (per worker).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Recession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quarters of negative real growth.</a:t>
            </a:r>
            <a:endParaRPr lang="en-US" sz="1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growth  —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harming future generations.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8131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where to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309360" cy="4206240"/>
          </a:xfrm>
          <a:prstGeom prst="roundRect">
            <a:avLst>
              <a:gd name="adj" fmla="val 2174"/>
            </a:avLst>
          </a:prstGeom>
          <a:solidFill>
            <a:srgbClr val="EAF7F0"/>
          </a:solidFill>
          <a:ln/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640080" cy="640080"/>
          </a:xfrm>
          <a:prstGeom prst="ellipse">
            <a:avLst/>
          </a:prstGeom>
          <a:solidFill>
            <a:srgbClr val="12805C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20473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8488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these away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69748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= rising real GDP; per-capita real GDP tracks living standards.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growth uses spare capacity; potential growth expands it.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with the PPC (shift out) and AD–AS (AD vs LRAS).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= more factors + higher productivity (investment &amp; tech are key).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evaluate: growth has real costs, so it is not automatically “good”.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1645920"/>
            <a:ext cx="4538167" cy="4206240"/>
          </a:xfrm>
          <a:prstGeom prst="roundRect">
            <a:avLst>
              <a:gd name="adj" fmla="val 2174"/>
            </a:avLst>
          </a:prstGeom>
          <a:solidFill>
            <a:srgbClr val="FBEDC6"/>
          </a:solidFill>
          <a:ln w="12700">
            <a:solidFill>
              <a:srgbClr val="E0A100"/>
            </a:solidFill>
            <a:prstDash val="solid"/>
          </a:ln>
          <a:effectLst>
            <a:outerShdw sx="100000" sy="100000" kx="0" ky="0" algn="bl" rotWithShape="0" blurRad="114300" dist="31750" dir="5400000">
              <a:srgbClr val="0E2A2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60920" y="1874520"/>
            <a:ext cx="640080" cy="640080"/>
          </a:xfrm>
          <a:prstGeom prst="ellipse">
            <a:avLst/>
          </a:prstGeom>
          <a:solidFill>
            <a:srgbClr val="E0A100"/>
          </a:solidFill>
          <a:ln/>
          <a:effectLst>
            <a:outerShdw sx="100000" sy="100000" kx="0" ky="0" algn="bl" rotWithShape="0" blurRad="114300" dist="31750" dir="5400000">
              <a:srgbClr val="0E2A2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742" y="204734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38160" y="1920240"/>
            <a:ext cx="3349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697480"/>
            <a:ext cx="3898087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gaps &amp; the Keynesian multiplier (HL).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Monetarist vs Keynesian AS models.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vs exogenous growth theory.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vs HDI — growth vs development.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growth, decoupling &amp; the Kuznets curve.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data-response on one country’s growth.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pPr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IB Economics · Macroeconomics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84687" y="6492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949440" cy="6949440"/>
          </a:xfrm>
          <a:prstGeom prst="ellipse">
            <a:avLst/>
          </a:prstGeom>
          <a:ln w="19050">
            <a:solidFill>
              <a:srgbClr val="1C6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280160"/>
            <a:ext cx="4754880" cy="4754880"/>
          </a:xfrm>
          <a:prstGeom prst="ellipse">
            <a:avLst/>
          </a:prstGeom>
          <a:ln w="15240">
            <a:solidFill>
              <a:srgbClr val="175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0116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 · IB ECONOMICS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2316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You’ve got this.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20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it · draw it · explain it · evaluate it · calculate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1784" y="43434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23E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1784" y="43434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30856" y="43434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23E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30856" y="43434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9928" y="43434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23E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9928" y="43434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9000" y="43434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23E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69000" y="43434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88072" y="43434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23E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88072" y="43434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7144" y="43434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23E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7144" y="43434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E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IB Economics revision — good luck in the exam!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Growth — IB Economics</dc:title>
  <dc:subject>PptxGenJS Presentation</dc:subject>
  <dc:creator>IB Economics</dc:creator>
  <cp:lastModifiedBy>IB Economics</cp:lastModifiedBy>
  <cp:revision>1</cp:revision>
  <dcterms:created xsi:type="dcterms:W3CDTF">2026-09-29T05:44:30Z</dcterms:created>
  <dcterms:modified xsi:type="dcterms:W3CDTF">2026-09-29T05:44:30Z</dcterms:modified>
</cp:coreProperties>
</file>